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18288000" cy="10287000"/>
  <p:notesSz cx="6858000" cy="9144000"/>
  <p:embeddedFontLst>
    <p:embeddedFont>
      <p:font typeface="Calibri (MS) Bold" panose="020F0702030404030204"/>
      <p:bold r:id="rId18"/>
    </p:embeddedFont>
    <p:embeddedFont>
      <p:font typeface="Calibri (MS)" panose="020F0502020204030204"/>
      <p:regular r:id="rId19"/>
    </p:embeddedFont>
    <p:embeddedFont>
      <p:font typeface="Calibri" panose="020F0502020204030204" charset="0"/>
      <p:regular r:id="rId20"/>
      <p:bold r:id="rId21"/>
      <p:italic r:id="rId22"/>
      <p:boldItalic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 showGuides="1"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3" Type="http://schemas.openxmlformats.org/officeDocument/2006/relationships/font" Target="fonts/font6.fntdata"/><Relationship Id="rId22" Type="http://schemas.openxmlformats.org/officeDocument/2006/relationships/font" Target="fonts/font5.fntdata"/><Relationship Id="rId21" Type="http://schemas.openxmlformats.org/officeDocument/2006/relationships/font" Target="fonts/font4.fntdata"/><Relationship Id="rId20" Type="http://schemas.openxmlformats.org/officeDocument/2006/relationships/font" Target="fonts/font3.fntdata"/><Relationship Id="rId2" Type="http://schemas.openxmlformats.org/officeDocument/2006/relationships/theme" Target="theme/theme1.xml"/><Relationship Id="rId19" Type="http://schemas.openxmlformats.org/officeDocument/2006/relationships/font" Target="fonts/font2.fntdata"/><Relationship Id="rId18" Type="http://schemas.openxmlformats.org/officeDocument/2006/relationships/font" Target="fonts/font1.fntdata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jpeg"/></Relationships>
</file>

<file path=ppt/slides/_rels/slide5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5.xml"/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6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6.xml"/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1.jpe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7.xml"/><Relationship Id="rId2" Type="http://schemas.openxmlformats.org/officeDocument/2006/relationships/hyperlink" Target="https://diogopinhel.github.io/DSD2026_TeamM1/doc/Wang/test.mp4" TargetMode="External"/><Relationship Id="rId1" Type="http://schemas.openxmlformats.org/officeDocument/2006/relationships/image" Target="../media/image1.jpe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1" Type="http://schemas.openxmlformats.org/officeDocument/2006/relationships/image" Target="../media/image1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-12697" y="-12697"/>
            <a:ext cx="171707" cy="10312403"/>
            <a:chOff x="0" y="0"/>
            <a:chExt cx="228943" cy="13749871"/>
          </a:xfrm>
        </p:grpSpPr>
        <p:sp>
          <p:nvSpPr>
            <p:cNvPr id="3" name="Freeform 3"/>
            <p:cNvSpPr/>
            <p:nvPr/>
          </p:nvSpPr>
          <p:spPr>
            <a:xfrm>
              <a:off x="16891" y="16891"/>
              <a:ext cx="195072" cy="13715999"/>
            </a:xfrm>
            <a:custGeom>
              <a:avLst/>
              <a:gdLst/>
              <a:ahLst/>
              <a:cxnLst/>
              <a:rect l="l" t="t" r="r" b="b"/>
              <a:pathLst>
                <a:path w="195072" h="13715999">
                  <a:moveTo>
                    <a:pt x="0" y="0"/>
                  </a:moveTo>
                  <a:lnTo>
                    <a:pt x="195072" y="0"/>
                  </a:lnTo>
                  <a:lnTo>
                    <a:pt x="195072" y="13715999"/>
                  </a:lnTo>
                  <a:lnTo>
                    <a:pt x="0" y="13715999"/>
                  </a:lnTo>
                  <a:close/>
                </a:path>
              </a:pathLst>
            </a:custGeom>
            <a:solidFill>
              <a:srgbClr val="34D399"/>
            </a:solidFill>
          </p:spPr>
        </p:sp>
        <p:sp>
          <p:nvSpPr>
            <p:cNvPr id="4" name="Freeform 4"/>
            <p:cNvSpPr/>
            <p:nvPr/>
          </p:nvSpPr>
          <p:spPr>
            <a:xfrm>
              <a:off x="0" y="0"/>
              <a:ext cx="228854" cy="13749782"/>
            </a:xfrm>
            <a:custGeom>
              <a:avLst/>
              <a:gdLst/>
              <a:ahLst/>
              <a:cxnLst/>
              <a:rect l="l" t="t" r="r" b="b"/>
              <a:pathLst>
                <a:path w="228854" h="13749782">
                  <a:moveTo>
                    <a:pt x="16891" y="0"/>
                  </a:moveTo>
                  <a:lnTo>
                    <a:pt x="211963" y="0"/>
                  </a:lnTo>
                  <a:cubicBezTo>
                    <a:pt x="221361" y="0"/>
                    <a:pt x="228854" y="7620"/>
                    <a:pt x="228854" y="16891"/>
                  </a:cubicBezTo>
                  <a:lnTo>
                    <a:pt x="228854" y="13732890"/>
                  </a:lnTo>
                  <a:cubicBezTo>
                    <a:pt x="228854" y="13742290"/>
                    <a:pt x="221234" y="13749782"/>
                    <a:pt x="211963" y="13749782"/>
                  </a:cubicBezTo>
                  <a:lnTo>
                    <a:pt x="16891" y="13749782"/>
                  </a:lnTo>
                  <a:cubicBezTo>
                    <a:pt x="7493" y="13749782"/>
                    <a:pt x="0" y="13742163"/>
                    <a:pt x="0" y="13732890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732890"/>
                  </a:lnTo>
                  <a:lnTo>
                    <a:pt x="16891" y="13732890"/>
                  </a:lnTo>
                  <a:lnTo>
                    <a:pt x="16891" y="13716000"/>
                  </a:lnTo>
                  <a:lnTo>
                    <a:pt x="211963" y="13716000"/>
                  </a:lnTo>
                  <a:lnTo>
                    <a:pt x="211963" y="13732890"/>
                  </a:lnTo>
                  <a:lnTo>
                    <a:pt x="195072" y="13732890"/>
                  </a:lnTo>
                  <a:lnTo>
                    <a:pt x="195072" y="16891"/>
                  </a:lnTo>
                  <a:lnTo>
                    <a:pt x="211963" y="16891"/>
                  </a:lnTo>
                  <a:lnTo>
                    <a:pt x="21196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4D399"/>
            </a:solidFill>
          </p:spPr>
        </p:sp>
      </p:grpSp>
      <p:grpSp>
        <p:nvGrpSpPr>
          <p:cNvPr id="5" name="Group 5"/>
          <p:cNvGrpSpPr/>
          <p:nvPr/>
        </p:nvGrpSpPr>
        <p:grpSpPr>
          <a:xfrm rot="0">
            <a:off x="810263" y="993143"/>
            <a:ext cx="16667483" cy="8255003"/>
            <a:chOff x="0" y="0"/>
            <a:chExt cx="22223311" cy="11006671"/>
          </a:xfrm>
        </p:grpSpPr>
        <p:sp>
          <p:nvSpPr>
            <p:cNvPr id="6" name="Freeform 6"/>
            <p:cNvSpPr/>
            <p:nvPr/>
          </p:nvSpPr>
          <p:spPr>
            <a:xfrm>
              <a:off x="16891" y="16891"/>
              <a:ext cx="22189439" cy="10972800"/>
            </a:xfrm>
            <a:custGeom>
              <a:avLst/>
              <a:gdLst/>
              <a:ahLst/>
              <a:cxnLst/>
              <a:rect l="l" t="t" r="r" b="b"/>
              <a:pathLst>
                <a:path w="22189439" h="10972800">
                  <a:moveTo>
                    <a:pt x="0" y="0"/>
                  </a:moveTo>
                  <a:lnTo>
                    <a:pt x="22189439" y="0"/>
                  </a:lnTo>
                  <a:lnTo>
                    <a:pt x="22189439" y="10972800"/>
                  </a:lnTo>
                  <a:lnTo>
                    <a:pt x="0" y="10972800"/>
                  </a:lnTo>
                  <a:close/>
                </a:path>
              </a:pathLst>
            </a:custGeom>
            <a:solidFill>
              <a:srgbClr val="141C2E"/>
            </a:solidFill>
          </p:spPr>
        </p:sp>
        <p:sp>
          <p:nvSpPr>
            <p:cNvPr id="7" name="Freeform 7"/>
            <p:cNvSpPr/>
            <p:nvPr/>
          </p:nvSpPr>
          <p:spPr>
            <a:xfrm>
              <a:off x="0" y="0"/>
              <a:ext cx="22223222" cy="11006582"/>
            </a:xfrm>
            <a:custGeom>
              <a:avLst/>
              <a:gdLst/>
              <a:ahLst/>
              <a:cxnLst/>
              <a:rect l="l" t="t" r="r" b="b"/>
              <a:pathLst>
                <a:path w="22223222" h="11006582">
                  <a:moveTo>
                    <a:pt x="16891" y="0"/>
                  </a:moveTo>
                  <a:lnTo>
                    <a:pt x="22206330" y="0"/>
                  </a:lnTo>
                  <a:cubicBezTo>
                    <a:pt x="22215729" y="0"/>
                    <a:pt x="22223222" y="7620"/>
                    <a:pt x="22223222" y="16891"/>
                  </a:cubicBezTo>
                  <a:lnTo>
                    <a:pt x="22223222" y="10989691"/>
                  </a:lnTo>
                  <a:cubicBezTo>
                    <a:pt x="22223222" y="10999089"/>
                    <a:pt x="22215602" y="11006582"/>
                    <a:pt x="22206330" y="11006582"/>
                  </a:cubicBezTo>
                  <a:lnTo>
                    <a:pt x="16891" y="11006582"/>
                  </a:lnTo>
                  <a:cubicBezTo>
                    <a:pt x="7493" y="11006582"/>
                    <a:pt x="0" y="10998962"/>
                    <a:pt x="0" y="109896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0989691"/>
                  </a:lnTo>
                  <a:lnTo>
                    <a:pt x="16891" y="10989691"/>
                  </a:lnTo>
                  <a:lnTo>
                    <a:pt x="16891" y="10972800"/>
                  </a:lnTo>
                  <a:lnTo>
                    <a:pt x="22206330" y="10972800"/>
                  </a:lnTo>
                  <a:lnTo>
                    <a:pt x="22206330" y="10989691"/>
                  </a:lnTo>
                  <a:lnTo>
                    <a:pt x="22189439" y="10989691"/>
                  </a:lnTo>
                  <a:lnTo>
                    <a:pt x="22189439" y="16891"/>
                  </a:lnTo>
                  <a:lnTo>
                    <a:pt x="22206330" y="16891"/>
                  </a:lnTo>
                  <a:lnTo>
                    <a:pt x="2220633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E2D45"/>
            </a:solidFill>
          </p:spPr>
        </p:sp>
      </p:grpSp>
      <p:grpSp>
        <p:nvGrpSpPr>
          <p:cNvPr id="8" name="Group 8"/>
          <p:cNvGrpSpPr/>
          <p:nvPr/>
        </p:nvGrpSpPr>
        <p:grpSpPr>
          <a:xfrm rot="0">
            <a:off x="1371600" y="1554480"/>
            <a:ext cx="15544800" cy="512064"/>
            <a:chOff x="0" y="0"/>
            <a:chExt cx="20726400" cy="682752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0726400" cy="682752"/>
            </a:xfrm>
            <a:custGeom>
              <a:avLst/>
              <a:gdLst/>
              <a:ahLst/>
              <a:cxnLst/>
              <a:rect l="l" t="t" r="r" b="b"/>
              <a:pathLst>
                <a:path w="20726400" h="682752">
                  <a:moveTo>
                    <a:pt x="0" y="0"/>
                  </a:moveTo>
                  <a:lnTo>
                    <a:pt x="20726400" y="0"/>
                  </a:lnTo>
                  <a:lnTo>
                    <a:pt x="207264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1">
                <a:alphaModFix amt="0"/>
              </a:blip>
              <a:stretch>
                <a:fillRect t="-541510" b="-541510"/>
              </a:stretch>
            </a:blipFill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20726400" cy="72085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800"/>
                </a:lnSpc>
              </a:pPr>
              <a:r>
                <a:rPr lang="en-US" sz="1500" b="1" spc="400">
                  <a:solidFill>
                    <a:srgbClr val="34D399"/>
                  </a:solidFill>
                  <a:latin typeface="Calibri (MS) Bold" panose="020F0702030404030204"/>
                  <a:ea typeface="Calibri (MS) Bold" panose="020F0702030404030204"/>
                  <a:cs typeface="Calibri (MS) Bold" panose="020F0702030404030204"/>
                  <a:sym typeface="Calibri (MS) Bold" panose="020F0702030404030204"/>
                </a:rPr>
                <a:t>DSD 2025–2026  ·  UTAD × JILIN UNIVERSITY  ·  MONITOR LAYER</a:t>
              </a:r>
              <a:endParaRPr lang="en-US" sz="1500" b="1" spc="400">
                <a:solidFill>
                  <a:srgbClr val="34D399"/>
                </a:solidFill>
                <a:latin typeface="Calibri (MS) Bold" panose="020F0702030404030204"/>
                <a:ea typeface="Calibri (MS) Bold" panose="020F0702030404030204"/>
                <a:cs typeface="Calibri (MS) Bold" panose="020F0702030404030204"/>
                <a:sym typeface="Calibri (MS) Bold" panose="020F0702030404030204"/>
              </a:endParaRPr>
            </a:p>
          </p:txBody>
        </p:sp>
      </p:grpSp>
      <p:grpSp>
        <p:nvGrpSpPr>
          <p:cNvPr id="11" name="Group 11"/>
          <p:cNvGrpSpPr/>
          <p:nvPr/>
        </p:nvGrpSpPr>
        <p:grpSpPr>
          <a:xfrm rot="0">
            <a:off x="1371600" y="2103120"/>
            <a:ext cx="15544800" cy="1316736"/>
            <a:chOff x="0" y="0"/>
            <a:chExt cx="20726400" cy="1755648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0726400" cy="1755648"/>
            </a:xfrm>
            <a:custGeom>
              <a:avLst/>
              <a:gdLst/>
              <a:ahLst/>
              <a:cxnLst/>
              <a:rect l="l" t="t" r="r" b="b"/>
              <a:pathLst>
                <a:path w="20726400" h="1755648">
                  <a:moveTo>
                    <a:pt x="0" y="0"/>
                  </a:moveTo>
                  <a:lnTo>
                    <a:pt x="20726400" y="0"/>
                  </a:lnTo>
                  <a:lnTo>
                    <a:pt x="20726400" y="1755648"/>
                  </a:lnTo>
                  <a:lnTo>
                    <a:pt x="0" y="1755648"/>
                  </a:lnTo>
                  <a:close/>
                </a:path>
              </a:pathLst>
            </a:custGeom>
            <a:blipFill>
              <a:blip r:embed="rId1">
                <a:alphaModFix amt="0"/>
              </a:blip>
              <a:stretch>
                <a:fillRect t="-180031" b="-180031"/>
              </a:stretch>
            </a:blipFill>
          </p:spPr>
        </p:sp>
        <p:sp>
          <p:nvSpPr>
            <p:cNvPr id="13" name="TextBox 13"/>
            <p:cNvSpPr txBox="1"/>
            <p:nvPr/>
          </p:nvSpPr>
          <p:spPr>
            <a:xfrm>
              <a:off x="0" y="-161925"/>
              <a:ext cx="20726400" cy="191757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0080"/>
                </a:lnSpc>
              </a:pPr>
              <a:r>
                <a:rPr lang="en-US" sz="8400" b="1">
                  <a:solidFill>
                    <a:srgbClr val="E2E8F0"/>
                  </a:solidFill>
                  <a:latin typeface="Calibri (MS) Bold" panose="020F0702030404030204"/>
                  <a:ea typeface="Calibri (MS) Bold" panose="020F0702030404030204"/>
                  <a:cs typeface="Calibri (MS) Bold" panose="020F0702030404030204"/>
                  <a:sym typeface="Calibri (MS) Bold" panose="020F0702030404030204"/>
                </a:rPr>
                <a:t>M1 Team</a:t>
              </a:r>
              <a:endParaRPr lang="en-US" sz="8400" b="1">
                <a:solidFill>
                  <a:srgbClr val="E2E8F0"/>
                </a:solidFill>
                <a:latin typeface="Calibri (MS) Bold" panose="020F0702030404030204"/>
                <a:ea typeface="Calibri (MS) Bold" panose="020F0702030404030204"/>
                <a:cs typeface="Calibri (MS) Bold" panose="020F0702030404030204"/>
                <a:sym typeface="Calibri (MS) Bold" panose="020F0702030404030204"/>
              </a:endParaRPr>
            </a:p>
          </p:txBody>
        </p:sp>
      </p:grpSp>
      <p:grpSp>
        <p:nvGrpSpPr>
          <p:cNvPr id="14" name="Group 14"/>
          <p:cNvGrpSpPr/>
          <p:nvPr/>
        </p:nvGrpSpPr>
        <p:grpSpPr>
          <a:xfrm rot="0">
            <a:off x="1371600" y="3328416"/>
            <a:ext cx="15544800" cy="1046931"/>
            <a:chOff x="0" y="0"/>
            <a:chExt cx="20726400" cy="139590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20726400" cy="1395909"/>
            </a:xfrm>
            <a:custGeom>
              <a:avLst/>
              <a:gdLst/>
              <a:ahLst/>
              <a:cxnLst/>
              <a:rect l="l" t="t" r="r" b="b"/>
              <a:pathLst>
                <a:path w="20726400" h="1395909">
                  <a:moveTo>
                    <a:pt x="0" y="0"/>
                  </a:moveTo>
                  <a:lnTo>
                    <a:pt x="20726400" y="0"/>
                  </a:lnTo>
                  <a:lnTo>
                    <a:pt x="20726400" y="1395909"/>
                  </a:lnTo>
                  <a:lnTo>
                    <a:pt x="0" y="1395909"/>
                  </a:lnTo>
                  <a:close/>
                </a:path>
              </a:pathLst>
            </a:custGeom>
            <a:blipFill>
              <a:blip r:embed="rId1">
                <a:alphaModFix amt="0"/>
              </a:blip>
              <a:stretch>
                <a:fillRect t="-243895" b="-234730"/>
              </a:stretch>
            </a:blipFill>
          </p:spPr>
        </p:sp>
        <p:sp>
          <p:nvSpPr>
            <p:cNvPr id="16" name="TextBox 16"/>
            <p:cNvSpPr txBox="1"/>
            <p:nvPr/>
          </p:nvSpPr>
          <p:spPr>
            <a:xfrm>
              <a:off x="0" y="-104775"/>
              <a:ext cx="20726400" cy="150068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6240"/>
                </a:lnSpc>
              </a:pPr>
              <a:r>
                <a:rPr lang="en-US" sz="5200">
                  <a:solidFill>
                    <a:srgbClr val="38BDF8"/>
                  </a:solidFill>
                  <a:latin typeface="Calibri (MS)" panose="020F0502020204030204"/>
                  <a:ea typeface="Calibri (MS)" panose="020F0502020204030204"/>
                  <a:cs typeface="Calibri (MS)" panose="020F0502020204030204"/>
                  <a:sym typeface="Calibri (MS)" panose="020F0502020204030204"/>
                </a:rPr>
                <a:t>Mid-Term Progress Update</a:t>
              </a:r>
              <a:endParaRPr lang="en-US" sz="5200">
                <a:solidFill>
                  <a:srgbClr val="38BDF8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endParaRPr>
            </a:p>
          </p:txBody>
        </p:sp>
      </p:grpSp>
      <p:grpSp>
        <p:nvGrpSpPr>
          <p:cNvPr id="17" name="Group 17"/>
          <p:cNvGrpSpPr/>
          <p:nvPr/>
        </p:nvGrpSpPr>
        <p:grpSpPr>
          <a:xfrm rot="0">
            <a:off x="1371600" y="4425696"/>
            <a:ext cx="15544800" cy="585216"/>
            <a:chOff x="0" y="0"/>
            <a:chExt cx="20726400" cy="780288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20726400" cy="780288"/>
            </a:xfrm>
            <a:custGeom>
              <a:avLst/>
              <a:gdLst/>
              <a:ahLst/>
              <a:cxnLst/>
              <a:rect l="l" t="t" r="r" b="b"/>
              <a:pathLst>
                <a:path w="20726400" h="780288">
                  <a:moveTo>
                    <a:pt x="0" y="0"/>
                  </a:moveTo>
                  <a:lnTo>
                    <a:pt x="20726400" y="0"/>
                  </a:lnTo>
                  <a:lnTo>
                    <a:pt x="2072640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1">
                <a:alphaModFix amt="0"/>
              </a:blip>
              <a:stretch>
                <a:fillRect t="-467571" b="-467571"/>
              </a:stretch>
            </a:blipFill>
          </p:spPr>
        </p:sp>
        <p:sp>
          <p:nvSpPr>
            <p:cNvPr id="19" name="TextBox 19"/>
            <p:cNvSpPr txBox="1"/>
            <p:nvPr/>
          </p:nvSpPr>
          <p:spPr>
            <a:xfrm>
              <a:off x="0" y="-38100"/>
              <a:ext cx="20726400" cy="81838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80"/>
                </a:lnSpc>
              </a:pPr>
              <a:r>
                <a:rPr lang="en-US" sz="2400">
                  <a:solidFill>
                    <a:srgbClr val="94A3B8"/>
                  </a:solidFill>
                  <a:latin typeface="Calibri (MS)" panose="020F0502020204030204"/>
                  <a:ea typeface="Calibri (MS)" panose="020F0502020204030204"/>
                  <a:cs typeface="Calibri (MS)" panose="020F0502020204030204"/>
                  <a:sym typeface="Calibri (MS)" panose="020F0502020204030204"/>
                </a:rPr>
                <a:t>Patient Mobile Application  ·  Limb Motion Recognition &amp; Assistant</a:t>
              </a:r>
              <a:endParaRPr lang="en-US" sz="2400">
                <a:solidFill>
                  <a:srgbClr val="94A3B8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endParaRPr>
            </a:p>
          </p:txBody>
        </p:sp>
      </p:grpSp>
      <p:grpSp>
        <p:nvGrpSpPr>
          <p:cNvPr id="20" name="Group 20"/>
          <p:cNvGrpSpPr/>
          <p:nvPr/>
        </p:nvGrpSpPr>
        <p:grpSpPr>
          <a:xfrm rot="0">
            <a:off x="1358903" y="5254247"/>
            <a:ext cx="15570203" cy="61979"/>
            <a:chOff x="0" y="0"/>
            <a:chExt cx="20760271" cy="82639"/>
          </a:xfrm>
        </p:grpSpPr>
        <p:sp>
          <p:nvSpPr>
            <p:cNvPr id="21" name="Freeform 21"/>
            <p:cNvSpPr/>
            <p:nvPr/>
          </p:nvSpPr>
          <p:spPr>
            <a:xfrm>
              <a:off x="16891" y="16891"/>
              <a:ext cx="20726399" cy="48768"/>
            </a:xfrm>
            <a:custGeom>
              <a:avLst/>
              <a:gdLst/>
              <a:ahLst/>
              <a:cxnLst/>
              <a:rect l="l" t="t" r="r" b="b"/>
              <a:pathLst>
                <a:path w="20726399" h="48768">
                  <a:moveTo>
                    <a:pt x="0" y="0"/>
                  </a:moveTo>
                  <a:lnTo>
                    <a:pt x="20726399" y="0"/>
                  </a:lnTo>
                  <a:lnTo>
                    <a:pt x="20726399" y="48768"/>
                  </a:lnTo>
                  <a:lnTo>
                    <a:pt x="0" y="48768"/>
                  </a:lnTo>
                  <a:close/>
                </a:path>
              </a:pathLst>
            </a:custGeom>
            <a:solidFill>
              <a:srgbClr val="1E2D45"/>
            </a:solidFill>
          </p:spPr>
        </p:sp>
        <p:sp>
          <p:nvSpPr>
            <p:cNvPr id="22" name="Freeform 22"/>
            <p:cNvSpPr/>
            <p:nvPr/>
          </p:nvSpPr>
          <p:spPr>
            <a:xfrm>
              <a:off x="0" y="0"/>
              <a:ext cx="20760182" cy="82552"/>
            </a:xfrm>
            <a:custGeom>
              <a:avLst/>
              <a:gdLst/>
              <a:ahLst/>
              <a:cxnLst/>
              <a:rect l="l" t="t" r="r" b="b"/>
              <a:pathLst>
                <a:path w="20760182" h="82552">
                  <a:moveTo>
                    <a:pt x="16891" y="0"/>
                  </a:moveTo>
                  <a:lnTo>
                    <a:pt x="20743290" y="0"/>
                  </a:lnTo>
                  <a:cubicBezTo>
                    <a:pt x="20752690" y="0"/>
                    <a:pt x="20760182" y="7620"/>
                    <a:pt x="20760182" y="16891"/>
                  </a:cubicBezTo>
                  <a:lnTo>
                    <a:pt x="20760182" y="65659"/>
                  </a:lnTo>
                  <a:cubicBezTo>
                    <a:pt x="20760182" y="75057"/>
                    <a:pt x="20752563" y="82550"/>
                    <a:pt x="20743290" y="82550"/>
                  </a:cubicBezTo>
                  <a:lnTo>
                    <a:pt x="16891" y="82550"/>
                  </a:lnTo>
                  <a:cubicBezTo>
                    <a:pt x="7620" y="82677"/>
                    <a:pt x="0" y="75057"/>
                    <a:pt x="0" y="6565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5659"/>
                  </a:lnTo>
                  <a:lnTo>
                    <a:pt x="16891" y="65659"/>
                  </a:lnTo>
                  <a:lnTo>
                    <a:pt x="16891" y="48768"/>
                  </a:lnTo>
                  <a:lnTo>
                    <a:pt x="20743290" y="48768"/>
                  </a:lnTo>
                  <a:lnTo>
                    <a:pt x="20743290" y="65659"/>
                  </a:lnTo>
                  <a:lnTo>
                    <a:pt x="20726400" y="65659"/>
                  </a:lnTo>
                  <a:lnTo>
                    <a:pt x="20726400" y="16891"/>
                  </a:lnTo>
                  <a:lnTo>
                    <a:pt x="20743290" y="16891"/>
                  </a:lnTo>
                  <a:lnTo>
                    <a:pt x="207432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E2D45"/>
            </a:solidFill>
          </p:spPr>
        </p:sp>
      </p:grpSp>
      <p:grpSp>
        <p:nvGrpSpPr>
          <p:cNvPr id="23" name="Group 23"/>
          <p:cNvGrpSpPr/>
          <p:nvPr/>
        </p:nvGrpSpPr>
        <p:grpSpPr>
          <a:xfrm rot="0">
            <a:off x="1358903" y="5729735"/>
            <a:ext cx="208283" cy="208283"/>
            <a:chOff x="0" y="0"/>
            <a:chExt cx="277711" cy="277711"/>
          </a:xfrm>
        </p:grpSpPr>
        <p:sp>
          <p:nvSpPr>
            <p:cNvPr id="24" name="Freeform 24"/>
            <p:cNvSpPr/>
            <p:nvPr/>
          </p:nvSpPr>
          <p:spPr>
            <a:xfrm>
              <a:off x="16891" y="16891"/>
              <a:ext cx="243840" cy="243840"/>
            </a:xfrm>
            <a:custGeom>
              <a:avLst/>
              <a:gdLst/>
              <a:ahLst/>
              <a:cxnLst/>
              <a:rect l="l" t="t" r="r" b="b"/>
              <a:pathLst>
                <a:path w="243840" h="243840">
                  <a:moveTo>
                    <a:pt x="0" y="121920"/>
                  </a:moveTo>
                  <a:cubicBezTo>
                    <a:pt x="0" y="54610"/>
                    <a:pt x="54610" y="0"/>
                    <a:pt x="121920" y="0"/>
                  </a:cubicBezTo>
                  <a:cubicBezTo>
                    <a:pt x="189230" y="0"/>
                    <a:pt x="243840" y="54610"/>
                    <a:pt x="243840" y="121920"/>
                  </a:cubicBezTo>
                  <a:cubicBezTo>
                    <a:pt x="243840" y="189230"/>
                    <a:pt x="189230" y="243840"/>
                    <a:pt x="121920" y="243840"/>
                  </a:cubicBezTo>
                  <a:cubicBezTo>
                    <a:pt x="54610" y="243840"/>
                    <a:pt x="0" y="189230"/>
                    <a:pt x="0" y="121920"/>
                  </a:cubicBezTo>
                  <a:close/>
                </a:path>
              </a:pathLst>
            </a:custGeom>
            <a:solidFill>
              <a:srgbClr val="38BDF8"/>
            </a:solidFill>
          </p:spPr>
        </p:sp>
        <p:sp>
          <p:nvSpPr>
            <p:cNvPr id="25" name="Freeform 25"/>
            <p:cNvSpPr/>
            <p:nvPr/>
          </p:nvSpPr>
          <p:spPr>
            <a:xfrm>
              <a:off x="0" y="0"/>
              <a:ext cx="277622" cy="277622"/>
            </a:xfrm>
            <a:custGeom>
              <a:avLst/>
              <a:gdLst/>
              <a:ahLst/>
              <a:cxnLst/>
              <a:rect l="l" t="t" r="r" b="b"/>
              <a:pathLst>
                <a:path w="277622" h="277622">
                  <a:moveTo>
                    <a:pt x="0" y="138811"/>
                  </a:moveTo>
                  <a:cubicBezTo>
                    <a:pt x="0" y="62230"/>
                    <a:pt x="62230" y="0"/>
                    <a:pt x="138811" y="0"/>
                  </a:cubicBezTo>
                  <a:lnTo>
                    <a:pt x="138811" y="16891"/>
                  </a:lnTo>
                  <a:lnTo>
                    <a:pt x="138811" y="0"/>
                  </a:lnTo>
                  <a:cubicBezTo>
                    <a:pt x="215519" y="0"/>
                    <a:pt x="277622" y="62230"/>
                    <a:pt x="277622" y="138811"/>
                  </a:cubicBezTo>
                  <a:lnTo>
                    <a:pt x="260731" y="138811"/>
                  </a:lnTo>
                  <a:lnTo>
                    <a:pt x="277622" y="138811"/>
                  </a:lnTo>
                  <a:cubicBezTo>
                    <a:pt x="277622" y="215519"/>
                    <a:pt x="215392" y="277622"/>
                    <a:pt x="138811" y="277622"/>
                  </a:cubicBezTo>
                  <a:lnTo>
                    <a:pt x="138811" y="260731"/>
                  </a:lnTo>
                  <a:lnTo>
                    <a:pt x="138811" y="277622"/>
                  </a:lnTo>
                  <a:cubicBezTo>
                    <a:pt x="62230" y="277749"/>
                    <a:pt x="0" y="215519"/>
                    <a:pt x="0" y="138811"/>
                  </a:cubicBezTo>
                  <a:lnTo>
                    <a:pt x="16891" y="138811"/>
                  </a:lnTo>
                  <a:lnTo>
                    <a:pt x="33909" y="138811"/>
                  </a:lnTo>
                  <a:lnTo>
                    <a:pt x="16891" y="138811"/>
                  </a:lnTo>
                  <a:lnTo>
                    <a:pt x="0" y="138811"/>
                  </a:lnTo>
                  <a:moveTo>
                    <a:pt x="33909" y="138811"/>
                  </a:moveTo>
                  <a:cubicBezTo>
                    <a:pt x="33909" y="148209"/>
                    <a:pt x="26289" y="155702"/>
                    <a:pt x="17018" y="155702"/>
                  </a:cubicBezTo>
                  <a:cubicBezTo>
                    <a:pt x="7747" y="155702"/>
                    <a:pt x="0" y="148209"/>
                    <a:pt x="0" y="138811"/>
                  </a:cubicBezTo>
                  <a:cubicBezTo>
                    <a:pt x="0" y="129413"/>
                    <a:pt x="7620" y="121920"/>
                    <a:pt x="16891" y="121920"/>
                  </a:cubicBezTo>
                  <a:cubicBezTo>
                    <a:pt x="26162" y="121920"/>
                    <a:pt x="33782" y="129540"/>
                    <a:pt x="33782" y="138811"/>
                  </a:cubicBezTo>
                  <a:cubicBezTo>
                    <a:pt x="33782" y="196850"/>
                    <a:pt x="80772" y="243840"/>
                    <a:pt x="138811" y="243840"/>
                  </a:cubicBezTo>
                  <a:cubicBezTo>
                    <a:pt x="196850" y="243840"/>
                    <a:pt x="243840" y="196850"/>
                    <a:pt x="243840" y="138811"/>
                  </a:cubicBezTo>
                  <a:cubicBezTo>
                    <a:pt x="243840" y="80772"/>
                    <a:pt x="196850" y="33782"/>
                    <a:pt x="138811" y="33782"/>
                  </a:cubicBezTo>
                  <a:lnTo>
                    <a:pt x="138811" y="16891"/>
                  </a:lnTo>
                  <a:lnTo>
                    <a:pt x="138811" y="33909"/>
                  </a:lnTo>
                  <a:cubicBezTo>
                    <a:pt x="80772" y="33909"/>
                    <a:pt x="33782" y="80899"/>
                    <a:pt x="33782" y="138938"/>
                  </a:cubicBezTo>
                  <a:close/>
                </a:path>
              </a:pathLst>
            </a:custGeom>
            <a:solidFill>
              <a:srgbClr val="38BDF8"/>
            </a:solidFill>
          </p:spPr>
        </p:sp>
      </p:grpSp>
      <p:grpSp>
        <p:nvGrpSpPr>
          <p:cNvPr id="26" name="Group 26"/>
          <p:cNvGrpSpPr/>
          <p:nvPr/>
        </p:nvGrpSpPr>
        <p:grpSpPr>
          <a:xfrm rot="0">
            <a:off x="1700784" y="5577840"/>
            <a:ext cx="3657600" cy="475488"/>
            <a:chOff x="0" y="0"/>
            <a:chExt cx="4876800" cy="633984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4876800" cy="633984"/>
            </a:xfrm>
            <a:custGeom>
              <a:avLst/>
              <a:gdLst/>
              <a:ahLst/>
              <a:cxnLst/>
              <a:rect l="l" t="t" r="r" b="b"/>
              <a:pathLst>
                <a:path w="4876800" h="633984">
                  <a:moveTo>
                    <a:pt x="0" y="0"/>
                  </a:moveTo>
                  <a:lnTo>
                    <a:pt x="4876800" y="0"/>
                  </a:lnTo>
                  <a:lnTo>
                    <a:pt x="487680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1">
                <a:alphaModFix amt="0"/>
              </a:blip>
              <a:stretch>
                <a:fillRect t="-99884" b="-99884"/>
              </a:stretch>
            </a:blipFill>
          </p:spPr>
        </p:sp>
        <p:sp>
          <p:nvSpPr>
            <p:cNvPr id="28" name="TextBox 28"/>
            <p:cNvSpPr txBox="1"/>
            <p:nvPr/>
          </p:nvSpPr>
          <p:spPr>
            <a:xfrm>
              <a:off x="0" y="-47625"/>
              <a:ext cx="4876800" cy="68160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40"/>
                </a:lnSpc>
              </a:pPr>
              <a:r>
                <a:rPr lang="en-US" sz="2200" b="1">
                  <a:solidFill>
                    <a:srgbClr val="E2E8F0"/>
                  </a:solidFill>
                  <a:latin typeface="Calibri (MS) Bold" panose="020F0702030404030204"/>
                  <a:ea typeface="Calibri (MS) Bold" panose="020F0702030404030204"/>
                  <a:cs typeface="Calibri (MS) Bold" panose="020F0702030404030204"/>
                  <a:sym typeface="Calibri (MS) Bold" panose="020F0702030404030204"/>
                </a:rPr>
                <a:t>Diogo Pinhel</a:t>
              </a:r>
              <a:endParaRPr lang="en-US" sz="2200" b="1">
                <a:solidFill>
                  <a:srgbClr val="E2E8F0"/>
                </a:solidFill>
                <a:latin typeface="Calibri (MS) Bold" panose="020F0702030404030204"/>
                <a:ea typeface="Calibri (MS) Bold" panose="020F0702030404030204"/>
                <a:cs typeface="Calibri (MS) Bold" panose="020F0702030404030204"/>
                <a:sym typeface="Calibri (MS) Bold" panose="020F0702030404030204"/>
              </a:endParaRPr>
            </a:p>
          </p:txBody>
        </p:sp>
      </p:grpSp>
      <p:grpSp>
        <p:nvGrpSpPr>
          <p:cNvPr id="29" name="Group 29"/>
          <p:cNvGrpSpPr/>
          <p:nvPr/>
        </p:nvGrpSpPr>
        <p:grpSpPr>
          <a:xfrm rot="0">
            <a:off x="1700784" y="6016752"/>
            <a:ext cx="3657600" cy="402336"/>
            <a:chOff x="0" y="0"/>
            <a:chExt cx="4876800" cy="536448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4876800" cy="536448"/>
            </a:xfrm>
            <a:custGeom>
              <a:avLst/>
              <a:gdLst/>
              <a:ahLst/>
              <a:cxnLst/>
              <a:rect l="l" t="t" r="r" b="b"/>
              <a:pathLst>
                <a:path w="4876800" h="536448">
                  <a:moveTo>
                    <a:pt x="0" y="0"/>
                  </a:moveTo>
                  <a:lnTo>
                    <a:pt x="4876800" y="0"/>
                  </a:lnTo>
                  <a:lnTo>
                    <a:pt x="487680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1">
                <a:alphaModFix amt="0"/>
              </a:blip>
              <a:stretch>
                <a:fillRect t="-127136" b="-127136"/>
              </a:stretch>
            </a:blipFill>
          </p:spPr>
        </p:sp>
        <p:sp>
          <p:nvSpPr>
            <p:cNvPr id="31" name="TextBox 31"/>
            <p:cNvSpPr txBox="1"/>
            <p:nvPr/>
          </p:nvSpPr>
          <p:spPr>
            <a:xfrm>
              <a:off x="0" y="-38100"/>
              <a:ext cx="4876800" cy="57454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94A3B8"/>
                  </a:solidFill>
                  <a:latin typeface="Calibri (MS)" panose="020F0502020204030204"/>
                  <a:ea typeface="Calibri (MS)" panose="020F0502020204030204"/>
                  <a:cs typeface="Calibri (MS)" panose="020F0502020204030204"/>
                  <a:sym typeface="Calibri (MS)" panose="020F0502020204030204"/>
                </a:rPr>
                <a:t>Team Leader</a:t>
              </a:r>
              <a:endParaRPr lang="en-US" sz="1800">
                <a:solidFill>
                  <a:srgbClr val="94A3B8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endParaRPr>
            </a:p>
          </p:txBody>
        </p:sp>
      </p:grpSp>
      <p:grpSp>
        <p:nvGrpSpPr>
          <p:cNvPr id="32" name="Group 32"/>
          <p:cNvGrpSpPr/>
          <p:nvPr/>
        </p:nvGrpSpPr>
        <p:grpSpPr>
          <a:xfrm rot="0">
            <a:off x="9405623" y="5729735"/>
            <a:ext cx="208283" cy="208283"/>
            <a:chOff x="0" y="0"/>
            <a:chExt cx="277711" cy="277711"/>
          </a:xfrm>
        </p:grpSpPr>
        <p:sp>
          <p:nvSpPr>
            <p:cNvPr id="33" name="Freeform 33"/>
            <p:cNvSpPr/>
            <p:nvPr/>
          </p:nvSpPr>
          <p:spPr>
            <a:xfrm>
              <a:off x="16891" y="16891"/>
              <a:ext cx="243840" cy="243840"/>
            </a:xfrm>
            <a:custGeom>
              <a:avLst/>
              <a:gdLst/>
              <a:ahLst/>
              <a:cxnLst/>
              <a:rect l="l" t="t" r="r" b="b"/>
              <a:pathLst>
                <a:path w="243840" h="243840">
                  <a:moveTo>
                    <a:pt x="0" y="121920"/>
                  </a:moveTo>
                  <a:cubicBezTo>
                    <a:pt x="0" y="54610"/>
                    <a:pt x="54610" y="0"/>
                    <a:pt x="121920" y="0"/>
                  </a:cubicBezTo>
                  <a:cubicBezTo>
                    <a:pt x="189230" y="0"/>
                    <a:pt x="243840" y="54610"/>
                    <a:pt x="243840" y="121920"/>
                  </a:cubicBezTo>
                  <a:cubicBezTo>
                    <a:pt x="243840" y="189230"/>
                    <a:pt x="189230" y="243840"/>
                    <a:pt x="121920" y="243840"/>
                  </a:cubicBezTo>
                  <a:cubicBezTo>
                    <a:pt x="54610" y="243840"/>
                    <a:pt x="0" y="189230"/>
                    <a:pt x="0" y="121920"/>
                  </a:cubicBezTo>
                  <a:close/>
                </a:path>
              </a:pathLst>
            </a:custGeom>
            <a:solidFill>
              <a:srgbClr val="38BDF8"/>
            </a:solidFill>
          </p:spPr>
        </p:sp>
        <p:sp>
          <p:nvSpPr>
            <p:cNvPr id="34" name="Freeform 34"/>
            <p:cNvSpPr/>
            <p:nvPr/>
          </p:nvSpPr>
          <p:spPr>
            <a:xfrm>
              <a:off x="0" y="0"/>
              <a:ext cx="277622" cy="277622"/>
            </a:xfrm>
            <a:custGeom>
              <a:avLst/>
              <a:gdLst/>
              <a:ahLst/>
              <a:cxnLst/>
              <a:rect l="l" t="t" r="r" b="b"/>
              <a:pathLst>
                <a:path w="277622" h="277622">
                  <a:moveTo>
                    <a:pt x="0" y="138811"/>
                  </a:moveTo>
                  <a:cubicBezTo>
                    <a:pt x="0" y="62230"/>
                    <a:pt x="62230" y="0"/>
                    <a:pt x="138811" y="0"/>
                  </a:cubicBezTo>
                  <a:lnTo>
                    <a:pt x="138811" y="16891"/>
                  </a:lnTo>
                  <a:lnTo>
                    <a:pt x="138811" y="0"/>
                  </a:lnTo>
                  <a:cubicBezTo>
                    <a:pt x="215519" y="0"/>
                    <a:pt x="277622" y="62230"/>
                    <a:pt x="277622" y="138811"/>
                  </a:cubicBezTo>
                  <a:lnTo>
                    <a:pt x="260731" y="138811"/>
                  </a:lnTo>
                  <a:lnTo>
                    <a:pt x="277622" y="138811"/>
                  </a:lnTo>
                  <a:cubicBezTo>
                    <a:pt x="277622" y="215519"/>
                    <a:pt x="215392" y="277622"/>
                    <a:pt x="138811" y="277622"/>
                  </a:cubicBezTo>
                  <a:lnTo>
                    <a:pt x="138811" y="260731"/>
                  </a:lnTo>
                  <a:lnTo>
                    <a:pt x="138811" y="277622"/>
                  </a:lnTo>
                  <a:cubicBezTo>
                    <a:pt x="62230" y="277749"/>
                    <a:pt x="0" y="215519"/>
                    <a:pt x="0" y="138811"/>
                  </a:cubicBezTo>
                  <a:lnTo>
                    <a:pt x="16891" y="138811"/>
                  </a:lnTo>
                  <a:lnTo>
                    <a:pt x="33909" y="138811"/>
                  </a:lnTo>
                  <a:lnTo>
                    <a:pt x="16891" y="138811"/>
                  </a:lnTo>
                  <a:lnTo>
                    <a:pt x="0" y="138811"/>
                  </a:lnTo>
                  <a:moveTo>
                    <a:pt x="33909" y="138811"/>
                  </a:moveTo>
                  <a:cubicBezTo>
                    <a:pt x="33909" y="148209"/>
                    <a:pt x="26289" y="155702"/>
                    <a:pt x="17018" y="155702"/>
                  </a:cubicBezTo>
                  <a:cubicBezTo>
                    <a:pt x="7747" y="155702"/>
                    <a:pt x="0" y="148209"/>
                    <a:pt x="0" y="138811"/>
                  </a:cubicBezTo>
                  <a:cubicBezTo>
                    <a:pt x="0" y="129413"/>
                    <a:pt x="7620" y="121920"/>
                    <a:pt x="16891" y="121920"/>
                  </a:cubicBezTo>
                  <a:cubicBezTo>
                    <a:pt x="26162" y="121920"/>
                    <a:pt x="33782" y="129540"/>
                    <a:pt x="33782" y="138811"/>
                  </a:cubicBezTo>
                  <a:cubicBezTo>
                    <a:pt x="33782" y="196850"/>
                    <a:pt x="80772" y="243840"/>
                    <a:pt x="138811" y="243840"/>
                  </a:cubicBezTo>
                  <a:cubicBezTo>
                    <a:pt x="196850" y="243840"/>
                    <a:pt x="243840" y="196850"/>
                    <a:pt x="243840" y="138811"/>
                  </a:cubicBezTo>
                  <a:cubicBezTo>
                    <a:pt x="243840" y="80772"/>
                    <a:pt x="196850" y="33782"/>
                    <a:pt x="138811" y="33782"/>
                  </a:cubicBezTo>
                  <a:lnTo>
                    <a:pt x="138811" y="16891"/>
                  </a:lnTo>
                  <a:lnTo>
                    <a:pt x="138811" y="33909"/>
                  </a:lnTo>
                  <a:cubicBezTo>
                    <a:pt x="80772" y="33909"/>
                    <a:pt x="33782" y="80899"/>
                    <a:pt x="33782" y="138938"/>
                  </a:cubicBezTo>
                  <a:close/>
                </a:path>
              </a:pathLst>
            </a:custGeom>
            <a:solidFill>
              <a:srgbClr val="38BDF8"/>
            </a:solidFill>
          </p:spPr>
        </p:sp>
      </p:grpSp>
      <p:grpSp>
        <p:nvGrpSpPr>
          <p:cNvPr id="35" name="Group 35"/>
          <p:cNvGrpSpPr/>
          <p:nvPr/>
        </p:nvGrpSpPr>
        <p:grpSpPr>
          <a:xfrm rot="0">
            <a:off x="9747504" y="5577840"/>
            <a:ext cx="3657600" cy="475488"/>
            <a:chOff x="0" y="0"/>
            <a:chExt cx="4876800" cy="633984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4876800" cy="633984"/>
            </a:xfrm>
            <a:custGeom>
              <a:avLst/>
              <a:gdLst/>
              <a:ahLst/>
              <a:cxnLst/>
              <a:rect l="l" t="t" r="r" b="b"/>
              <a:pathLst>
                <a:path w="4876800" h="633984">
                  <a:moveTo>
                    <a:pt x="0" y="0"/>
                  </a:moveTo>
                  <a:lnTo>
                    <a:pt x="4876800" y="0"/>
                  </a:lnTo>
                  <a:lnTo>
                    <a:pt x="487680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1">
                <a:alphaModFix amt="0"/>
              </a:blip>
              <a:stretch>
                <a:fillRect t="-99884" b="-99884"/>
              </a:stretch>
            </a:blipFill>
          </p:spPr>
        </p:sp>
        <p:sp>
          <p:nvSpPr>
            <p:cNvPr id="37" name="TextBox 37"/>
            <p:cNvSpPr txBox="1"/>
            <p:nvPr/>
          </p:nvSpPr>
          <p:spPr>
            <a:xfrm>
              <a:off x="0" y="-47625"/>
              <a:ext cx="4876800" cy="68160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40"/>
                </a:lnSpc>
              </a:pPr>
              <a:r>
                <a:rPr lang="en-US" sz="2200" b="1">
                  <a:solidFill>
                    <a:srgbClr val="E2E8F0"/>
                  </a:solidFill>
                  <a:latin typeface="Calibri (MS) Bold" panose="020F0702030404030204"/>
                  <a:ea typeface="Calibri (MS) Bold" panose="020F0702030404030204"/>
                  <a:cs typeface="Calibri (MS) Bold" panose="020F0702030404030204"/>
                  <a:sym typeface="Calibri (MS) Bold" panose="020F0702030404030204"/>
                </a:rPr>
                <a:t>Yiding Wang</a:t>
              </a:r>
              <a:endParaRPr lang="en-US" sz="2200" b="1">
                <a:solidFill>
                  <a:srgbClr val="E2E8F0"/>
                </a:solidFill>
                <a:latin typeface="Calibri (MS) Bold" panose="020F0702030404030204"/>
                <a:ea typeface="Calibri (MS) Bold" panose="020F0702030404030204"/>
                <a:cs typeface="Calibri (MS) Bold" panose="020F0702030404030204"/>
                <a:sym typeface="Calibri (MS) Bold" panose="020F0702030404030204"/>
              </a:endParaRPr>
            </a:p>
          </p:txBody>
        </p:sp>
      </p:grpSp>
      <p:grpSp>
        <p:nvGrpSpPr>
          <p:cNvPr id="38" name="Group 38"/>
          <p:cNvGrpSpPr/>
          <p:nvPr/>
        </p:nvGrpSpPr>
        <p:grpSpPr>
          <a:xfrm rot="0">
            <a:off x="9747504" y="6016752"/>
            <a:ext cx="3657600" cy="402336"/>
            <a:chOff x="0" y="0"/>
            <a:chExt cx="4876800" cy="536448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4876800" cy="536448"/>
            </a:xfrm>
            <a:custGeom>
              <a:avLst/>
              <a:gdLst/>
              <a:ahLst/>
              <a:cxnLst/>
              <a:rect l="l" t="t" r="r" b="b"/>
              <a:pathLst>
                <a:path w="4876800" h="536448">
                  <a:moveTo>
                    <a:pt x="0" y="0"/>
                  </a:moveTo>
                  <a:lnTo>
                    <a:pt x="4876800" y="0"/>
                  </a:lnTo>
                  <a:lnTo>
                    <a:pt x="487680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1">
                <a:alphaModFix amt="0"/>
              </a:blip>
              <a:stretch>
                <a:fillRect t="-127136" b="-127136"/>
              </a:stretch>
            </a:blipFill>
          </p:spPr>
        </p:sp>
        <p:sp>
          <p:nvSpPr>
            <p:cNvPr id="40" name="TextBox 40"/>
            <p:cNvSpPr txBox="1"/>
            <p:nvPr/>
          </p:nvSpPr>
          <p:spPr>
            <a:xfrm>
              <a:off x="0" y="-38100"/>
              <a:ext cx="4876800" cy="57454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94A3B8"/>
                  </a:solidFill>
                  <a:latin typeface="Calibri (MS)" panose="020F0502020204030204"/>
                  <a:ea typeface="Calibri (MS)" panose="020F0502020204030204"/>
                  <a:cs typeface="Calibri (MS)" panose="020F0502020204030204"/>
                  <a:sym typeface="Calibri (MS)" panose="020F0502020204030204"/>
                </a:rPr>
                <a:t>Vice Team Leader</a:t>
              </a:r>
              <a:endParaRPr lang="en-US" sz="1800">
                <a:solidFill>
                  <a:srgbClr val="94A3B8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endParaRPr>
            </a:p>
          </p:txBody>
        </p:sp>
      </p:grpSp>
      <p:grpSp>
        <p:nvGrpSpPr>
          <p:cNvPr id="41" name="Group 41"/>
          <p:cNvGrpSpPr/>
          <p:nvPr/>
        </p:nvGrpSpPr>
        <p:grpSpPr>
          <a:xfrm rot="0">
            <a:off x="1358903" y="6680711"/>
            <a:ext cx="208283" cy="208283"/>
            <a:chOff x="0" y="0"/>
            <a:chExt cx="277711" cy="277711"/>
          </a:xfrm>
        </p:grpSpPr>
        <p:sp>
          <p:nvSpPr>
            <p:cNvPr id="42" name="Freeform 42"/>
            <p:cNvSpPr/>
            <p:nvPr/>
          </p:nvSpPr>
          <p:spPr>
            <a:xfrm>
              <a:off x="16891" y="16891"/>
              <a:ext cx="243840" cy="243840"/>
            </a:xfrm>
            <a:custGeom>
              <a:avLst/>
              <a:gdLst/>
              <a:ahLst/>
              <a:cxnLst/>
              <a:rect l="l" t="t" r="r" b="b"/>
              <a:pathLst>
                <a:path w="243840" h="243840">
                  <a:moveTo>
                    <a:pt x="0" y="121920"/>
                  </a:moveTo>
                  <a:cubicBezTo>
                    <a:pt x="0" y="54610"/>
                    <a:pt x="54610" y="0"/>
                    <a:pt x="121920" y="0"/>
                  </a:cubicBezTo>
                  <a:cubicBezTo>
                    <a:pt x="189230" y="0"/>
                    <a:pt x="243840" y="54610"/>
                    <a:pt x="243840" y="121920"/>
                  </a:cubicBezTo>
                  <a:cubicBezTo>
                    <a:pt x="243840" y="189230"/>
                    <a:pt x="189230" y="243840"/>
                    <a:pt x="121920" y="243840"/>
                  </a:cubicBezTo>
                  <a:cubicBezTo>
                    <a:pt x="54610" y="243840"/>
                    <a:pt x="0" y="189230"/>
                    <a:pt x="0" y="121920"/>
                  </a:cubicBezTo>
                  <a:close/>
                </a:path>
              </a:pathLst>
            </a:custGeom>
            <a:solidFill>
              <a:srgbClr val="38BDF8"/>
            </a:solidFill>
          </p:spPr>
        </p:sp>
        <p:sp>
          <p:nvSpPr>
            <p:cNvPr id="43" name="Freeform 43"/>
            <p:cNvSpPr/>
            <p:nvPr/>
          </p:nvSpPr>
          <p:spPr>
            <a:xfrm>
              <a:off x="0" y="0"/>
              <a:ext cx="277622" cy="277622"/>
            </a:xfrm>
            <a:custGeom>
              <a:avLst/>
              <a:gdLst/>
              <a:ahLst/>
              <a:cxnLst/>
              <a:rect l="l" t="t" r="r" b="b"/>
              <a:pathLst>
                <a:path w="277622" h="277622">
                  <a:moveTo>
                    <a:pt x="0" y="138811"/>
                  </a:moveTo>
                  <a:cubicBezTo>
                    <a:pt x="0" y="62230"/>
                    <a:pt x="62230" y="0"/>
                    <a:pt x="138811" y="0"/>
                  </a:cubicBezTo>
                  <a:lnTo>
                    <a:pt x="138811" y="16891"/>
                  </a:lnTo>
                  <a:lnTo>
                    <a:pt x="138811" y="0"/>
                  </a:lnTo>
                  <a:cubicBezTo>
                    <a:pt x="215519" y="0"/>
                    <a:pt x="277622" y="62230"/>
                    <a:pt x="277622" y="138811"/>
                  </a:cubicBezTo>
                  <a:lnTo>
                    <a:pt x="260731" y="138811"/>
                  </a:lnTo>
                  <a:lnTo>
                    <a:pt x="277622" y="138811"/>
                  </a:lnTo>
                  <a:cubicBezTo>
                    <a:pt x="277622" y="215519"/>
                    <a:pt x="215392" y="277622"/>
                    <a:pt x="138811" y="277622"/>
                  </a:cubicBezTo>
                  <a:lnTo>
                    <a:pt x="138811" y="260731"/>
                  </a:lnTo>
                  <a:lnTo>
                    <a:pt x="138811" y="277622"/>
                  </a:lnTo>
                  <a:cubicBezTo>
                    <a:pt x="62230" y="277749"/>
                    <a:pt x="0" y="215519"/>
                    <a:pt x="0" y="138811"/>
                  </a:cubicBezTo>
                  <a:lnTo>
                    <a:pt x="16891" y="138811"/>
                  </a:lnTo>
                  <a:lnTo>
                    <a:pt x="33909" y="138811"/>
                  </a:lnTo>
                  <a:lnTo>
                    <a:pt x="16891" y="138811"/>
                  </a:lnTo>
                  <a:lnTo>
                    <a:pt x="0" y="138811"/>
                  </a:lnTo>
                  <a:moveTo>
                    <a:pt x="33909" y="138811"/>
                  </a:moveTo>
                  <a:cubicBezTo>
                    <a:pt x="33909" y="148209"/>
                    <a:pt x="26289" y="155702"/>
                    <a:pt x="17018" y="155702"/>
                  </a:cubicBezTo>
                  <a:cubicBezTo>
                    <a:pt x="7747" y="155702"/>
                    <a:pt x="0" y="148209"/>
                    <a:pt x="0" y="138811"/>
                  </a:cubicBezTo>
                  <a:cubicBezTo>
                    <a:pt x="0" y="129413"/>
                    <a:pt x="7620" y="121920"/>
                    <a:pt x="16891" y="121920"/>
                  </a:cubicBezTo>
                  <a:cubicBezTo>
                    <a:pt x="26162" y="121920"/>
                    <a:pt x="33782" y="129540"/>
                    <a:pt x="33782" y="138811"/>
                  </a:cubicBezTo>
                  <a:cubicBezTo>
                    <a:pt x="33782" y="196850"/>
                    <a:pt x="80772" y="243840"/>
                    <a:pt x="138811" y="243840"/>
                  </a:cubicBezTo>
                  <a:cubicBezTo>
                    <a:pt x="196850" y="243840"/>
                    <a:pt x="243840" y="196850"/>
                    <a:pt x="243840" y="138811"/>
                  </a:cubicBezTo>
                  <a:cubicBezTo>
                    <a:pt x="243840" y="80772"/>
                    <a:pt x="196850" y="33782"/>
                    <a:pt x="138811" y="33782"/>
                  </a:cubicBezTo>
                  <a:lnTo>
                    <a:pt x="138811" y="16891"/>
                  </a:lnTo>
                  <a:lnTo>
                    <a:pt x="138811" y="33909"/>
                  </a:lnTo>
                  <a:cubicBezTo>
                    <a:pt x="80772" y="33909"/>
                    <a:pt x="33782" y="80899"/>
                    <a:pt x="33782" y="138938"/>
                  </a:cubicBezTo>
                  <a:close/>
                </a:path>
              </a:pathLst>
            </a:custGeom>
            <a:solidFill>
              <a:srgbClr val="38BDF8"/>
            </a:solidFill>
          </p:spPr>
        </p:sp>
      </p:grpSp>
      <p:grpSp>
        <p:nvGrpSpPr>
          <p:cNvPr id="44" name="Group 44"/>
          <p:cNvGrpSpPr/>
          <p:nvPr/>
        </p:nvGrpSpPr>
        <p:grpSpPr>
          <a:xfrm rot="0">
            <a:off x="1700784" y="6528816"/>
            <a:ext cx="3657600" cy="475488"/>
            <a:chOff x="0" y="0"/>
            <a:chExt cx="4876800" cy="633984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4876800" cy="633984"/>
            </a:xfrm>
            <a:custGeom>
              <a:avLst/>
              <a:gdLst/>
              <a:ahLst/>
              <a:cxnLst/>
              <a:rect l="l" t="t" r="r" b="b"/>
              <a:pathLst>
                <a:path w="4876800" h="633984">
                  <a:moveTo>
                    <a:pt x="0" y="0"/>
                  </a:moveTo>
                  <a:lnTo>
                    <a:pt x="4876800" y="0"/>
                  </a:lnTo>
                  <a:lnTo>
                    <a:pt x="487680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1">
                <a:alphaModFix amt="0"/>
              </a:blip>
              <a:stretch>
                <a:fillRect t="-99884" b="-99884"/>
              </a:stretch>
            </a:blipFill>
          </p:spPr>
        </p:sp>
        <p:sp>
          <p:nvSpPr>
            <p:cNvPr id="46" name="TextBox 46"/>
            <p:cNvSpPr txBox="1"/>
            <p:nvPr/>
          </p:nvSpPr>
          <p:spPr>
            <a:xfrm>
              <a:off x="0" y="-47625"/>
              <a:ext cx="4876800" cy="68160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40"/>
                </a:lnSpc>
              </a:pPr>
              <a:r>
                <a:rPr lang="en-US" sz="2200" b="1">
                  <a:solidFill>
                    <a:srgbClr val="E2E8F0"/>
                  </a:solidFill>
                  <a:latin typeface="Calibri (MS) Bold" panose="020F0702030404030204"/>
                  <a:ea typeface="Calibri (MS) Bold" panose="020F0702030404030204"/>
                  <a:cs typeface="Calibri (MS) Bold" panose="020F0702030404030204"/>
                  <a:sym typeface="Calibri (MS) Bold" panose="020F0702030404030204"/>
                </a:rPr>
                <a:t>Enhe Zhang</a:t>
              </a:r>
              <a:endParaRPr lang="en-US" sz="2200" b="1">
                <a:solidFill>
                  <a:srgbClr val="E2E8F0"/>
                </a:solidFill>
                <a:latin typeface="Calibri (MS) Bold" panose="020F0702030404030204"/>
                <a:ea typeface="Calibri (MS) Bold" panose="020F0702030404030204"/>
                <a:cs typeface="Calibri (MS) Bold" panose="020F0702030404030204"/>
                <a:sym typeface="Calibri (MS) Bold" panose="020F0702030404030204"/>
              </a:endParaRPr>
            </a:p>
          </p:txBody>
        </p:sp>
      </p:grpSp>
      <p:grpSp>
        <p:nvGrpSpPr>
          <p:cNvPr id="47" name="Group 47"/>
          <p:cNvGrpSpPr/>
          <p:nvPr/>
        </p:nvGrpSpPr>
        <p:grpSpPr>
          <a:xfrm rot="0">
            <a:off x="1700784" y="6967728"/>
            <a:ext cx="3657600" cy="402336"/>
            <a:chOff x="0" y="0"/>
            <a:chExt cx="4876800" cy="536448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4876800" cy="536448"/>
            </a:xfrm>
            <a:custGeom>
              <a:avLst/>
              <a:gdLst/>
              <a:ahLst/>
              <a:cxnLst/>
              <a:rect l="l" t="t" r="r" b="b"/>
              <a:pathLst>
                <a:path w="4876800" h="536448">
                  <a:moveTo>
                    <a:pt x="0" y="0"/>
                  </a:moveTo>
                  <a:lnTo>
                    <a:pt x="4876800" y="0"/>
                  </a:lnTo>
                  <a:lnTo>
                    <a:pt x="487680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1">
                <a:alphaModFix amt="0"/>
              </a:blip>
              <a:stretch>
                <a:fillRect t="-127136" b="-127136"/>
              </a:stretch>
            </a:blipFill>
          </p:spPr>
        </p:sp>
        <p:sp>
          <p:nvSpPr>
            <p:cNvPr id="49" name="TextBox 49"/>
            <p:cNvSpPr txBox="1"/>
            <p:nvPr/>
          </p:nvSpPr>
          <p:spPr>
            <a:xfrm>
              <a:off x="0" y="-38100"/>
              <a:ext cx="4876800" cy="57454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94A3B8"/>
                  </a:solidFill>
                  <a:latin typeface="Calibri (MS)" panose="020F0502020204030204"/>
                  <a:ea typeface="Calibri (MS)" panose="020F0502020204030204"/>
                  <a:cs typeface="Calibri (MS)" panose="020F0502020204030204"/>
                  <a:sym typeface="Calibri (MS)" panose="020F0502020204030204"/>
                </a:rPr>
                <a:t>Programmer / Tester</a:t>
              </a:r>
              <a:endParaRPr lang="en-US" sz="1800">
                <a:solidFill>
                  <a:srgbClr val="94A3B8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endParaRPr>
            </a:p>
          </p:txBody>
        </p:sp>
      </p:grpSp>
      <p:grpSp>
        <p:nvGrpSpPr>
          <p:cNvPr id="50" name="Group 50"/>
          <p:cNvGrpSpPr/>
          <p:nvPr/>
        </p:nvGrpSpPr>
        <p:grpSpPr>
          <a:xfrm rot="0">
            <a:off x="9405623" y="6680711"/>
            <a:ext cx="208283" cy="208283"/>
            <a:chOff x="0" y="0"/>
            <a:chExt cx="277711" cy="277711"/>
          </a:xfrm>
        </p:grpSpPr>
        <p:sp>
          <p:nvSpPr>
            <p:cNvPr id="51" name="Freeform 51"/>
            <p:cNvSpPr/>
            <p:nvPr/>
          </p:nvSpPr>
          <p:spPr>
            <a:xfrm>
              <a:off x="16891" y="16891"/>
              <a:ext cx="243840" cy="243840"/>
            </a:xfrm>
            <a:custGeom>
              <a:avLst/>
              <a:gdLst/>
              <a:ahLst/>
              <a:cxnLst/>
              <a:rect l="l" t="t" r="r" b="b"/>
              <a:pathLst>
                <a:path w="243840" h="243840">
                  <a:moveTo>
                    <a:pt x="0" y="121920"/>
                  </a:moveTo>
                  <a:cubicBezTo>
                    <a:pt x="0" y="54610"/>
                    <a:pt x="54610" y="0"/>
                    <a:pt x="121920" y="0"/>
                  </a:cubicBezTo>
                  <a:cubicBezTo>
                    <a:pt x="189230" y="0"/>
                    <a:pt x="243840" y="54610"/>
                    <a:pt x="243840" y="121920"/>
                  </a:cubicBezTo>
                  <a:cubicBezTo>
                    <a:pt x="243840" y="189230"/>
                    <a:pt x="189230" y="243840"/>
                    <a:pt x="121920" y="243840"/>
                  </a:cubicBezTo>
                  <a:cubicBezTo>
                    <a:pt x="54610" y="243840"/>
                    <a:pt x="0" y="189230"/>
                    <a:pt x="0" y="121920"/>
                  </a:cubicBezTo>
                  <a:close/>
                </a:path>
              </a:pathLst>
            </a:custGeom>
            <a:solidFill>
              <a:srgbClr val="38BDF8"/>
            </a:solidFill>
          </p:spPr>
        </p:sp>
        <p:sp>
          <p:nvSpPr>
            <p:cNvPr id="52" name="Freeform 52"/>
            <p:cNvSpPr/>
            <p:nvPr/>
          </p:nvSpPr>
          <p:spPr>
            <a:xfrm>
              <a:off x="0" y="0"/>
              <a:ext cx="277622" cy="277622"/>
            </a:xfrm>
            <a:custGeom>
              <a:avLst/>
              <a:gdLst/>
              <a:ahLst/>
              <a:cxnLst/>
              <a:rect l="l" t="t" r="r" b="b"/>
              <a:pathLst>
                <a:path w="277622" h="277622">
                  <a:moveTo>
                    <a:pt x="0" y="138811"/>
                  </a:moveTo>
                  <a:cubicBezTo>
                    <a:pt x="0" y="62230"/>
                    <a:pt x="62230" y="0"/>
                    <a:pt x="138811" y="0"/>
                  </a:cubicBezTo>
                  <a:lnTo>
                    <a:pt x="138811" y="16891"/>
                  </a:lnTo>
                  <a:lnTo>
                    <a:pt x="138811" y="0"/>
                  </a:lnTo>
                  <a:cubicBezTo>
                    <a:pt x="215519" y="0"/>
                    <a:pt x="277622" y="62230"/>
                    <a:pt x="277622" y="138811"/>
                  </a:cubicBezTo>
                  <a:lnTo>
                    <a:pt x="260731" y="138811"/>
                  </a:lnTo>
                  <a:lnTo>
                    <a:pt x="277622" y="138811"/>
                  </a:lnTo>
                  <a:cubicBezTo>
                    <a:pt x="277622" y="215519"/>
                    <a:pt x="215392" y="277622"/>
                    <a:pt x="138811" y="277622"/>
                  </a:cubicBezTo>
                  <a:lnTo>
                    <a:pt x="138811" y="260731"/>
                  </a:lnTo>
                  <a:lnTo>
                    <a:pt x="138811" y="277622"/>
                  </a:lnTo>
                  <a:cubicBezTo>
                    <a:pt x="62230" y="277749"/>
                    <a:pt x="0" y="215519"/>
                    <a:pt x="0" y="138811"/>
                  </a:cubicBezTo>
                  <a:lnTo>
                    <a:pt x="16891" y="138811"/>
                  </a:lnTo>
                  <a:lnTo>
                    <a:pt x="33909" y="138811"/>
                  </a:lnTo>
                  <a:lnTo>
                    <a:pt x="16891" y="138811"/>
                  </a:lnTo>
                  <a:lnTo>
                    <a:pt x="0" y="138811"/>
                  </a:lnTo>
                  <a:moveTo>
                    <a:pt x="33909" y="138811"/>
                  </a:moveTo>
                  <a:cubicBezTo>
                    <a:pt x="33909" y="148209"/>
                    <a:pt x="26289" y="155702"/>
                    <a:pt x="17018" y="155702"/>
                  </a:cubicBezTo>
                  <a:cubicBezTo>
                    <a:pt x="7747" y="155702"/>
                    <a:pt x="0" y="148209"/>
                    <a:pt x="0" y="138811"/>
                  </a:cubicBezTo>
                  <a:cubicBezTo>
                    <a:pt x="0" y="129413"/>
                    <a:pt x="7620" y="121920"/>
                    <a:pt x="16891" y="121920"/>
                  </a:cubicBezTo>
                  <a:cubicBezTo>
                    <a:pt x="26162" y="121920"/>
                    <a:pt x="33782" y="129540"/>
                    <a:pt x="33782" y="138811"/>
                  </a:cubicBezTo>
                  <a:cubicBezTo>
                    <a:pt x="33782" y="196850"/>
                    <a:pt x="80772" y="243840"/>
                    <a:pt x="138811" y="243840"/>
                  </a:cubicBezTo>
                  <a:cubicBezTo>
                    <a:pt x="196850" y="243840"/>
                    <a:pt x="243840" y="196850"/>
                    <a:pt x="243840" y="138811"/>
                  </a:cubicBezTo>
                  <a:cubicBezTo>
                    <a:pt x="243840" y="80772"/>
                    <a:pt x="196850" y="33782"/>
                    <a:pt x="138811" y="33782"/>
                  </a:cubicBezTo>
                  <a:lnTo>
                    <a:pt x="138811" y="16891"/>
                  </a:lnTo>
                  <a:lnTo>
                    <a:pt x="138811" y="33909"/>
                  </a:lnTo>
                  <a:cubicBezTo>
                    <a:pt x="80772" y="33909"/>
                    <a:pt x="33782" y="80899"/>
                    <a:pt x="33782" y="138938"/>
                  </a:cubicBezTo>
                  <a:close/>
                </a:path>
              </a:pathLst>
            </a:custGeom>
            <a:solidFill>
              <a:srgbClr val="38BDF8"/>
            </a:solidFill>
          </p:spPr>
        </p:sp>
      </p:grpSp>
      <p:grpSp>
        <p:nvGrpSpPr>
          <p:cNvPr id="53" name="Group 53"/>
          <p:cNvGrpSpPr/>
          <p:nvPr/>
        </p:nvGrpSpPr>
        <p:grpSpPr>
          <a:xfrm rot="0">
            <a:off x="9747504" y="6528816"/>
            <a:ext cx="3657600" cy="475488"/>
            <a:chOff x="0" y="0"/>
            <a:chExt cx="4876800" cy="633984"/>
          </a:xfrm>
        </p:grpSpPr>
        <p:sp>
          <p:nvSpPr>
            <p:cNvPr id="54" name="Freeform 54"/>
            <p:cNvSpPr/>
            <p:nvPr/>
          </p:nvSpPr>
          <p:spPr>
            <a:xfrm>
              <a:off x="0" y="0"/>
              <a:ext cx="4876800" cy="633984"/>
            </a:xfrm>
            <a:custGeom>
              <a:avLst/>
              <a:gdLst/>
              <a:ahLst/>
              <a:cxnLst/>
              <a:rect l="l" t="t" r="r" b="b"/>
              <a:pathLst>
                <a:path w="4876800" h="633984">
                  <a:moveTo>
                    <a:pt x="0" y="0"/>
                  </a:moveTo>
                  <a:lnTo>
                    <a:pt x="4876800" y="0"/>
                  </a:lnTo>
                  <a:lnTo>
                    <a:pt x="487680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1">
                <a:alphaModFix amt="0"/>
              </a:blip>
              <a:stretch>
                <a:fillRect t="-99884" b="-99884"/>
              </a:stretch>
            </a:blipFill>
          </p:spPr>
        </p:sp>
        <p:sp>
          <p:nvSpPr>
            <p:cNvPr id="55" name="TextBox 55"/>
            <p:cNvSpPr txBox="1"/>
            <p:nvPr/>
          </p:nvSpPr>
          <p:spPr>
            <a:xfrm>
              <a:off x="0" y="-47625"/>
              <a:ext cx="4876800" cy="68160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40"/>
                </a:lnSpc>
              </a:pPr>
              <a:r>
                <a:rPr lang="en-US" sz="2200" b="1">
                  <a:solidFill>
                    <a:srgbClr val="E2E8F0"/>
                  </a:solidFill>
                  <a:latin typeface="Calibri (MS) Bold" panose="020F0702030404030204"/>
                  <a:ea typeface="Calibri (MS) Bold" panose="020F0702030404030204"/>
                  <a:cs typeface="Calibri (MS) Bold" panose="020F0702030404030204"/>
                  <a:sym typeface="Calibri (MS) Bold" panose="020F0702030404030204"/>
                </a:rPr>
                <a:t>Sara Costa</a:t>
              </a:r>
              <a:endParaRPr lang="en-US" sz="2200" b="1">
                <a:solidFill>
                  <a:srgbClr val="E2E8F0"/>
                </a:solidFill>
                <a:latin typeface="Calibri (MS) Bold" panose="020F0702030404030204"/>
                <a:ea typeface="Calibri (MS) Bold" panose="020F0702030404030204"/>
                <a:cs typeface="Calibri (MS) Bold" panose="020F0702030404030204"/>
                <a:sym typeface="Calibri (MS) Bold" panose="020F0702030404030204"/>
              </a:endParaRPr>
            </a:p>
          </p:txBody>
        </p:sp>
      </p:grpSp>
      <p:grpSp>
        <p:nvGrpSpPr>
          <p:cNvPr id="56" name="Group 56"/>
          <p:cNvGrpSpPr/>
          <p:nvPr/>
        </p:nvGrpSpPr>
        <p:grpSpPr>
          <a:xfrm rot="0">
            <a:off x="9747504" y="6967728"/>
            <a:ext cx="3657600" cy="402336"/>
            <a:chOff x="0" y="0"/>
            <a:chExt cx="4876800" cy="536448"/>
          </a:xfrm>
        </p:grpSpPr>
        <p:sp>
          <p:nvSpPr>
            <p:cNvPr id="57" name="Freeform 57"/>
            <p:cNvSpPr/>
            <p:nvPr/>
          </p:nvSpPr>
          <p:spPr>
            <a:xfrm>
              <a:off x="0" y="0"/>
              <a:ext cx="4876800" cy="536448"/>
            </a:xfrm>
            <a:custGeom>
              <a:avLst/>
              <a:gdLst/>
              <a:ahLst/>
              <a:cxnLst/>
              <a:rect l="l" t="t" r="r" b="b"/>
              <a:pathLst>
                <a:path w="4876800" h="536448">
                  <a:moveTo>
                    <a:pt x="0" y="0"/>
                  </a:moveTo>
                  <a:lnTo>
                    <a:pt x="4876800" y="0"/>
                  </a:lnTo>
                  <a:lnTo>
                    <a:pt x="487680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1">
                <a:alphaModFix amt="0"/>
              </a:blip>
              <a:stretch>
                <a:fillRect t="-127136" b="-127136"/>
              </a:stretch>
            </a:blipFill>
          </p:spPr>
        </p:sp>
        <p:sp>
          <p:nvSpPr>
            <p:cNvPr id="58" name="TextBox 58"/>
            <p:cNvSpPr txBox="1"/>
            <p:nvPr/>
          </p:nvSpPr>
          <p:spPr>
            <a:xfrm>
              <a:off x="0" y="-38100"/>
              <a:ext cx="4876800" cy="57454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94A3B8"/>
                  </a:solidFill>
                  <a:latin typeface="Calibri (MS)" panose="020F0502020204030204"/>
                  <a:ea typeface="Calibri (MS)" panose="020F0502020204030204"/>
                  <a:cs typeface="Calibri (MS)" panose="020F0502020204030204"/>
                  <a:sym typeface="Calibri (MS)" panose="020F0502020204030204"/>
                </a:rPr>
                <a:t>Programmer / Tester</a:t>
              </a:r>
              <a:endParaRPr lang="en-US" sz="1800">
                <a:solidFill>
                  <a:srgbClr val="94A3B8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endParaRPr>
            </a:p>
          </p:txBody>
        </p:sp>
      </p:grpSp>
      <p:grpSp>
        <p:nvGrpSpPr>
          <p:cNvPr id="59" name="Group 59"/>
          <p:cNvGrpSpPr/>
          <p:nvPr/>
        </p:nvGrpSpPr>
        <p:grpSpPr>
          <a:xfrm rot="0">
            <a:off x="1371600" y="8449056"/>
            <a:ext cx="15544800" cy="457200"/>
            <a:chOff x="0" y="0"/>
            <a:chExt cx="20726400" cy="609600"/>
          </a:xfrm>
        </p:grpSpPr>
        <p:sp>
          <p:nvSpPr>
            <p:cNvPr id="60" name="Freeform 60"/>
            <p:cNvSpPr/>
            <p:nvPr/>
          </p:nvSpPr>
          <p:spPr>
            <a:xfrm>
              <a:off x="0" y="0"/>
              <a:ext cx="20726400" cy="609600"/>
            </a:xfrm>
            <a:custGeom>
              <a:avLst/>
              <a:gdLst/>
              <a:ahLst/>
              <a:cxnLst/>
              <a:rect l="l" t="t" r="r" b="b"/>
              <a:pathLst>
                <a:path w="20726400" h="609600">
                  <a:moveTo>
                    <a:pt x="0" y="0"/>
                  </a:moveTo>
                  <a:lnTo>
                    <a:pt x="20726400" y="0"/>
                  </a:lnTo>
                  <a:lnTo>
                    <a:pt x="207264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1">
                <a:alphaModFix amt="0"/>
              </a:blip>
              <a:stretch>
                <a:fillRect t="-612491" b="-612491"/>
              </a:stretch>
            </a:blipFill>
          </p:spPr>
        </p:sp>
        <p:sp>
          <p:nvSpPr>
            <p:cNvPr id="61" name="TextBox 61"/>
            <p:cNvSpPr txBox="1"/>
            <p:nvPr/>
          </p:nvSpPr>
          <p:spPr>
            <a:xfrm>
              <a:off x="0" y="-38100"/>
              <a:ext cx="20726400" cy="6477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94A3B8"/>
                  </a:solidFill>
                  <a:latin typeface="Calibri (MS)" panose="020F0502020204030204"/>
                  <a:ea typeface="Calibri (MS)" panose="020F0502020204030204"/>
                  <a:cs typeface="Calibri (MS)" panose="020F0502020204030204"/>
                  <a:sym typeface="Calibri (MS)" panose="020F0502020204030204"/>
                </a:rPr>
                <a:t>Mid-Term Progress Meeting  ·  May 2026</a:t>
              </a:r>
              <a:endParaRPr lang="en-US" sz="1800">
                <a:solidFill>
                  <a:srgbClr val="94A3B8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822960" y="402336"/>
            <a:ext cx="16642080" cy="402336"/>
            <a:chOff x="0" y="0"/>
            <a:chExt cx="22189440" cy="53644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2189439" cy="536448"/>
            </a:xfrm>
            <a:custGeom>
              <a:avLst/>
              <a:gdLst/>
              <a:ahLst/>
              <a:cxnLst/>
              <a:rect l="l" t="t" r="r" b="b"/>
              <a:pathLst>
                <a:path w="22189439" h="536448">
                  <a:moveTo>
                    <a:pt x="0" y="0"/>
                  </a:moveTo>
                  <a:lnTo>
                    <a:pt x="22189439" y="0"/>
                  </a:lnTo>
                  <a:lnTo>
                    <a:pt x="22189439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1">
                <a:alphaModFix amt="0"/>
              </a:blip>
              <a:stretch>
                <a:fillRect t="-755972" b="-755972"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2189440" cy="57454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800"/>
                </a:lnSpc>
              </a:pPr>
              <a:r>
                <a:rPr lang="en-US" sz="1500" b="1" spc="600">
                  <a:solidFill>
                    <a:srgbClr val="34D399"/>
                  </a:solidFill>
                  <a:latin typeface="Calibri (MS) Bold" panose="020F0702030404030204"/>
                  <a:ea typeface="Calibri (MS) Bold" panose="020F0702030404030204"/>
                  <a:cs typeface="Calibri (MS) Bold" panose="020F0702030404030204"/>
                  <a:sym typeface="Calibri (MS) Bold" panose="020F0702030404030204"/>
                </a:rPr>
                <a:t>TEAM M1 — SCOPE &amp; OBJECTIVE</a:t>
              </a:r>
              <a:endParaRPr lang="en-US" sz="1500" b="1" spc="600">
                <a:solidFill>
                  <a:srgbClr val="34D399"/>
                </a:solidFill>
                <a:latin typeface="Calibri (MS) Bold" panose="020F0702030404030204"/>
                <a:ea typeface="Calibri (MS) Bold" panose="020F0702030404030204"/>
                <a:cs typeface="Calibri (MS) Bold" panose="020F0702030404030204"/>
                <a:sym typeface="Calibri (MS) Bold" panose="020F0702030404030204"/>
              </a:endParaRPr>
            </a:p>
          </p:txBody>
        </p:sp>
      </p:grpSp>
      <p:grpSp>
        <p:nvGrpSpPr>
          <p:cNvPr id="5" name="Group 5"/>
          <p:cNvGrpSpPr/>
          <p:nvPr/>
        </p:nvGrpSpPr>
        <p:grpSpPr>
          <a:xfrm rot="0">
            <a:off x="822960" y="804672"/>
            <a:ext cx="16642080" cy="1005840"/>
            <a:chOff x="0" y="0"/>
            <a:chExt cx="22189440" cy="134112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2189439" cy="1341120"/>
            </a:xfrm>
            <a:custGeom>
              <a:avLst/>
              <a:gdLst/>
              <a:ahLst/>
              <a:cxnLst/>
              <a:rect l="l" t="t" r="r" b="b"/>
              <a:pathLst>
                <a:path w="22189439" h="1341120">
                  <a:moveTo>
                    <a:pt x="0" y="0"/>
                  </a:moveTo>
                  <a:lnTo>
                    <a:pt x="22189439" y="0"/>
                  </a:lnTo>
                  <a:lnTo>
                    <a:pt x="22189439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1">
                <a:alphaModFix amt="0"/>
              </a:blip>
              <a:stretch>
                <a:fillRect t="-272388" b="-272388"/>
              </a:stretch>
            </a:blipFill>
          </p:spPr>
        </p:sp>
        <p:sp>
          <p:nvSpPr>
            <p:cNvPr id="7" name="TextBox 7"/>
            <p:cNvSpPr txBox="1"/>
            <p:nvPr/>
          </p:nvSpPr>
          <p:spPr>
            <a:xfrm>
              <a:off x="0" y="-85725"/>
              <a:ext cx="22189440" cy="14268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760"/>
                </a:lnSpc>
              </a:pPr>
              <a:r>
                <a:rPr lang="en-US" sz="4800" b="1">
                  <a:solidFill>
                    <a:srgbClr val="E2E8F0"/>
                  </a:solidFill>
                  <a:latin typeface="Calibri (MS) Bold" panose="020F0702030404030204"/>
                  <a:ea typeface="Calibri (MS) Bold" panose="020F0702030404030204"/>
                  <a:cs typeface="Calibri (MS) Bold" panose="020F0702030404030204"/>
                  <a:sym typeface="Calibri (MS) Bold" panose="020F0702030404030204"/>
                </a:rPr>
                <a:t>What Does M1 Do?</a:t>
              </a:r>
              <a:endParaRPr lang="en-US" sz="4800" b="1">
                <a:solidFill>
                  <a:srgbClr val="E2E8F0"/>
                </a:solidFill>
                <a:latin typeface="Calibri (MS) Bold" panose="020F0702030404030204"/>
                <a:ea typeface="Calibri (MS) Bold" panose="020F0702030404030204"/>
                <a:cs typeface="Calibri (MS) Bold" panose="020F0702030404030204"/>
                <a:sym typeface="Calibri (MS) Bold" panose="020F0702030404030204"/>
              </a:endParaRPr>
            </a:p>
          </p:txBody>
        </p:sp>
      </p:grpSp>
      <p:grpSp>
        <p:nvGrpSpPr>
          <p:cNvPr id="8" name="Group 8"/>
          <p:cNvGrpSpPr/>
          <p:nvPr/>
        </p:nvGrpSpPr>
        <p:grpSpPr>
          <a:xfrm rot="0">
            <a:off x="810263" y="1834391"/>
            <a:ext cx="16667483" cy="71123"/>
            <a:chOff x="0" y="0"/>
            <a:chExt cx="22223311" cy="94831"/>
          </a:xfrm>
        </p:grpSpPr>
        <p:sp>
          <p:nvSpPr>
            <p:cNvPr id="9" name="Freeform 9"/>
            <p:cNvSpPr/>
            <p:nvPr/>
          </p:nvSpPr>
          <p:spPr>
            <a:xfrm>
              <a:off x="16891" y="16891"/>
              <a:ext cx="22189439" cy="60960"/>
            </a:xfrm>
            <a:custGeom>
              <a:avLst/>
              <a:gdLst/>
              <a:ahLst/>
              <a:cxnLst/>
              <a:rect l="l" t="t" r="r" b="b"/>
              <a:pathLst>
                <a:path w="22189439" h="60960">
                  <a:moveTo>
                    <a:pt x="0" y="0"/>
                  </a:moveTo>
                  <a:lnTo>
                    <a:pt x="22189439" y="0"/>
                  </a:lnTo>
                  <a:lnTo>
                    <a:pt x="22189439" y="60960"/>
                  </a:lnTo>
                  <a:lnTo>
                    <a:pt x="0" y="60960"/>
                  </a:lnTo>
                  <a:close/>
                </a:path>
              </a:pathLst>
            </a:custGeom>
            <a:solidFill>
              <a:srgbClr val="1E2D45"/>
            </a:solidFill>
          </p:spPr>
        </p:sp>
        <p:sp>
          <p:nvSpPr>
            <p:cNvPr id="10" name="Freeform 10"/>
            <p:cNvSpPr/>
            <p:nvPr/>
          </p:nvSpPr>
          <p:spPr>
            <a:xfrm>
              <a:off x="0" y="0"/>
              <a:ext cx="22223222" cy="94744"/>
            </a:xfrm>
            <a:custGeom>
              <a:avLst/>
              <a:gdLst/>
              <a:ahLst/>
              <a:cxnLst/>
              <a:rect l="l" t="t" r="r" b="b"/>
              <a:pathLst>
                <a:path w="22223222" h="94744">
                  <a:moveTo>
                    <a:pt x="16891" y="0"/>
                  </a:moveTo>
                  <a:lnTo>
                    <a:pt x="22206330" y="0"/>
                  </a:lnTo>
                  <a:cubicBezTo>
                    <a:pt x="22215729" y="0"/>
                    <a:pt x="22223222" y="7620"/>
                    <a:pt x="22223222" y="16891"/>
                  </a:cubicBezTo>
                  <a:lnTo>
                    <a:pt x="22223222" y="77851"/>
                  </a:lnTo>
                  <a:cubicBezTo>
                    <a:pt x="22223222" y="87249"/>
                    <a:pt x="22215602" y="94742"/>
                    <a:pt x="22206330" y="94742"/>
                  </a:cubicBezTo>
                  <a:lnTo>
                    <a:pt x="16891" y="94742"/>
                  </a:lnTo>
                  <a:cubicBezTo>
                    <a:pt x="7620" y="94869"/>
                    <a:pt x="0" y="87249"/>
                    <a:pt x="0" y="778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77851"/>
                  </a:lnTo>
                  <a:lnTo>
                    <a:pt x="16891" y="77851"/>
                  </a:lnTo>
                  <a:lnTo>
                    <a:pt x="16891" y="60960"/>
                  </a:lnTo>
                  <a:lnTo>
                    <a:pt x="22206330" y="60960"/>
                  </a:lnTo>
                  <a:lnTo>
                    <a:pt x="22206330" y="77851"/>
                  </a:lnTo>
                  <a:lnTo>
                    <a:pt x="22189439" y="77851"/>
                  </a:lnTo>
                  <a:lnTo>
                    <a:pt x="22189439" y="16891"/>
                  </a:lnTo>
                  <a:lnTo>
                    <a:pt x="22206330" y="16891"/>
                  </a:lnTo>
                  <a:lnTo>
                    <a:pt x="2220633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E2D45"/>
            </a:solidFill>
          </p:spPr>
        </p:sp>
      </p:grpSp>
      <p:grpSp>
        <p:nvGrpSpPr>
          <p:cNvPr id="11" name="Group 11"/>
          <p:cNvGrpSpPr/>
          <p:nvPr/>
        </p:nvGrpSpPr>
        <p:grpSpPr>
          <a:xfrm rot="0">
            <a:off x="810263" y="2145287"/>
            <a:ext cx="16667483" cy="1525019"/>
            <a:chOff x="0" y="0"/>
            <a:chExt cx="22223311" cy="2033359"/>
          </a:xfrm>
        </p:grpSpPr>
        <p:sp>
          <p:nvSpPr>
            <p:cNvPr id="12" name="Freeform 12"/>
            <p:cNvSpPr/>
            <p:nvPr/>
          </p:nvSpPr>
          <p:spPr>
            <a:xfrm>
              <a:off x="16891" y="16891"/>
              <a:ext cx="22189439" cy="1999488"/>
            </a:xfrm>
            <a:custGeom>
              <a:avLst/>
              <a:gdLst/>
              <a:ahLst/>
              <a:cxnLst/>
              <a:rect l="l" t="t" r="r" b="b"/>
              <a:pathLst>
                <a:path w="22189439" h="1999488">
                  <a:moveTo>
                    <a:pt x="0" y="0"/>
                  </a:moveTo>
                  <a:lnTo>
                    <a:pt x="22189439" y="0"/>
                  </a:lnTo>
                  <a:lnTo>
                    <a:pt x="22189439" y="1999488"/>
                  </a:lnTo>
                  <a:lnTo>
                    <a:pt x="0" y="1999488"/>
                  </a:lnTo>
                  <a:close/>
                </a:path>
              </a:pathLst>
            </a:custGeom>
            <a:solidFill>
              <a:srgbClr val="1A2236"/>
            </a:solidFill>
          </p:spPr>
        </p:sp>
        <p:sp>
          <p:nvSpPr>
            <p:cNvPr id="13" name="Freeform 13"/>
            <p:cNvSpPr/>
            <p:nvPr/>
          </p:nvSpPr>
          <p:spPr>
            <a:xfrm>
              <a:off x="0" y="0"/>
              <a:ext cx="22223222" cy="2033270"/>
            </a:xfrm>
            <a:custGeom>
              <a:avLst/>
              <a:gdLst/>
              <a:ahLst/>
              <a:cxnLst/>
              <a:rect l="l" t="t" r="r" b="b"/>
              <a:pathLst>
                <a:path w="22223222" h="2033270">
                  <a:moveTo>
                    <a:pt x="16891" y="0"/>
                  </a:moveTo>
                  <a:lnTo>
                    <a:pt x="22206330" y="0"/>
                  </a:lnTo>
                  <a:cubicBezTo>
                    <a:pt x="22215729" y="0"/>
                    <a:pt x="22223222" y="7620"/>
                    <a:pt x="22223222" y="16891"/>
                  </a:cubicBezTo>
                  <a:lnTo>
                    <a:pt x="22223222" y="2016379"/>
                  </a:lnTo>
                  <a:cubicBezTo>
                    <a:pt x="22223222" y="2025777"/>
                    <a:pt x="22215602" y="2033270"/>
                    <a:pt x="22206330" y="2033270"/>
                  </a:cubicBezTo>
                  <a:lnTo>
                    <a:pt x="16891" y="2033270"/>
                  </a:lnTo>
                  <a:cubicBezTo>
                    <a:pt x="7493" y="2033270"/>
                    <a:pt x="0" y="2025650"/>
                    <a:pt x="0" y="20163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016379"/>
                  </a:lnTo>
                  <a:lnTo>
                    <a:pt x="16891" y="2016379"/>
                  </a:lnTo>
                  <a:lnTo>
                    <a:pt x="16891" y="1999488"/>
                  </a:lnTo>
                  <a:lnTo>
                    <a:pt x="22206330" y="1999488"/>
                  </a:lnTo>
                  <a:lnTo>
                    <a:pt x="22206330" y="2016379"/>
                  </a:lnTo>
                  <a:lnTo>
                    <a:pt x="22189439" y="2016379"/>
                  </a:lnTo>
                  <a:lnTo>
                    <a:pt x="22189439" y="16891"/>
                  </a:lnTo>
                  <a:lnTo>
                    <a:pt x="22206330" y="16891"/>
                  </a:lnTo>
                  <a:lnTo>
                    <a:pt x="2220633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8BDF8"/>
            </a:solidFill>
          </p:spPr>
        </p:sp>
      </p:grpSp>
      <p:grpSp>
        <p:nvGrpSpPr>
          <p:cNvPr id="14" name="Group 14"/>
          <p:cNvGrpSpPr/>
          <p:nvPr/>
        </p:nvGrpSpPr>
        <p:grpSpPr>
          <a:xfrm rot="0">
            <a:off x="1188720" y="2286000"/>
            <a:ext cx="15910560" cy="1188720"/>
            <a:chOff x="0" y="0"/>
            <a:chExt cx="21214080" cy="158496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21214080" cy="1584960"/>
            </a:xfrm>
            <a:custGeom>
              <a:avLst/>
              <a:gdLst/>
              <a:ahLst/>
              <a:cxnLst/>
              <a:rect l="l" t="t" r="r" b="b"/>
              <a:pathLst>
                <a:path w="21214080" h="1584960">
                  <a:moveTo>
                    <a:pt x="0" y="0"/>
                  </a:moveTo>
                  <a:lnTo>
                    <a:pt x="21214080" y="0"/>
                  </a:lnTo>
                  <a:lnTo>
                    <a:pt x="2121408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1">
                <a:alphaModFix amt="0"/>
              </a:blip>
              <a:stretch>
                <a:fillRect t="-210799" b="-210799"/>
              </a:stretch>
            </a:blipFill>
          </p:spPr>
        </p:sp>
        <p:sp>
          <p:nvSpPr>
            <p:cNvPr id="16" name="TextBox 16"/>
            <p:cNvSpPr txBox="1"/>
            <p:nvPr/>
          </p:nvSpPr>
          <p:spPr>
            <a:xfrm>
              <a:off x="0" y="-66675"/>
              <a:ext cx="21214080" cy="165163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720"/>
                </a:lnSpc>
              </a:pPr>
              <a:r>
                <a:rPr lang="en-US" sz="3100" b="1">
                  <a:solidFill>
                    <a:srgbClr val="38BDF8"/>
                  </a:solidFill>
                  <a:latin typeface="Calibri (MS) Bold" panose="020F0702030404030204"/>
                  <a:ea typeface="Calibri (MS) Bold" panose="020F0702030404030204"/>
                  <a:cs typeface="Calibri (MS) Bold" panose="020F0702030404030204"/>
                  <a:sym typeface="Calibri (MS) Bold" panose="020F0702030404030204"/>
                </a:rPr>
                <a:t>M1 turns rehabilitation data into a clear, patient-facing mobile experience.</a:t>
              </a:r>
              <a:endParaRPr lang="en-US" sz="3100" b="1">
                <a:solidFill>
                  <a:srgbClr val="38BDF8"/>
                </a:solidFill>
                <a:latin typeface="Calibri (MS) Bold" panose="020F0702030404030204"/>
                <a:ea typeface="Calibri (MS) Bold" panose="020F0702030404030204"/>
                <a:cs typeface="Calibri (MS) Bold" panose="020F0702030404030204"/>
                <a:sym typeface="Calibri (MS) Bold" panose="020F0702030404030204"/>
              </a:endParaRPr>
            </a:p>
          </p:txBody>
        </p:sp>
      </p:grpSp>
      <p:grpSp>
        <p:nvGrpSpPr>
          <p:cNvPr id="17" name="Group 17"/>
          <p:cNvGrpSpPr/>
          <p:nvPr/>
        </p:nvGrpSpPr>
        <p:grpSpPr>
          <a:xfrm rot="0">
            <a:off x="810263" y="3974087"/>
            <a:ext cx="5328923" cy="2311403"/>
            <a:chOff x="0" y="0"/>
            <a:chExt cx="7105231" cy="3081871"/>
          </a:xfrm>
        </p:grpSpPr>
        <p:sp>
          <p:nvSpPr>
            <p:cNvPr id="18" name="Freeform 18"/>
            <p:cNvSpPr/>
            <p:nvPr/>
          </p:nvSpPr>
          <p:spPr>
            <a:xfrm>
              <a:off x="16891" y="16891"/>
              <a:ext cx="7071360" cy="3048000"/>
            </a:xfrm>
            <a:custGeom>
              <a:avLst/>
              <a:gdLst/>
              <a:ahLst/>
              <a:cxnLst/>
              <a:rect l="l" t="t" r="r" b="b"/>
              <a:pathLst>
                <a:path w="7071360" h="3048000">
                  <a:moveTo>
                    <a:pt x="0" y="0"/>
                  </a:moveTo>
                  <a:lnTo>
                    <a:pt x="7071360" y="0"/>
                  </a:lnTo>
                  <a:lnTo>
                    <a:pt x="7071360" y="3048000"/>
                  </a:lnTo>
                  <a:lnTo>
                    <a:pt x="0" y="3048000"/>
                  </a:lnTo>
                  <a:close/>
                </a:path>
              </a:pathLst>
            </a:custGeom>
            <a:solidFill>
              <a:srgbClr val="141C2E"/>
            </a:solidFill>
          </p:spPr>
        </p:sp>
        <p:sp>
          <p:nvSpPr>
            <p:cNvPr id="19" name="Freeform 19"/>
            <p:cNvSpPr/>
            <p:nvPr/>
          </p:nvSpPr>
          <p:spPr>
            <a:xfrm>
              <a:off x="0" y="0"/>
              <a:ext cx="7105142" cy="3081782"/>
            </a:xfrm>
            <a:custGeom>
              <a:avLst/>
              <a:gdLst/>
              <a:ahLst/>
              <a:cxnLst/>
              <a:rect l="l" t="t" r="r" b="b"/>
              <a:pathLst>
                <a:path w="7105142" h="3081782">
                  <a:moveTo>
                    <a:pt x="16891" y="0"/>
                  </a:moveTo>
                  <a:lnTo>
                    <a:pt x="7088251" y="0"/>
                  </a:lnTo>
                  <a:cubicBezTo>
                    <a:pt x="7097649" y="0"/>
                    <a:pt x="7105142" y="7620"/>
                    <a:pt x="7105142" y="16891"/>
                  </a:cubicBezTo>
                  <a:lnTo>
                    <a:pt x="7105142" y="3064891"/>
                  </a:lnTo>
                  <a:cubicBezTo>
                    <a:pt x="7105142" y="3074289"/>
                    <a:pt x="7097522" y="3081782"/>
                    <a:pt x="7088251" y="3081782"/>
                  </a:cubicBezTo>
                  <a:lnTo>
                    <a:pt x="16891" y="3081782"/>
                  </a:lnTo>
                  <a:cubicBezTo>
                    <a:pt x="7493" y="3081782"/>
                    <a:pt x="0" y="3074162"/>
                    <a:pt x="0" y="30648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064891"/>
                  </a:lnTo>
                  <a:lnTo>
                    <a:pt x="16891" y="3064891"/>
                  </a:lnTo>
                  <a:lnTo>
                    <a:pt x="16891" y="3048000"/>
                  </a:lnTo>
                  <a:lnTo>
                    <a:pt x="7088251" y="3048000"/>
                  </a:lnTo>
                  <a:lnTo>
                    <a:pt x="7088251" y="3064891"/>
                  </a:lnTo>
                  <a:lnTo>
                    <a:pt x="7071360" y="3064891"/>
                  </a:lnTo>
                  <a:lnTo>
                    <a:pt x="7071360" y="16891"/>
                  </a:lnTo>
                  <a:lnTo>
                    <a:pt x="7088251" y="16891"/>
                  </a:lnTo>
                  <a:lnTo>
                    <a:pt x="70882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E2D45"/>
            </a:solidFill>
          </p:spPr>
        </p:sp>
      </p:grpSp>
      <p:grpSp>
        <p:nvGrpSpPr>
          <p:cNvPr id="20" name="Group 20"/>
          <p:cNvGrpSpPr/>
          <p:nvPr/>
        </p:nvGrpSpPr>
        <p:grpSpPr>
          <a:xfrm rot="0">
            <a:off x="1097280" y="4224528"/>
            <a:ext cx="4754880" cy="640080"/>
            <a:chOff x="0" y="0"/>
            <a:chExt cx="6339840" cy="85344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6339840" cy="853440"/>
            </a:xfrm>
            <a:custGeom>
              <a:avLst/>
              <a:gdLst/>
              <a:ahLst/>
              <a:cxnLst/>
              <a:rect l="l" t="t" r="r" b="b"/>
              <a:pathLst>
                <a:path w="6339840" h="853440">
                  <a:moveTo>
                    <a:pt x="0" y="0"/>
                  </a:moveTo>
                  <a:lnTo>
                    <a:pt x="6339840" y="0"/>
                  </a:lnTo>
                  <a:lnTo>
                    <a:pt x="633984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1">
                <a:alphaModFix amt="0"/>
              </a:blip>
              <a:stretch>
                <a:fillRect t="-94745" b="-94745"/>
              </a:stretch>
            </a:blipFill>
          </p:spPr>
        </p:sp>
        <p:sp>
          <p:nvSpPr>
            <p:cNvPr id="22" name="TextBox 22"/>
            <p:cNvSpPr txBox="1"/>
            <p:nvPr/>
          </p:nvSpPr>
          <p:spPr>
            <a:xfrm>
              <a:off x="0" y="-47625"/>
              <a:ext cx="6339840" cy="9010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40"/>
                </a:lnSpc>
              </a:pPr>
              <a:r>
                <a:rPr lang="en-US" sz="2200" b="1">
                  <a:solidFill>
                    <a:srgbClr val="E2E8F0"/>
                  </a:solidFill>
                  <a:latin typeface="Calibri (MS) Bold" panose="020F0702030404030204"/>
                  <a:ea typeface="Calibri (MS) Bold" panose="020F0702030404030204"/>
                  <a:cs typeface="Calibri (MS) Bold" panose="020F0702030404030204"/>
                  <a:sym typeface="Calibri (MS) Bold" panose="020F0702030404030204"/>
                </a:rPr>
                <a:t>👤  Login &amp; Registration</a:t>
              </a:r>
              <a:endParaRPr lang="en-US" sz="2200" b="1">
                <a:solidFill>
                  <a:srgbClr val="E2E8F0"/>
                </a:solidFill>
                <a:latin typeface="Calibri (MS) Bold" panose="020F0702030404030204"/>
                <a:ea typeface="Calibri (MS) Bold" panose="020F0702030404030204"/>
                <a:cs typeface="Calibri (MS) Bold" panose="020F0702030404030204"/>
                <a:sym typeface="Calibri (MS) Bold" panose="020F0702030404030204"/>
              </a:endParaRPr>
            </a:p>
          </p:txBody>
        </p:sp>
      </p:grpSp>
      <p:grpSp>
        <p:nvGrpSpPr>
          <p:cNvPr id="23" name="Group 23"/>
          <p:cNvGrpSpPr/>
          <p:nvPr/>
        </p:nvGrpSpPr>
        <p:grpSpPr>
          <a:xfrm rot="0">
            <a:off x="1097280" y="4864608"/>
            <a:ext cx="4754880" cy="1188720"/>
            <a:chOff x="0" y="0"/>
            <a:chExt cx="6339840" cy="158496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6339840" cy="1584960"/>
            </a:xfrm>
            <a:custGeom>
              <a:avLst/>
              <a:gdLst/>
              <a:ahLst/>
              <a:cxnLst/>
              <a:rect l="l" t="t" r="r" b="b"/>
              <a:pathLst>
                <a:path w="6339840" h="1584960">
                  <a:moveTo>
                    <a:pt x="0" y="0"/>
                  </a:moveTo>
                  <a:lnTo>
                    <a:pt x="6339840" y="0"/>
                  </a:lnTo>
                  <a:lnTo>
                    <a:pt x="633984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1">
                <a:alphaModFix amt="0"/>
              </a:blip>
              <a:stretch>
                <a:fillRect t="-27940" b="-27940"/>
              </a:stretch>
            </a:blipFill>
          </p:spPr>
        </p:sp>
        <p:sp>
          <p:nvSpPr>
            <p:cNvPr id="25" name="TextBox 25"/>
            <p:cNvSpPr txBox="1"/>
            <p:nvPr/>
          </p:nvSpPr>
          <p:spPr>
            <a:xfrm>
              <a:off x="0" y="-38100"/>
              <a:ext cx="6339840" cy="16230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94A3B8"/>
                  </a:solidFill>
                  <a:latin typeface="Calibri (MS)" panose="020F0502020204030204"/>
                  <a:ea typeface="Calibri (MS)" panose="020F0502020204030204"/>
                  <a:cs typeface="Calibri (MS)" panose="020F0502020204030204"/>
                  <a:sym typeface="Calibri (MS)" panose="020F0502020204030204"/>
                </a:rPr>
                <a:t>Patient authentication &amp; profile management</a:t>
              </a:r>
              <a:endParaRPr lang="en-US" sz="1900">
                <a:solidFill>
                  <a:srgbClr val="94A3B8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endParaRPr>
            </a:p>
          </p:txBody>
        </p:sp>
      </p:grpSp>
      <p:grpSp>
        <p:nvGrpSpPr>
          <p:cNvPr id="26" name="Group 26"/>
          <p:cNvGrpSpPr/>
          <p:nvPr/>
        </p:nvGrpSpPr>
        <p:grpSpPr>
          <a:xfrm rot="0">
            <a:off x="6442967" y="3974087"/>
            <a:ext cx="5328923" cy="2311403"/>
            <a:chOff x="0" y="0"/>
            <a:chExt cx="7105231" cy="3081871"/>
          </a:xfrm>
        </p:grpSpPr>
        <p:sp>
          <p:nvSpPr>
            <p:cNvPr id="27" name="Freeform 27"/>
            <p:cNvSpPr/>
            <p:nvPr/>
          </p:nvSpPr>
          <p:spPr>
            <a:xfrm>
              <a:off x="16891" y="16891"/>
              <a:ext cx="7071360" cy="3048000"/>
            </a:xfrm>
            <a:custGeom>
              <a:avLst/>
              <a:gdLst/>
              <a:ahLst/>
              <a:cxnLst/>
              <a:rect l="l" t="t" r="r" b="b"/>
              <a:pathLst>
                <a:path w="7071360" h="3048000">
                  <a:moveTo>
                    <a:pt x="0" y="0"/>
                  </a:moveTo>
                  <a:lnTo>
                    <a:pt x="7071360" y="0"/>
                  </a:lnTo>
                  <a:lnTo>
                    <a:pt x="7071360" y="3048000"/>
                  </a:lnTo>
                  <a:lnTo>
                    <a:pt x="0" y="3048000"/>
                  </a:lnTo>
                  <a:close/>
                </a:path>
              </a:pathLst>
            </a:custGeom>
            <a:solidFill>
              <a:srgbClr val="141C2E"/>
            </a:solidFill>
          </p:spPr>
        </p:sp>
        <p:sp>
          <p:nvSpPr>
            <p:cNvPr id="28" name="Freeform 28"/>
            <p:cNvSpPr/>
            <p:nvPr/>
          </p:nvSpPr>
          <p:spPr>
            <a:xfrm>
              <a:off x="0" y="0"/>
              <a:ext cx="7105142" cy="3081782"/>
            </a:xfrm>
            <a:custGeom>
              <a:avLst/>
              <a:gdLst/>
              <a:ahLst/>
              <a:cxnLst/>
              <a:rect l="l" t="t" r="r" b="b"/>
              <a:pathLst>
                <a:path w="7105142" h="3081782">
                  <a:moveTo>
                    <a:pt x="16891" y="0"/>
                  </a:moveTo>
                  <a:lnTo>
                    <a:pt x="7088251" y="0"/>
                  </a:lnTo>
                  <a:cubicBezTo>
                    <a:pt x="7097649" y="0"/>
                    <a:pt x="7105142" y="7620"/>
                    <a:pt x="7105142" y="16891"/>
                  </a:cubicBezTo>
                  <a:lnTo>
                    <a:pt x="7105142" y="3064891"/>
                  </a:lnTo>
                  <a:cubicBezTo>
                    <a:pt x="7105142" y="3074289"/>
                    <a:pt x="7097522" y="3081782"/>
                    <a:pt x="7088251" y="3081782"/>
                  </a:cubicBezTo>
                  <a:lnTo>
                    <a:pt x="16891" y="3081782"/>
                  </a:lnTo>
                  <a:cubicBezTo>
                    <a:pt x="7493" y="3081782"/>
                    <a:pt x="0" y="3074162"/>
                    <a:pt x="0" y="30648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064891"/>
                  </a:lnTo>
                  <a:lnTo>
                    <a:pt x="16891" y="3064891"/>
                  </a:lnTo>
                  <a:lnTo>
                    <a:pt x="16891" y="3048000"/>
                  </a:lnTo>
                  <a:lnTo>
                    <a:pt x="7088251" y="3048000"/>
                  </a:lnTo>
                  <a:lnTo>
                    <a:pt x="7088251" y="3064891"/>
                  </a:lnTo>
                  <a:lnTo>
                    <a:pt x="7071360" y="3064891"/>
                  </a:lnTo>
                  <a:lnTo>
                    <a:pt x="7071360" y="16891"/>
                  </a:lnTo>
                  <a:lnTo>
                    <a:pt x="7088251" y="16891"/>
                  </a:lnTo>
                  <a:lnTo>
                    <a:pt x="70882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E2D45"/>
            </a:solidFill>
          </p:spPr>
        </p:sp>
      </p:grpSp>
      <p:grpSp>
        <p:nvGrpSpPr>
          <p:cNvPr id="29" name="Group 29"/>
          <p:cNvGrpSpPr/>
          <p:nvPr/>
        </p:nvGrpSpPr>
        <p:grpSpPr>
          <a:xfrm rot="0">
            <a:off x="6729984" y="4224528"/>
            <a:ext cx="4754880" cy="640080"/>
            <a:chOff x="0" y="0"/>
            <a:chExt cx="6339840" cy="853440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6339840" cy="853440"/>
            </a:xfrm>
            <a:custGeom>
              <a:avLst/>
              <a:gdLst/>
              <a:ahLst/>
              <a:cxnLst/>
              <a:rect l="l" t="t" r="r" b="b"/>
              <a:pathLst>
                <a:path w="6339840" h="853440">
                  <a:moveTo>
                    <a:pt x="0" y="0"/>
                  </a:moveTo>
                  <a:lnTo>
                    <a:pt x="6339840" y="0"/>
                  </a:lnTo>
                  <a:lnTo>
                    <a:pt x="633984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1">
                <a:alphaModFix amt="0"/>
              </a:blip>
              <a:stretch>
                <a:fillRect t="-94745" b="-94745"/>
              </a:stretch>
            </a:blipFill>
          </p:spPr>
        </p:sp>
        <p:sp>
          <p:nvSpPr>
            <p:cNvPr id="31" name="TextBox 31"/>
            <p:cNvSpPr txBox="1"/>
            <p:nvPr/>
          </p:nvSpPr>
          <p:spPr>
            <a:xfrm>
              <a:off x="0" y="-47625"/>
              <a:ext cx="6339840" cy="9010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40"/>
                </a:lnSpc>
              </a:pPr>
              <a:r>
                <a:rPr lang="en-US" sz="2200" b="1">
                  <a:solidFill>
                    <a:srgbClr val="E2E8F0"/>
                  </a:solidFill>
                  <a:latin typeface="Calibri (MS) Bold" panose="020F0702030404030204"/>
                  <a:ea typeface="Calibri (MS) Bold" panose="020F0702030404030204"/>
                  <a:cs typeface="Calibri (MS) Bold" panose="020F0702030404030204"/>
                  <a:sym typeface="Calibri (MS) Bold" panose="020F0702030404030204"/>
                </a:rPr>
                <a:t>🏃  Exercise Flow</a:t>
              </a:r>
              <a:endParaRPr lang="en-US" sz="2200" b="1">
                <a:solidFill>
                  <a:srgbClr val="E2E8F0"/>
                </a:solidFill>
                <a:latin typeface="Calibri (MS) Bold" panose="020F0702030404030204"/>
                <a:ea typeface="Calibri (MS) Bold" panose="020F0702030404030204"/>
                <a:cs typeface="Calibri (MS) Bold" panose="020F0702030404030204"/>
                <a:sym typeface="Calibri (MS) Bold" panose="020F0702030404030204"/>
              </a:endParaRPr>
            </a:p>
          </p:txBody>
        </p:sp>
      </p:grpSp>
      <p:grpSp>
        <p:nvGrpSpPr>
          <p:cNvPr id="32" name="Group 32"/>
          <p:cNvGrpSpPr/>
          <p:nvPr/>
        </p:nvGrpSpPr>
        <p:grpSpPr>
          <a:xfrm rot="0">
            <a:off x="6729984" y="4864608"/>
            <a:ext cx="4754880" cy="1188720"/>
            <a:chOff x="0" y="0"/>
            <a:chExt cx="6339840" cy="1584960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6339840" cy="1584960"/>
            </a:xfrm>
            <a:custGeom>
              <a:avLst/>
              <a:gdLst/>
              <a:ahLst/>
              <a:cxnLst/>
              <a:rect l="l" t="t" r="r" b="b"/>
              <a:pathLst>
                <a:path w="6339840" h="1584960">
                  <a:moveTo>
                    <a:pt x="0" y="0"/>
                  </a:moveTo>
                  <a:lnTo>
                    <a:pt x="6339840" y="0"/>
                  </a:lnTo>
                  <a:lnTo>
                    <a:pt x="633984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1">
                <a:alphaModFix amt="0"/>
              </a:blip>
              <a:stretch>
                <a:fillRect t="-27940" b="-27940"/>
              </a:stretch>
            </a:blipFill>
          </p:spPr>
        </p:sp>
        <p:sp>
          <p:nvSpPr>
            <p:cNvPr id="34" name="TextBox 34"/>
            <p:cNvSpPr txBox="1"/>
            <p:nvPr/>
          </p:nvSpPr>
          <p:spPr>
            <a:xfrm>
              <a:off x="0" y="-38100"/>
              <a:ext cx="6339840" cy="16230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94A3B8"/>
                  </a:solidFill>
                  <a:latin typeface="Calibri (MS)" panose="020F0502020204030204"/>
                  <a:ea typeface="Calibri (MS)" panose="020F0502020204030204"/>
                  <a:cs typeface="Calibri (MS)" panose="020F0502020204030204"/>
                  <a:sym typeface="Calibri (MS)" panose="020F0502020204030204"/>
                </a:rPr>
                <a:t>Start, monitor and end rehabilitation exercises</a:t>
              </a:r>
              <a:endParaRPr lang="en-US" sz="1900">
                <a:solidFill>
                  <a:srgbClr val="94A3B8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endParaRPr>
            </a:p>
          </p:txBody>
        </p:sp>
      </p:grpSp>
      <p:grpSp>
        <p:nvGrpSpPr>
          <p:cNvPr id="35" name="Group 35"/>
          <p:cNvGrpSpPr/>
          <p:nvPr/>
        </p:nvGrpSpPr>
        <p:grpSpPr>
          <a:xfrm rot="0">
            <a:off x="12075671" y="3974087"/>
            <a:ext cx="5328923" cy="2311403"/>
            <a:chOff x="0" y="0"/>
            <a:chExt cx="7105231" cy="3081871"/>
          </a:xfrm>
        </p:grpSpPr>
        <p:sp>
          <p:nvSpPr>
            <p:cNvPr id="36" name="Freeform 36"/>
            <p:cNvSpPr/>
            <p:nvPr/>
          </p:nvSpPr>
          <p:spPr>
            <a:xfrm>
              <a:off x="16891" y="16891"/>
              <a:ext cx="7071360" cy="3048000"/>
            </a:xfrm>
            <a:custGeom>
              <a:avLst/>
              <a:gdLst/>
              <a:ahLst/>
              <a:cxnLst/>
              <a:rect l="l" t="t" r="r" b="b"/>
              <a:pathLst>
                <a:path w="7071360" h="3048000">
                  <a:moveTo>
                    <a:pt x="0" y="0"/>
                  </a:moveTo>
                  <a:lnTo>
                    <a:pt x="7071360" y="0"/>
                  </a:lnTo>
                  <a:lnTo>
                    <a:pt x="7071360" y="3048000"/>
                  </a:lnTo>
                  <a:lnTo>
                    <a:pt x="0" y="3048000"/>
                  </a:lnTo>
                  <a:close/>
                </a:path>
              </a:pathLst>
            </a:custGeom>
            <a:solidFill>
              <a:srgbClr val="141C2E"/>
            </a:solidFill>
          </p:spPr>
        </p:sp>
        <p:sp>
          <p:nvSpPr>
            <p:cNvPr id="37" name="Freeform 37"/>
            <p:cNvSpPr/>
            <p:nvPr/>
          </p:nvSpPr>
          <p:spPr>
            <a:xfrm>
              <a:off x="0" y="0"/>
              <a:ext cx="7105142" cy="3081782"/>
            </a:xfrm>
            <a:custGeom>
              <a:avLst/>
              <a:gdLst/>
              <a:ahLst/>
              <a:cxnLst/>
              <a:rect l="l" t="t" r="r" b="b"/>
              <a:pathLst>
                <a:path w="7105142" h="3081782">
                  <a:moveTo>
                    <a:pt x="16891" y="0"/>
                  </a:moveTo>
                  <a:lnTo>
                    <a:pt x="7088251" y="0"/>
                  </a:lnTo>
                  <a:cubicBezTo>
                    <a:pt x="7097649" y="0"/>
                    <a:pt x="7105142" y="7620"/>
                    <a:pt x="7105142" y="16891"/>
                  </a:cubicBezTo>
                  <a:lnTo>
                    <a:pt x="7105142" y="3064891"/>
                  </a:lnTo>
                  <a:cubicBezTo>
                    <a:pt x="7105142" y="3074289"/>
                    <a:pt x="7097522" y="3081782"/>
                    <a:pt x="7088251" y="3081782"/>
                  </a:cubicBezTo>
                  <a:lnTo>
                    <a:pt x="16891" y="3081782"/>
                  </a:lnTo>
                  <a:cubicBezTo>
                    <a:pt x="7493" y="3081782"/>
                    <a:pt x="0" y="3074162"/>
                    <a:pt x="0" y="30648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064891"/>
                  </a:lnTo>
                  <a:lnTo>
                    <a:pt x="16891" y="3064891"/>
                  </a:lnTo>
                  <a:lnTo>
                    <a:pt x="16891" y="3048000"/>
                  </a:lnTo>
                  <a:lnTo>
                    <a:pt x="7088251" y="3048000"/>
                  </a:lnTo>
                  <a:lnTo>
                    <a:pt x="7088251" y="3064891"/>
                  </a:lnTo>
                  <a:lnTo>
                    <a:pt x="7071360" y="3064891"/>
                  </a:lnTo>
                  <a:lnTo>
                    <a:pt x="7071360" y="16891"/>
                  </a:lnTo>
                  <a:lnTo>
                    <a:pt x="7088251" y="16891"/>
                  </a:lnTo>
                  <a:lnTo>
                    <a:pt x="70882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E2D45"/>
            </a:solidFill>
          </p:spPr>
        </p:sp>
      </p:grpSp>
      <p:grpSp>
        <p:nvGrpSpPr>
          <p:cNvPr id="38" name="Group 38"/>
          <p:cNvGrpSpPr/>
          <p:nvPr/>
        </p:nvGrpSpPr>
        <p:grpSpPr>
          <a:xfrm rot="0">
            <a:off x="12362688" y="4224528"/>
            <a:ext cx="4754880" cy="640080"/>
            <a:chOff x="0" y="0"/>
            <a:chExt cx="6339840" cy="853440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6339840" cy="853440"/>
            </a:xfrm>
            <a:custGeom>
              <a:avLst/>
              <a:gdLst/>
              <a:ahLst/>
              <a:cxnLst/>
              <a:rect l="l" t="t" r="r" b="b"/>
              <a:pathLst>
                <a:path w="6339840" h="853440">
                  <a:moveTo>
                    <a:pt x="0" y="0"/>
                  </a:moveTo>
                  <a:lnTo>
                    <a:pt x="6339840" y="0"/>
                  </a:lnTo>
                  <a:lnTo>
                    <a:pt x="633984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1">
                <a:alphaModFix amt="0"/>
              </a:blip>
              <a:stretch>
                <a:fillRect t="-94745" b="-94745"/>
              </a:stretch>
            </a:blipFill>
          </p:spPr>
        </p:sp>
        <p:sp>
          <p:nvSpPr>
            <p:cNvPr id="40" name="TextBox 40"/>
            <p:cNvSpPr txBox="1"/>
            <p:nvPr/>
          </p:nvSpPr>
          <p:spPr>
            <a:xfrm>
              <a:off x="0" y="-47625"/>
              <a:ext cx="6339840" cy="9010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40"/>
                </a:lnSpc>
              </a:pPr>
              <a:r>
                <a:rPr lang="en-US" sz="2200" b="1">
                  <a:solidFill>
                    <a:srgbClr val="E2E8F0"/>
                  </a:solidFill>
                  <a:latin typeface="Calibri (MS) Bold" panose="020F0702030404030204"/>
                  <a:ea typeface="Calibri (MS) Bold" panose="020F0702030404030204"/>
                  <a:cs typeface="Calibri (MS) Bold" panose="020F0702030404030204"/>
                  <a:sym typeface="Calibri (MS) Bold" panose="020F0702030404030204"/>
                </a:rPr>
                <a:t>📡  Sensor Connection</a:t>
              </a:r>
              <a:endParaRPr lang="en-US" sz="2200" b="1">
                <a:solidFill>
                  <a:srgbClr val="E2E8F0"/>
                </a:solidFill>
                <a:latin typeface="Calibri (MS) Bold" panose="020F0702030404030204"/>
                <a:ea typeface="Calibri (MS) Bold" panose="020F0702030404030204"/>
                <a:cs typeface="Calibri (MS) Bold" panose="020F0702030404030204"/>
                <a:sym typeface="Calibri (MS) Bold" panose="020F0702030404030204"/>
              </a:endParaRPr>
            </a:p>
          </p:txBody>
        </p:sp>
      </p:grpSp>
      <p:grpSp>
        <p:nvGrpSpPr>
          <p:cNvPr id="41" name="Group 41"/>
          <p:cNvGrpSpPr/>
          <p:nvPr/>
        </p:nvGrpSpPr>
        <p:grpSpPr>
          <a:xfrm rot="0">
            <a:off x="12362688" y="4864608"/>
            <a:ext cx="4754880" cy="1188720"/>
            <a:chOff x="0" y="0"/>
            <a:chExt cx="6339840" cy="1584960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6339840" cy="1584960"/>
            </a:xfrm>
            <a:custGeom>
              <a:avLst/>
              <a:gdLst/>
              <a:ahLst/>
              <a:cxnLst/>
              <a:rect l="l" t="t" r="r" b="b"/>
              <a:pathLst>
                <a:path w="6339840" h="1584960">
                  <a:moveTo>
                    <a:pt x="0" y="0"/>
                  </a:moveTo>
                  <a:lnTo>
                    <a:pt x="6339840" y="0"/>
                  </a:lnTo>
                  <a:lnTo>
                    <a:pt x="633984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1">
                <a:alphaModFix amt="0"/>
              </a:blip>
              <a:stretch>
                <a:fillRect t="-27940" b="-27940"/>
              </a:stretch>
            </a:blipFill>
          </p:spPr>
        </p:sp>
        <p:sp>
          <p:nvSpPr>
            <p:cNvPr id="43" name="TextBox 43"/>
            <p:cNvSpPr txBox="1"/>
            <p:nvPr/>
          </p:nvSpPr>
          <p:spPr>
            <a:xfrm>
              <a:off x="0" y="-38100"/>
              <a:ext cx="6339840" cy="16230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94A3B8"/>
                  </a:solidFill>
                  <a:latin typeface="Calibri (MS)" panose="020F0502020204030204"/>
                  <a:ea typeface="Calibri (MS)" panose="020F0502020204030204"/>
                  <a:cs typeface="Calibri (MS)" panose="020F0502020204030204"/>
                  <a:sym typeface="Calibri (MS)" panose="020F0502020204030204"/>
                </a:rPr>
                <a:t>BLE connection to WitMotion WT9011 IMU sensors</a:t>
              </a:r>
              <a:endParaRPr lang="en-US" sz="1900">
                <a:solidFill>
                  <a:srgbClr val="94A3B8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endParaRPr>
            </a:p>
          </p:txBody>
        </p:sp>
      </p:grpSp>
      <p:grpSp>
        <p:nvGrpSpPr>
          <p:cNvPr id="44" name="Group 44"/>
          <p:cNvGrpSpPr/>
          <p:nvPr/>
        </p:nvGrpSpPr>
        <p:grpSpPr>
          <a:xfrm rot="0">
            <a:off x="810263" y="6534407"/>
            <a:ext cx="5328923" cy="2311403"/>
            <a:chOff x="0" y="0"/>
            <a:chExt cx="7105231" cy="3081871"/>
          </a:xfrm>
        </p:grpSpPr>
        <p:sp>
          <p:nvSpPr>
            <p:cNvPr id="45" name="Freeform 45"/>
            <p:cNvSpPr/>
            <p:nvPr/>
          </p:nvSpPr>
          <p:spPr>
            <a:xfrm>
              <a:off x="16891" y="16891"/>
              <a:ext cx="7071360" cy="3048000"/>
            </a:xfrm>
            <a:custGeom>
              <a:avLst/>
              <a:gdLst/>
              <a:ahLst/>
              <a:cxnLst/>
              <a:rect l="l" t="t" r="r" b="b"/>
              <a:pathLst>
                <a:path w="7071360" h="3048000">
                  <a:moveTo>
                    <a:pt x="0" y="0"/>
                  </a:moveTo>
                  <a:lnTo>
                    <a:pt x="7071360" y="0"/>
                  </a:lnTo>
                  <a:lnTo>
                    <a:pt x="7071360" y="3048000"/>
                  </a:lnTo>
                  <a:lnTo>
                    <a:pt x="0" y="3048000"/>
                  </a:lnTo>
                  <a:close/>
                </a:path>
              </a:pathLst>
            </a:custGeom>
            <a:solidFill>
              <a:srgbClr val="141C2E"/>
            </a:solidFill>
          </p:spPr>
        </p:sp>
        <p:sp>
          <p:nvSpPr>
            <p:cNvPr id="46" name="Freeform 46"/>
            <p:cNvSpPr/>
            <p:nvPr/>
          </p:nvSpPr>
          <p:spPr>
            <a:xfrm>
              <a:off x="0" y="0"/>
              <a:ext cx="7105142" cy="3081782"/>
            </a:xfrm>
            <a:custGeom>
              <a:avLst/>
              <a:gdLst/>
              <a:ahLst/>
              <a:cxnLst/>
              <a:rect l="l" t="t" r="r" b="b"/>
              <a:pathLst>
                <a:path w="7105142" h="3081782">
                  <a:moveTo>
                    <a:pt x="16891" y="0"/>
                  </a:moveTo>
                  <a:lnTo>
                    <a:pt x="7088251" y="0"/>
                  </a:lnTo>
                  <a:cubicBezTo>
                    <a:pt x="7097649" y="0"/>
                    <a:pt x="7105142" y="7620"/>
                    <a:pt x="7105142" y="16891"/>
                  </a:cubicBezTo>
                  <a:lnTo>
                    <a:pt x="7105142" y="3064891"/>
                  </a:lnTo>
                  <a:cubicBezTo>
                    <a:pt x="7105142" y="3074289"/>
                    <a:pt x="7097522" y="3081782"/>
                    <a:pt x="7088251" y="3081782"/>
                  </a:cubicBezTo>
                  <a:lnTo>
                    <a:pt x="16891" y="3081782"/>
                  </a:lnTo>
                  <a:cubicBezTo>
                    <a:pt x="7493" y="3081782"/>
                    <a:pt x="0" y="3074162"/>
                    <a:pt x="0" y="30648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064891"/>
                  </a:lnTo>
                  <a:lnTo>
                    <a:pt x="16891" y="3064891"/>
                  </a:lnTo>
                  <a:lnTo>
                    <a:pt x="16891" y="3048000"/>
                  </a:lnTo>
                  <a:lnTo>
                    <a:pt x="7088251" y="3048000"/>
                  </a:lnTo>
                  <a:lnTo>
                    <a:pt x="7088251" y="3064891"/>
                  </a:lnTo>
                  <a:lnTo>
                    <a:pt x="7071360" y="3064891"/>
                  </a:lnTo>
                  <a:lnTo>
                    <a:pt x="7071360" y="16891"/>
                  </a:lnTo>
                  <a:lnTo>
                    <a:pt x="7088251" y="16891"/>
                  </a:lnTo>
                  <a:lnTo>
                    <a:pt x="70882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E2D45"/>
            </a:solidFill>
          </p:spPr>
        </p:sp>
      </p:grpSp>
      <p:grpSp>
        <p:nvGrpSpPr>
          <p:cNvPr id="47" name="Group 47"/>
          <p:cNvGrpSpPr/>
          <p:nvPr/>
        </p:nvGrpSpPr>
        <p:grpSpPr>
          <a:xfrm rot="0">
            <a:off x="1097280" y="6784848"/>
            <a:ext cx="4754880" cy="640080"/>
            <a:chOff x="0" y="0"/>
            <a:chExt cx="6339840" cy="853440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6339840" cy="853440"/>
            </a:xfrm>
            <a:custGeom>
              <a:avLst/>
              <a:gdLst/>
              <a:ahLst/>
              <a:cxnLst/>
              <a:rect l="l" t="t" r="r" b="b"/>
              <a:pathLst>
                <a:path w="6339840" h="853440">
                  <a:moveTo>
                    <a:pt x="0" y="0"/>
                  </a:moveTo>
                  <a:lnTo>
                    <a:pt x="6339840" y="0"/>
                  </a:lnTo>
                  <a:lnTo>
                    <a:pt x="633984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1">
                <a:alphaModFix amt="0"/>
              </a:blip>
              <a:stretch>
                <a:fillRect t="-94745" b="-94745"/>
              </a:stretch>
            </a:blipFill>
          </p:spPr>
        </p:sp>
        <p:sp>
          <p:nvSpPr>
            <p:cNvPr id="49" name="TextBox 49"/>
            <p:cNvSpPr txBox="1"/>
            <p:nvPr/>
          </p:nvSpPr>
          <p:spPr>
            <a:xfrm>
              <a:off x="0" y="-47625"/>
              <a:ext cx="6339840" cy="9010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40"/>
                </a:lnSpc>
              </a:pPr>
              <a:r>
                <a:rPr lang="en-US" sz="2200" b="1">
                  <a:solidFill>
                    <a:srgbClr val="E2E8F0"/>
                  </a:solidFill>
                  <a:latin typeface="Calibri (MS) Bold" panose="020F0702030404030204"/>
                  <a:ea typeface="Calibri (MS) Bold" panose="020F0702030404030204"/>
                  <a:cs typeface="Calibri (MS) Bold" panose="020F0702030404030204"/>
                  <a:sym typeface="Calibri (MS) Bold" panose="020F0702030404030204"/>
                </a:rPr>
                <a:t>📊  Real-Time Feedback</a:t>
              </a:r>
              <a:endParaRPr lang="en-US" sz="2200" b="1">
                <a:solidFill>
                  <a:srgbClr val="E2E8F0"/>
                </a:solidFill>
                <a:latin typeface="Calibri (MS) Bold" panose="020F0702030404030204"/>
                <a:ea typeface="Calibri (MS) Bold" panose="020F0702030404030204"/>
                <a:cs typeface="Calibri (MS) Bold" panose="020F0702030404030204"/>
                <a:sym typeface="Calibri (MS) Bold" panose="020F0702030404030204"/>
              </a:endParaRPr>
            </a:p>
          </p:txBody>
        </p:sp>
      </p:grpSp>
      <p:grpSp>
        <p:nvGrpSpPr>
          <p:cNvPr id="50" name="Group 50"/>
          <p:cNvGrpSpPr/>
          <p:nvPr/>
        </p:nvGrpSpPr>
        <p:grpSpPr>
          <a:xfrm rot="0">
            <a:off x="1097280" y="7424928"/>
            <a:ext cx="4754880" cy="1188720"/>
            <a:chOff x="0" y="0"/>
            <a:chExt cx="6339840" cy="1584960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6339840" cy="1584960"/>
            </a:xfrm>
            <a:custGeom>
              <a:avLst/>
              <a:gdLst/>
              <a:ahLst/>
              <a:cxnLst/>
              <a:rect l="l" t="t" r="r" b="b"/>
              <a:pathLst>
                <a:path w="6339840" h="1584960">
                  <a:moveTo>
                    <a:pt x="0" y="0"/>
                  </a:moveTo>
                  <a:lnTo>
                    <a:pt x="6339840" y="0"/>
                  </a:lnTo>
                  <a:lnTo>
                    <a:pt x="633984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1">
                <a:alphaModFix amt="0"/>
              </a:blip>
              <a:stretch>
                <a:fillRect t="-27940" b="-27940"/>
              </a:stretch>
            </a:blipFill>
          </p:spPr>
        </p:sp>
        <p:sp>
          <p:nvSpPr>
            <p:cNvPr id="52" name="TextBox 52"/>
            <p:cNvSpPr txBox="1"/>
            <p:nvPr/>
          </p:nvSpPr>
          <p:spPr>
            <a:xfrm>
              <a:off x="0" y="-38100"/>
              <a:ext cx="6339840" cy="16230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94A3B8"/>
                  </a:solidFill>
                  <a:latin typeface="Calibri (MS)" panose="020F0502020204030204"/>
                  <a:ea typeface="Calibri (MS)" panose="020F0502020204030204"/>
                  <a:cs typeface="Calibri (MS)" panose="020F0502020204030204"/>
                  <a:sym typeface="Calibri (MS)" panose="020F0502020204030204"/>
                </a:rPr>
                <a:t>Live joint angle display, posture alerts, haptics</a:t>
              </a:r>
              <a:endParaRPr lang="en-US" sz="1900">
                <a:solidFill>
                  <a:srgbClr val="94A3B8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endParaRPr>
            </a:p>
          </p:txBody>
        </p:sp>
      </p:grpSp>
      <p:grpSp>
        <p:nvGrpSpPr>
          <p:cNvPr id="53" name="Group 53"/>
          <p:cNvGrpSpPr/>
          <p:nvPr/>
        </p:nvGrpSpPr>
        <p:grpSpPr>
          <a:xfrm rot="0">
            <a:off x="6442967" y="6534407"/>
            <a:ext cx="5328923" cy="2311403"/>
            <a:chOff x="0" y="0"/>
            <a:chExt cx="7105231" cy="3081871"/>
          </a:xfrm>
        </p:grpSpPr>
        <p:sp>
          <p:nvSpPr>
            <p:cNvPr id="54" name="Freeform 54"/>
            <p:cNvSpPr/>
            <p:nvPr/>
          </p:nvSpPr>
          <p:spPr>
            <a:xfrm>
              <a:off x="16891" y="16891"/>
              <a:ext cx="7071360" cy="3048000"/>
            </a:xfrm>
            <a:custGeom>
              <a:avLst/>
              <a:gdLst/>
              <a:ahLst/>
              <a:cxnLst/>
              <a:rect l="l" t="t" r="r" b="b"/>
              <a:pathLst>
                <a:path w="7071360" h="3048000">
                  <a:moveTo>
                    <a:pt x="0" y="0"/>
                  </a:moveTo>
                  <a:lnTo>
                    <a:pt x="7071360" y="0"/>
                  </a:lnTo>
                  <a:lnTo>
                    <a:pt x="7071360" y="3048000"/>
                  </a:lnTo>
                  <a:lnTo>
                    <a:pt x="0" y="3048000"/>
                  </a:lnTo>
                  <a:close/>
                </a:path>
              </a:pathLst>
            </a:custGeom>
            <a:solidFill>
              <a:srgbClr val="141C2E"/>
            </a:solidFill>
          </p:spPr>
        </p:sp>
        <p:sp>
          <p:nvSpPr>
            <p:cNvPr id="55" name="Freeform 55"/>
            <p:cNvSpPr/>
            <p:nvPr/>
          </p:nvSpPr>
          <p:spPr>
            <a:xfrm>
              <a:off x="0" y="0"/>
              <a:ext cx="7105142" cy="3081782"/>
            </a:xfrm>
            <a:custGeom>
              <a:avLst/>
              <a:gdLst/>
              <a:ahLst/>
              <a:cxnLst/>
              <a:rect l="l" t="t" r="r" b="b"/>
              <a:pathLst>
                <a:path w="7105142" h="3081782">
                  <a:moveTo>
                    <a:pt x="16891" y="0"/>
                  </a:moveTo>
                  <a:lnTo>
                    <a:pt x="7088251" y="0"/>
                  </a:lnTo>
                  <a:cubicBezTo>
                    <a:pt x="7097649" y="0"/>
                    <a:pt x="7105142" y="7620"/>
                    <a:pt x="7105142" y="16891"/>
                  </a:cubicBezTo>
                  <a:lnTo>
                    <a:pt x="7105142" y="3064891"/>
                  </a:lnTo>
                  <a:cubicBezTo>
                    <a:pt x="7105142" y="3074289"/>
                    <a:pt x="7097522" y="3081782"/>
                    <a:pt x="7088251" y="3081782"/>
                  </a:cubicBezTo>
                  <a:lnTo>
                    <a:pt x="16891" y="3081782"/>
                  </a:lnTo>
                  <a:cubicBezTo>
                    <a:pt x="7493" y="3081782"/>
                    <a:pt x="0" y="3074162"/>
                    <a:pt x="0" y="30648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064891"/>
                  </a:lnTo>
                  <a:lnTo>
                    <a:pt x="16891" y="3064891"/>
                  </a:lnTo>
                  <a:lnTo>
                    <a:pt x="16891" y="3048000"/>
                  </a:lnTo>
                  <a:lnTo>
                    <a:pt x="7088251" y="3048000"/>
                  </a:lnTo>
                  <a:lnTo>
                    <a:pt x="7088251" y="3064891"/>
                  </a:lnTo>
                  <a:lnTo>
                    <a:pt x="7071360" y="3064891"/>
                  </a:lnTo>
                  <a:lnTo>
                    <a:pt x="7071360" y="16891"/>
                  </a:lnTo>
                  <a:lnTo>
                    <a:pt x="7088251" y="16891"/>
                  </a:lnTo>
                  <a:lnTo>
                    <a:pt x="70882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E2D45"/>
            </a:solidFill>
          </p:spPr>
        </p:sp>
      </p:grpSp>
      <p:grpSp>
        <p:nvGrpSpPr>
          <p:cNvPr id="56" name="Group 56"/>
          <p:cNvGrpSpPr/>
          <p:nvPr/>
        </p:nvGrpSpPr>
        <p:grpSpPr>
          <a:xfrm rot="0">
            <a:off x="6729984" y="6784848"/>
            <a:ext cx="4754880" cy="640080"/>
            <a:chOff x="0" y="0"/>
            <a:chExt cx="6339840" cy="853440"/>
          </a:xfrm>
        </p:grpSpPr>
        <p:sp>
          <p:nvSpPr>
            <p:cNvPr id="57" name="Freeform 57"/>
            <p:cNvSpPr/>
            <p:nvPr/>
          </p:nvSpPr>
          <p:spPr>
            <a:xfrm>
              <a:off x="0" y="0"/>
              <a:ext cx="6339840" cy="853440"/>
            </a:xfrm>
            <a:custGeom>
              <a:avLst/>
              <a:gdLst/>
              <a:ahLst/>
              <a:cxnLst/>
              <a:rect l="l" t="t" r="r" b="b"/>
              <a:pathLst>
                <a:path w="6339840" h="853440">
                  <a:moveTo>
                    <a:pt x="0" y="0"/>
                  </a:moveTo>
                  <a:lnTo>
                    <a:pt x="6339840" y="0"/>
                  </a:lnTo>
                  <a:lnTo>
                    <a:pt x="633984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1">
                <a:alphaModFix amt="0"/>
              </a:blip>
              <a:stretch>
                <a:fillRect t="-94745" b="-94745"/>
              </a:stretch>
            </a:blipFill>
          </p:spPr>
        </p:sp>
        <p:sp>
          <p:nvSpPr>
            <p:cNvPr id="58" name="TextBox 58"/>
            <p:cNvSpPr txBox="1"/>
            <p:nvPr/>
          </p:nvSpPr>
          <p:spPr>
            <a:xfrm>
              <a:off x="0" y="-47625"/>
              <a:ext cx="6339840" cy="9010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40"/>
                </a:lnSpc>
              </a:pPr>
              <a:r>
                <a:rPr lang="en-US" sz="2200" b="1">
                  <a:solidFill>
                    <a:srgbClr val="E2E8F0"/>
                  </a:solidFill>
                  <a:latin typeface="Calibri (MS) Bold" panose="020F0702030404030204"/>
                  <a:ea typeface="Calibri (MS) Bold" panose="020F0702030404030204"/>
                  <a:cs typeface="Calibri (MS) Bold" panose="020F0702030404030204"/>
                  <a:sym typeface="Calibri (MS) Bold" panose="020F0702030404030204"/>
                </a:rPr>
                <a:t>🏥  Clinical Information</a:t>
              </a:r>
              <a:endParaRPr lang="en-US" sz="2200" b="1">
                <a:solidFill>
                  <a:srgbClr val="E2E8F0"/>
                </a:solidFill>
                <a:latin typeface="Calibri (MS) Bold" panose="020F0702030404030204"/>
                <a:ea typeface="Calibri (MS) Bold" panose="020F0702030404030204"/>
                <a:cs typeface="Calibri (MS) Bold" panose="020F0702030404030204"/>
                <a:sym typeface="Calibri (MS) Bold" panose="020F0702030404030204"/>
              </a:endParaRPr>
            </a:p>
          </p:txBody>
        </p:sp>
      </p:grpSp>
      <p:grpSp>
        <p:nvGrpSpPr>
          <p:cNvPr id="59" name="Group 59"/>
          <p:cNvGrpSpPr/>
          <p:nvPr/>
        </p:nvGrpSpPr>
        <p:grpSpPr>
          <a:xfrm rot="0">
            <a:off x="6729984" y="7424928"/>
            <a:ext cx="4754880" cy="1188720"/>
            <a:chOff x="0" y="0"/>
            <a:chExt cx="6339840" cy="1584960"/>
          </a:xfrm>
        </p:grpSpPr>
        <p:sp>
          <p:nvSpPr>
            <p:cNvPr id="60" name="Freeform 60"/>
            <p:cNvSpPr/>
            <p:nvPr/>
          </p:nvSpPr>
          <p:spPr>
            <a:xfrm>
              <a:off x="0" y="0"/>
              <a:ext cx="6339840" cy="1584960"/>
            </a:xfrm>
            <a:custGeom>
              <a:avLst/>
              <a:gdLst/>
              <a:ahLst/>
              <a:cxnLst/>
              <a:rect l="l" t="t" r="r" b="b"/>
              <a:pathLst>
                <a:path w="6339840" h="1584960">
                  <a:moveTo>
                    <a:pt x="0" y="0"/>
                  </a:moveTo>
                  <a:lnTo>
                    <a:pt x="6339840" y="0"/>
                  </a:lnTo>
                  <a:lnTo>
                    <a:pt x="633984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1">
                <a:alphaModFix amt="0"/>
              </a:blip>
              <a:stretch>
                <a:fillRect t="-27940" b="-27940"/>
              </a:stretch>
            </a:blipFill>
          </p:spPr>
        </p:sp>
        <p:sp>
          <p:nvSpPr>
            <p:cNvPr id="61" name="TextBox 61"/>
            <p:cNvSpPr txBox="1"/>
            <p:nvPr/>
          </p:nvSpPr>
          <p:spPr>
            <a:xfrm>
              <a:off x="0" y="-38100"/>
              <a:ext cx="6339840" cy="16230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94A3B8"/>
                  </a:solidFill>
                  <a:latin typeface="Calibri (MS)" panose="020F0502020204030204"/>
                  <a:ea typeface="Calibri (MS)" panose="020F0502020204030204"/>
                  <a:cs typeface="Calibri (MS)" panose="020F0502020204030204"/>
                  <a:sym typeface="Calibri (MS)" panose="020F0502020204030204"/>
                </a:rPr>
                <a:t>Pain tracking, schedule, AI evaluation display</a:t>
              </a:r>
              <a:endParaRPr lang="en-US" sz="1900">
                <a:solidFill>
                  <a:srgbClr val="94A3B8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endParaRPr>
            </a:p>
          </p:txBody>
        </p:sp>
      </p:grpSp>
      <p:grpSp>
        <p:nvGrpSpPr>
          <p:cNvPr id="62" name="Group 62"/>
          <p:cNvGrpSpPr/>
          <p:nvPr/>
        </p:nvGrpSpPr>
        <p:grpSpPr>
          <a:xfrm rot="0">
            <a:off x="12075671" y="6534407"/>
            <a:ext cx="5328923" cy="2311403"/>
            <a:chOff x="0" y="0"/>
            <a:chExt cx="7105231" cy="3081871"/>
          </a:xfrm>
        </p:grpSpPr>
        <p:sp>
          <p:nvSpPr>
            <p:cNvPr id="63" name="Freeform 63"/>
            <p:cNvSpPr/>
            <p:nvPr/>
          </p:nvSpPr>
          <p:spPr>
            <a:xfrm>
              <a:off x="16891" y="16891"/>
              <a:ext cx="7071360" cy="3048000"/>
            </a:xfrm>
            <a:custGeom>
              <a:avLst/>
              <a:gdLst/>
              <a:ahLst/>
              <a:cxnLst/>
              <a:rect l="l" t="t" r="r" b="b"/>
              <a:pathLst>
                <a:path w="7071360" h="3048000">
                  <a:moveTo>
                    <a:pt x="0" y="0"/>
                  </a:moveTo>
                  <a:lnTo>
                    <a:pt x="7071360" y="0"/>
                  </a:lnTo>
                  <a:lnTo>
                    <a:pt x="7071360" y="3048000"/>
                  </a:lnTo>
                  <a:lnTo>
                    <a:pt x="0" y="3048000"/>
                  </a:lnTo>
                  <a:close/>
                </a:path>
              </a:pathLst>
            </a:custGeom>
            <a:solidFill>
              <a:srgbClr val="141C2E"/>
            </a:solidFill>
          </p:spPr>
        </p:sp>
        <p:sp>
          <p:nvSpPr>
            <p:cNvPr id="64" name="Freeform 64"/>
            <p:cNvSpPr/>
            <p:nvPr/>
          </p:nvSpPr>
          <p:spPr>
            <a:xfrm>
              <a:off x="0" y="0"/>
              <a:ext cx="7105142" cy="3081782"/>
            </a:xfrm>
            <a:custGeom>
              <a:avLst/>
              <a:gdLst/>
              <a:ahLst/>
              <a:cxnLst/>
              <a:rect l="l" t="t" r="r" b="b"/>
              <a:pathLst>
                <a:path w="7105142" h="3081782">
                  <a:moveTo>
                    <a:pt x="16891" y="0"/>
                  </a:moveTo>
                  <a:lnTo>
                    <a:pt x="7088251" y="0"/>
                  </a:lnTo>
                  <a:cubicBezTo>
                    <a:pt x="7097649" y="0"/>
                    <a:pt x="7105142" y="7620"/>
                    <a:pt x="7105142" y="16891"/>
                  </a:cubicBezTo>
                  <a:lnTo>
                    <a:pt x="7105142" y="3064891"/>
                  </a:lnTo>
                  <a:cubicBezTo>
                    <a:pt x="7105142" y="3074289"/>
                    <a:pt x="7097522" y="3081782"/>
                    <a:pt x="7088251" y="3081782"/>
                  </a:cubicBezTo>
                  <a:lnTo>
                    <a:pt x="16891" y="3081782"/>
                  </a:lnTo>
                  <a:cubicBezTo>
                    <a:pt x="7493" y="3081782"/>
                    <a:pt x="0" y="3074162"/>
                    <a:pt x="0" y="30648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064891"/>
                  </a:lnTo>
                  <a:lnTo>
                    <a:pt x="16891" y="3064891"/>
                  </a:lnTo>
                  <a:lnTo>
                    <a:pt x="16891" y="3048000"/>
                  </a:lnTo>
                  <a:lnTo>
                    <a:pt x="7088251" y="3048000"/>
                  </a:lnTo>
                  <a:lnTo>
                    <a:pt x="7088251" y="3064891"/>
                  </a:lnTo>
                  <a:lnTo>
                    <a:pt x="7071360" y="3064891"/>
                  </a:lnTo>
                  <a:lnTo>
                    <a:pt x="7071360" y="16891"/>
                  </a:lnTo>
                  <a:lnTo>
                    <a:pt x="7088251" y="16891"/>
                  </a:lnTo>
                  <a:lnTo>
                    <a:pt x="70882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E2D45"/>
            </a:solidFill>
          </p:spPr>
        </p:sp>
      </p:grpSp>
      <p:grpSp>
        <p:nvGrpSpPr>
          <p:cNvPr id="65" name="Group 65"/>
          <p:cNvGrpSpPr/>
          <p:nvPr/>
        </p:nvGrpSpPr>
        <p:grpSpPr>
          <a:xfrm rot="0">
            <a:off x="12362688" y="6784848"/>
            <a:ext cx="4754880" cy="640080"/>
            <a:chOff x="0" y="0"/>
            <a:chExt cx="6339840" cy="853440"/>
          </a:xfrm>
        </p:grpSpPr>
        <p:sp>
          <p:nvSpPr>
            <p:cNvPr id="66" name="Freeform 66"/>
            <p:cNvSpPr/>
            <p:nvPr/>
          </p:nvSpPr>
          <p:spPr>
            <a:xfrm>
              <a:off x="0" y="0"/>
              <a:ext cx="6339840" cy="853440"/>
            </a:xfrm>
            <a:custGeom>
              <a:avLst/>
              <a:gdLst/>
              <a:ahLst/>
              <a:cxnLst/>
              <a:rect l="l" t="t" r="r" b="b"/>
              <a:pathLst>
                <a:path w="6339840" h="853440">
                  <a:moveTo>
                    <a:pt x="0" y="0"/>
                  </a:moveTo>
                  <a:lnTo>
                    <a:pt x="6339840" y="0"/>
                  </a:lnTo>
                  <a:lnTo>
                    <a:pt x="633984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1">
                <a:alphaModFix amt="0"/>
              </a:blip>
              <a:stretch>
                <a:fillRect t="-94745" b="-94745"/>
              </a:stretch>
            </a:blipFill>
          </p:spPr>
        </p:sp>
        <p:sp>
          <p:nvSpPr>
            <p:cNvPr id="67" name="TextBox 67"/>
            <p:cNvSpPr txBox="1"/>
            <p:nvPr/>
          </p:nvSpPr>
          <p:spPr>
            <a:xfrm>
              <a:off x="0" y="-47625"/>
              <a:ext cx="6339840" cy="9010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40"/>
                </a:lnSpc>
              </a:pPr>
              <a:r>
                <a:rPr lang="en-US" sz="2200" b="1">
                  <a:solidFill>
                    <a:srgbClr val="E2E8F0"/>
                  </a:solidFill>
                  <a:latin typeface="Calibri (MS) Bold" panose="020F0702030404030204"/>
                  <a:ea typeface="Calibri (MS) Bold" panose="020F0702030404030204"/>
                  <a:cs typeface="Calibri (MS) Bold" panose="020F0702030404030204"/>
                  <a:sym typeface="Calibri (MS) Bold" panose="020F0702030404030204"/>
                </a:rPr>
                <a:t>🔗  Backend Sync (V2)</a:t>
              </a:r>
              <a:endParaRPr lang="en-US" sz="2200" b="1">
                <a:solidFill>
                  <a:srgbClr val="E2E8F0"/>
                </a:solidFill>
                <a:latin typeface="Calibri (MS) Bold" panose="020F0702030404030204"/>
                <a:ea typeface="Calibri (MS) Bold" panose="020F0702030404030204"/>
                <a:cs typeface="Calibri (MS) Bold" panose="020F0702030404030204"/>
                <a:sym typeface="Calibri (MS) Bold" panose="020F0702030404030204"/>
              </a:endParaRPr>
            </a:p>
          </p:txBody>
        </p:sp>
      </p:grpSp>
      <p:grpSp>
        <p:nvGrpSpPr>
          <p:cNvPr id="68" name="Group 68"/>
          <p:cNvGrpSpPr/>
          <p:nvPr/>
        </p:nvGrpSpPr>
        <p:grpSpPr>
          <a:xfrm rot="0">
            <a:off x="12362688" y="7424928"/>
            <a:ext cx="4754880" cy="1188720"/>
            <a:chOff x="0" y="0"/>
            <a:chExt cx="6339840" cy="1584960"/>
          </a:xfrm>
        </p:grpSpPr>
        <p:sp>
          <p:nvSpPr>
            <p:cNvPr id="69" name="Freeform 69"/>
            <p:cNvSpPr/>
            <p:nvPr/>
          </p:nvSpPr>
          <p:spPr>
            <a:xfrm>
              <a:off x="0" y="0"/>
              <a:ext cx="6339840" cy="1584960"/>
            </a:xfrm>
            <a:custGeom>
              <a:avLst/>
              <a:gdLst/>
              <a:ahLst/>
              <a:cxnLst/>
              <a:rect l="l" t="t" r="r" b="b"/>
              <a:pathLst>
                <a:path w="6339840" h="1584960">
                  <a:moveTo>
                    <a:pt x="0" y="0"/>
                  </a:moveTo>
                  <a:lnTo>
                    <a:pt x="6339840" y="0"/>
                  </a:lnTo>
                  <a:lnTo>
                    <a:pt x="633984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1">
                <a:alphaModFix amt="0"/>
              </a:blip>
              <a:stretch>
                <a:fillRect t="-27940" b="-27940"/>
              </a:stretch>
            </a:blipFill>
          </p:spPr>
        </p:sp>
        <p:sp>
          <p:nvSpPr>
            <p:cNvPr id="70" name="TextBox 70"/>
            <p:cNvSpPr txBox="1"/>
            <p:nvPr/>
          </p:nvSpPr>
          <p:spPr>
            <a:xfrm>
              <a:off x="0" y="-38100"/>
              <a:ext cx="6339840" cy="16230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94A3B8"/>
                  </a:solidFill>
                  <a:latin typeface="Calibri (MS)" panose="020F0502020204030204"/>
                  <a:ea typeface="Calibri (MS)" panose="020F0502020204030204"/>
                  <a:cs typeface="Calibri (MS)" panose="020F0502020204030204"/>
                  <a:sym typeface="Calibri (MS)" panose="020F0502020204030204"/>
                </a:rPr>
                <a:t>Data sync via IF2 interface with V2 Backend API</a:t>
              </a:r>
              <a:endParaRPr lang="en-US" sz="1900">
                <a:solidFill>
                  <a:srgbClr val="94A3B8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822960" y="402336"/>
            <a:ext cx="16642080" cy="402336"/>
            <a:chOff x="0" y="0"/>
            <a:chExt cx="22189440" cy="53644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2189439" cy="536448"/>
            </a:xfrm>
            <a:custGeom>
              <a:avLst/>
              <a:gdLst/>
              <a:ahLst/>
              <a:cxnLst/>
              <a:rect l="l" t="t" r="r" b="b"/>
              <a:pathLst>
                <a:path w="22189439" h="536448">
                  <a:moveTo>
                    <a:pt x="0" y="0"/>
                  </a:moveTo>
                  <a:lnTo>
                    <a:pt x="22189439" y="0"/>
                  </a:lnTo>
                  <a:lnTo>
                    <a:pt x="22189439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1">
                <a:alphaModFix amt="0"/>
              </a:blip>
              <a:stretch>
                <a:fillRect t="-755972" b="-755972"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2189440" cy="57454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800"/>
                </a:lnSpc>
              </a:pPr>
              <a:r>
                <a:rPr lang="en-US" sz="1500" b="1" spc="600">
                  <a:solidFill>
                    <a:srgbClr val="34D399"/>
                  </a:solidFill>
                  <a:latin typeface="Calibri (MS) Bold" panose="020F0702030404030204"/>
                  <a:ea typeface="Calibri (MS) Bold" panose="020F0702030404030204"/>
                  <a:cs typeface="Calibri (MS) Bold" panose="020F0702030404030204"/>
                  <a:sym typeface="Calibri (MS) Bold" panose="020F0702030404030204"/>
                </a:rPr>
                <a:t>TEAM STRUCTURE</a:t>
              </a:r>
              <a:endParaRPr lang="en-US" sz="1500" b="1" spc="600">
                <a:solidFill>
                  <a:srgbClr val="34D399"/>
                </a:solidFill>
                <a:latin typeface="Calibri (MS) Bold" panose="020F0702030404030204"/>
                <a:ea typeface="Calibri (MS) Bold" panose="020F0702030404030204"/>
                <a:cs typeface="Calibri (MS) Bold" panose="020F0702030404030204"/>
                <a:sym typeface="Calibri (MS) Bold" panose="020F0702030404030204"/>
              </a:endParaRPr>
            </a:p>
          </p:txBody>
        </p:sp>
      </p:grpSp>
      <p:grpSp>
        <p:nvGrpSpPr>
          <p:cNvPr id="5" name="Group 5"/>
          <p:cNvGrpSpPr/>
          <p:nvPr/>
        </p:nvGrpSpPr>
        <p:grpSpPr>
          <a:xfrm rot="0">
            <a:off x="822960" y="804672"/>
            <a:ext cx="16642080" cy="1005840"/>
            <a:chOff x="0" y="0"/>
            <a:chExt cx="22189440" cy="134112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2189439" cy="1341120"/>
            </a:xfrm>
            <a:custGeom>
              <a:avLst/>
              <a:gdLst/>
              <a:ahLst/>
              <a:cxnLst/>
              <a:rect l="l" t="t" r="r" b="b"/>
              <a:pathLst>
                <a:path w="22189439" h="1341120">
                  <a:moveTo>
                    <a:pt x="0" y="0"/>
                  </a:moveTo>
                  <a:lnTo>
                    <a:pt x="22189439" y="0"/>
                  </a:lnTo>
                  <a:lnTo>
                    <a:pt x="22189439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1">
                <a:alphaModFix amt="0"/>
              </a:blip>
              <a:stretch>
                <a:fillRect t="-272388" b="-272388"/>
              </a:stretch>
            </a:blipFill>
          </p:spPr>
        </p:sp>
        <p:sp>
          <p:nvSpPr>
            <p:cNvPr id="7" name="TextBox 7"/>
            <p:cNvSpPr txBox="1"/>
            <p:nvPr/>
          </p:nvSpPr>
          <p:spPr>
            <a:xfrm>
              <a:off x="0" y="-85725"/>
              <a:ext cx="22189440" cy="14268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760"/>
                </a:lnSpc>
              </a:pPr>
              <a:r>
                <a:rPr lang="en-US" sz="4800" b="1">
                  <a:solidFill>
                    <a:srgbClr val="E2E8F0"/>
                  </a:solidFill>
                  <a:latin typeface="Calibri (MS) Bold" panose="020F0702030404030204"/>
                  <a:ea typeface="Calibri (MS) Bold" panose="020F0702030404030204"/>
                  <a:cs typeface="Calibri (MS) Bold" panose="020F0702030404030204"/>
                  <a:sym typeface="Calibri (MS) Bold" panose="020F0702030404030204"/>
                </a:rPr>
                <a:t>How We Organised the Work</a:t>
              </a:r>
              <a:endParaRPr lang="en-US" sz="4800" b="1">
                <a:solidFill>
                  <a:srgbClr val="E2E8F0"/>
                </a:solidFill>
                <a:latin typeface="Calibri (MS) Bold" panose="020F0702030404030204"/>
                <a:ea typeface="Calibri (MS) Bold" panose="020F0702030404030204"/>
                <a:cs typeface="Calibri (MS) Bold" panose="020F0702030404030204"/>
                <a:sym typeface="Calibri (MS) Bold" panose="020F0702030404030204"/>
              </a:endParaRPr>
            </a:p>
          </p:txBody>
        </p:sp>
      </p:grpSp>
      <p:grpSp>
        <p:nvGrpSpPr>
          <p:cNvPr id="8" name="Group 8"/>
          <p:cNvGrpSpPr/>
          <p:nvPr/>
        </p:nvGrpSpPr>
        <p:grpSpPr>
          <a:xfrm rot="0">
            <a:off x="810263" y="1834391"/>
            <a:ext cx="16667483" cy="71123"/>
            <a:chOff x="0" y="0"/>
            <a:chExt cx="22223311" cy="94831"/>
          </a:xfrm>
        </p:grpSpPr>
        <p:sp>
          <p:nvSpPr>
            <p:cNvPr id="9" name="Freeform 9"/>
            <p:cNvSpPr/>
            <p:nvPr/>
          </p:nvSpPr>
          <p:spPr>
            <a:xfrm>
              <a:off x="16891" y="16891"/>
              <a:ext cx="22189439" cy="60960"/>
            </a:xfrm>
            <a:custGeom>
              <a:avLst/>
              <a:gdLst/>
              <a:ahLst/>
              <a:cxnLst/>
              <a:rect l="l" t="t" r="r" b="b"/>
              <a:pathLst>
                <a:path w="22189439" h="60960">
                  <a:moveTo>
                    <a:pt x="0" y="0"/>
                  </a:moveTo>
                  <a:lnTo>
                    <a:pt x="22189439" y="0"/>
                  </a:lnTo>
                  <a:lnTo>
                    <a:pt x="22189439" y="60960"/>
                  </a:lnTo>
                  <a:lnTo>
                    <a:pt x="0" y="60960"/>
                  </a:lnTo>
                  <a:close/>
                </a:path>
              </a:pathLst>
            </a:custGeom>
            <a:solidFill>
              <a:srgbClr val="1E2D45"/>
            </a:solidFill>
          </p:spPr>
        </p:sp>
        <p:sp>
          <p:nvSpPr>
            <p:cNvPr id="10" name="Freeform 10"/>
            <p:cNvSpPr/>
            <p:nvPr/>
          </p:nvSpPr>
          <p:spPr>
            <a:xfrm>
              <a:off x="0" y="0"/>
              <a:ext cx="22223222" cy="94744"/>
            </a:xfrm>
            <a:custGeom>
              <a:avLst/>
              <a:gdLst/>
              <a:ahLst/>
              <a:cxnLst/>
              <a:rect l="l" t="t" r="r" b="b"/>
              <a:pathLst>
                <a:path w="22223222" h="94744">
                  <a:moveTo>
                    <a:pt x="16891" y="0"/>
                  </a:moveTo>
                  <a:lnTo>
                    <a:pt x="22206330" y="0"/>
                  </a:lnTo>
                  <a:cubicBezTo>
                    <a:pt x="22215729" y="0"/>
                    <a:pt x="22223222" y="7620"/>
                    <a:pt x="22223222" y="16891"/>
                  </a:cubicBezTo>
                  <a:lnTo>
                    <a:pt x="22223222" y="77851"/>
                  </a:lnTo>
                  <a:cubicBezTo>
                    <a:pt x="22223222" y="87249"/>
                    <a:pt x="22215602" y="94742"/>
                    <a:pt x="22206330" y="94742"/>
                  </a:cubicBezTo>
                  <a:lnTo>
                    <a:pt x="16891" y="94742"/>
                  </a:lnTo>
                  <a:cubicBezTo>
                    <a:pt x="7620" y="94869"/>
                    <a:pt x="0" y="87249"/>
                    <a:pt x="0" y="778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77851"/>
                  </a:lnTo>
                  <a:lnTo>
                    <a:pt x="16891" y="77851"/>
                  </a:lnTo>
                  <a:lnTo>
                    <a:pt x="16891" y="60960"/>
                  </a:lnTo>
                  <a:lnTo>
                    <a:pt x="22206330" y="60960"/>
                  </a:lnTo>
                  <a:lnTo>
                    <a:pt x="22206330" y="77851"/>
                  </a:lnTo>
                  <a:lnTo>
                    <a:pt x="22189439" y="77851"/>
                  </a:lnTo>
                  <a:lnTo>
                    <a:pt x="22189439" y="16891"/>
                  </a:lnTo>
                  <a:lnTo>
                    <a:pt x="22206330" y="16891"/>
                  </a:lnTo>
                  <a:lnTo>
                    <a:pt x="2220633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E2D45"/>
            </a:solidFill>
          </p:spPr>
        </p:sp>
      </p:grpSp>
      <p:grpSp>
        <p:nvGrpSpPr>
          <p:cNvPr id="11" name="Group 11"/>
          <p:cNvGrpSpPr/>
          <p:nvPr/>
        </p:nvGrpSpPr>
        <p:grpSpPr>
          <a:xfrm rot="0">
            <a:off x="810263" y="2218439"/>
            <a:ext cx="8108699" cy="3408683"/>
            <a:chOff x="0" y="0"/>
            <a:chExt cx="10811599" cy="4544911"/>
          </a:xfrm>
        </p:grpSpPr>
        <p:sp>
          <p:nvSpPr>
            <p:cNvPr id="12" name="Freeform 12"/>
            <p:cNvSpPr/>
            <p:nvPr/>
          </p:nvSpPr>
          <p:spPr>
            <a:xfrm>
              <a:off x="16891" y="16891"/>
              <a:ext cx="10777728" cy="4511040"/>
            </a:xfrm>
            <a:custGeom>
              <a:avLst/>
              <a:gdLst/>
              <a:ahLst/>
              <a:cxnLst/>
              <a:rect l="l" t="t" r="r" b="b"/>
              <a:pathLst>
                <a:path w="10777728" h="4511040">
                  <a:moveTo>
                    <a:pt x="0" y="0"/>
                  </a:moveTo>
                  <a:lnTo>
                    <a:pt x="10777728" y="0"/>
                  </a:lnTo>
                  <a:lnTo>
                    <a:pt x="10777728" y="4511040"/>
                  </a:lnTo>
                  <a:lnTo>
                    <a:pt x="0" y="4511040"/>
                  </a:lnTo>
                  <a:close/>
                </a:path>
              </a:pathLst>
            </a:custGeom>
            <a:solidFill>
              <a:srgbClr val="141C2E"/>
            </a:solidFill>
          </p:spPr>
        </p:sp>
        <p:sp>
          <p:nvSpPr>
            <p:cNvPr id="13" name="Freeform 13"/>
            <p:cNvSpPr/>
            <p:nvPr/>
          </p:nvSpPr>
          <p:spPr>
            <a:xfrm>
              <a:off x="0" y="0"/>
              <a:ext cx="10811510" cy="4544822"/>
            </a:xfrm>
            <a:custGeom>
              <a:avLst/>
              <a:gdLst/>
              <a:ahLst/>
              <a:cxnLst/>
              <a:rect l="l" t="t" r="r" b="b"/>
              <a:pathLst>
                <a:path w="10811510" h="4544822">
                  <a:moveTo>
                    <a:pt x="16891" y="0"/>
                  </a:moveTo>
                  <a:lnTo>
                    <a:pt x="10794619" y="0"/>
                  </a:lnTo>
                  <a:cubicBezTo>
                    <a:pt x="10804017" y="0"/>
                    <a:pt x="10811510" y="7620"/>
                    <a:pt x="10811510" y="16891"/>
                  </a:cubicBezTo>
                  <a:lnTo>
                    <a:pt x="10811510" y="4527931"/>
                  </a:lnTo>
                  <a:cubicBezTo>
                    <a:pt x="10811510" y="4537329"/>
                    <a:pt x="10803889" y="4544822"/>
                    <a:pt x="10794619" y="4544822"/>
                  </a:cubicBezTo>
                  <a:lnTo>
                    <a:pt x="16891" y="4544822"/>
                  </a:lnTo>
                  <a:cubicBezTo>
                    <a:pt x="7493" y="4544822"/>
                    <a:pt x="0" y="4537202"/>
                    <a:pt x="0" y="45279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527931"/>
                  </a:lnTo>
                  <a:lnTo>
                    <a:pt x="16891" y="4527931"/>
                  </a:lnTo>
                  <a:lnTo>
                    <a:pt x="16891" y="4511040"/>
                  </a:lnTo>
                  <a:lnTo>
                    <a:pt x="10794619" y="4511040"/>
                  </a:lnTo>
                  <a:lnTo>
                    <a:pt x="10794619" y="4527931"/>
                  </a:lnTo>
                  <a:lnTo>
                    <a:pt x="10777727" y="4527931"/>
                  </a:lnTo>
                  <a:lnTo>
                    <a:pt x="10777727" y="16891"/>
                  </a:lnTo>
                  <a:lnTo>
                    <a:pt x="10794619" y="16891"/>
                  </a:lnTo>
                  <a:lnTo>
                    <a:pt x="1079461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E2D45"/>
            </a:solidFill>
          </p:spPr>
        </p:sp>
      </p:grpSp>
      <p:grpSp>
        <p:nvGrpSpPr>
          <p:cNvPr id="14" name="Group 14"/>
          <p:cNvGrpSpPr/>
          <p:nvPr/>
        </p:nvGrpSpPr>
        <p:grpSpPr>
          <a:xfrm rot="0">
            <a:off x="810263" y="2218439"/>
            <a:ext cx="144275" cy="3408683"/>
            <a:chOff x="0" y="0"/>
            <a:chExt cx="192367" cy="4544911"/>
          </a:xfrm>
        </p:grpSpPr>
        <p:sp>
          <p:nvSpPr>
            <p:cNvPr id="15" name="Freeform 15"/>
            <p:cNvSpPr/>
            <p:nvPr/>
          </p:nvSpPr>
          <p:spPr>
            <a:xfrm>
              <a:off x="16891" y="16891"/>
              <a:ext cx="158496" cy="4511040"/>
            </a:xfrm>
            <a:custGeom>
              <a:avLst/>
              <a:gdLst/>
              <a:ahLst/>
              <a:cxnLst/>
              <a:rect l="l" t="t" r="r" b="b"/>
              <a:pathLst>
                <a:path w="158496" h="4511040">
                  <a:moveTo>
                    <a:pt x="0" y="0"/>
                  </a:moveTo>
                  <a:lnTo>
                    <a:pt x="158496" y="0"/>
                  </a:lnTo>
                  <a:lnTo>
                    <a:pt x="158496" y="4511040"/>
                  </a:lnTo>
                  <a:lnTo>
                    <a:pt x="0" y="4511040"/>
                  </a:lnTo>
                  <a:close/>
                </a:path>
              </a:pathLst>
            </a:custGeom>
            <a:solidFill>
              <a:srgbClr val="38BDF8"/>
            </a:solidFill>
          </p:spPr>
        </p:sp>
        <p:sp>
          <p:nvSpPr>
            <p:cNvPr id="16" name="Freeform 16"/>
            <p:cNvSpPr/>
            <p:nvPr/>
          </p:nvSpPr>
          <p:spPr>
            <a:xfrm>
              <a:off x="0" y="0"/>
              <a:ext cx="192278" cy="4544822"/>
            </a:xfrm>
            <a:custGeom>
              <a:avLst/>
              <a:gdLst/>
              <a:ahLst/>
              <a:cxnLst/>
              <a:rect l="l" t="t" r="r" b="b"/>
              <a:pathLst>
                <a:path w="192278" h="4544822">
                  <a:moveTo>
                    <a:pt x="16891" y="0"/>
                  </a:moveTo>
                  <a:lnTo>
                    <a:pt x="175387" y="0"/>
                  </a:lnTo>
                  <a:cubicBezTo>
                    <a:pt x="184785" y="0"/>
                    <a:pt x="192278" y="7620"/>
                    <a:pt x="192278" y="16891"/>
                  </a:cubicBezTo>
                  <a:lnTo>
                    <a:pt x="192278" y="4527931"/>
                  </a:lnTo>
                  <a:cubicBezTo>
                    <a:pt x="192278" y="4537329"/>
                    <a:pt x="184658" y="4544822"/>
                    <a:pt x="175387" y="4544822"/>
                  </a:cubicBezTo>
                  <a:lnTo>
                    <a:pt x="16891" y="4544822"/>
                  </a:lnTo>
                  <a:cubicBezTo>
                    <a:pt x="7493" y="4544822"/>
                    <a:pt x="0" y="4537202"/>
                    <a:pt x="0" y="45279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527931"/>
                  </a:lnTo>
                  <a:lnTo>
                    <a:pt x="16891" y="4527931"/>
                  </a:lnTo>
                  <a:lnTo>
                    <a:pt x="16891" y="4511040"/>
                  </a:lnTo>
                  <a:lnTo>
                    <a:pt x="175387" y="4511040"/>
                  </a:lnTo>
                  <a:lnTo>
                    <a:pt x="175387" y="4527931"/>
                  </a:lnTo>
                  <a:lnTo>
                    <a:pt x="158496" y="4527931"/>
                  </a:lnTo>
                  <a:lnTo>
                    <a:pt x="158496" y="16891"/>
                  </a:lnTo>
                  <a:lnTo>
                    <a:pt x="175387" y="16891"/>
                  </a:lnTo>
                  <a:lnTo>
                    <a:pt x="175387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8BDF8"/>
            </a:solidFill>
          </p:spPr>
        </p:sp>
      </p:grpSp>
      <p:grpSp>
        <p:nvGrpSpPr>
          <p:cNvPr id="17" name="Group 17"/>
          <p:cNvGrpSpPr/>
          <p:nvPr/>
        </p:nvGrpSpPr>
        <p:grpSpPr>
          <a:xfrm rot="0">
            <a:off x="1152144" y="2468880"/>
            <a:ext cx="7315200" cy="512064"/>
            <a:chOff x="0" y="0"/>
            <a:chExt cx="9753600" cy="682752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9753600" cy="682752"/>
            </a:xfrm>
            <a:custGeom>
              <a:avLst/>
              <a:gdLst/>
              <a:ahLst/>
              <a:cxnLst/>
              <a:rect l="l" t="t" r="r" b="b"/>
              <a:pathLst>
                <a:path w="9753600" h="682752">
                  <a:moveTo>
                    <a:pt x="0" y="0"/>
                  </a:moveTo>
                  <a:lnTo>
                    <a:pt x="9753600" y="0"/>
                  </a:lnTo>
                  <a:lnTo>
                    <a:pt x="97536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1">
                <a:alphaModFix amt="0"/>
              </a:blip>
              <a:stretch>
                <a:fillRect t="-228357" b="-228357"/>
              </a:stretch>
            </a:blipFill>
          </p:spPr>
        </p:sp>
        <p:sp>
          <p:nvSpPr>
            <p:cNvPr id="19" name="TextBox 19"/>
            <p:cNvSpPr txBox="1"/>
            <p:nvPr/>
          </p:nvSpPr>
          <p:spPr>
            <a:xfrm>
              <a:off x="0" y="-47625"/>
              <a:ext cx="9753600" cy="73037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000"/>
                </a:lnSpc>
              </a:pPr>
              <a:r>
                <a:rPr lang="en-US" sz="2500" b="1">
                  <a:solidFill>
                    <a:srgbClr val="E2E8F0"/>
                  </a:solidFill>
                  <a:latin typeface="Calibri (MS) Bold" panose="020F0702030404030204"/>
                  <a:ea typeface="Calibri (MS) Bold" panose="020F0702030404030204"/>
                  <a:cs typeface="Calibri (MS) Bold" panose="020F0702030404030204"/>
                  <a:sym typeface="Calibri (MS) Bold" panose="020F0702030404030204"/>
                </a:rPr>
                <a:t>Diogo Pinhel</a:t>
              </a:r>
              <a:endParaRPr lang="en-US" sz="2500" b="1">
                <a:solidFill>
                  <a:srgbClr val="E2E8F0"/>
                </a:solidFill>
                <a:latin typeface="Calibri (MS) Bold" panose="020F0702030404030204"/>
                <a:ea typeface="Calibri (MS) Bold" panose="020F0702030404030204"/>
                <a:cs typeface="Calibri (MS) Bold" panose="020F0702030404030204"/>
                <a:sym typeface="Calibri (MS) Bold" panose="020F0702030404030204"/>
              </a:endParaRPr>
            </a:p>
          </p:txBody>
        </p:sp>
      </p:grpSp>
      <p:grpSp>
        <p:nvGrpSpPr>
          <p:cNvPr id="20" name="Group 20"/>
          <p:cNvGrpSpPr/>
          <p:nvPr/>
        </p:nvGrpSpPr>
        <p:grpSpPr>
          <a:xfrm rot="0">
            <a:off x="1152144" y="2944368"/>
            <a:ext cx="7315200" cy="402336"/>
            <a:chOff x="0" y="0"/>
            <a:chExt cx="9753600" cy="536448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9753600" cy="536448"/>
            </a:xfrm>
            <a:custGeom>
              <a:avLst/>
              <a:gdLst/>
              <a:ahLst/>
              <a:cxnLst/>
              <a:rect l="l" t="t" r="r" b="b"/>
              <a:pathLst>
                <a:path w="9753600" h="536448">
                  <a:moveTo>
                    <a:pt x="0" y="0"/>
                  </a:moveTo>
                  <a:lnTo>
                    <a:pt x="9753600" y="0"/>
                  </a:lnTo>
                  <a:lnTo>
                    <a:pt x="975360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1">
                <a:alphaModFix amt="0"/>
              </a:blip>
              <a:stretch>
                <a:fillRect t="-304273" b="-304273"/>
              </a:stretch>
            </a:blipFill>
          </p:spPr>
        </p:sp>
        <p:sp>
          <p:nvSpPr>
            <p:cNvPr id="22" name="TextBox 22"/>
            <p:cNvSpPr txBox="1"/>
            <p:nvPr/>
          </p:nvSpPr>
          <p:spPr>
            <a:xfrm>
              <a:off x="0" y="-38100"/>
              <a:ext cx="9753600" cy="57454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38BDF8"/>
                  </a:solidFill>
                  <a:latin typeface="Calibri (MS)" panose="020F0502020204030204"/>
                  <a:ea typeface="Calibri (MS)" panose="020F0502020204030204"/>
                  <a:cs typeface="Calibri (MS)" panose="020F0502020204030204"/>
                  <a:sym typeface="Calibri (MS)" panose="020F0502020204030204"/>
                </a:rPr>
                <a:t>Team Leader</a:t>
              </a:r>
              <a:endParaRPr lang="en-US" sz="1800">
                <a:solidFill>
                  <a:srgbClr val="38BDF8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endParaRPr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1243584" y="3399663"/>
            <a:ext cx="7132320" cy="1714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0860" lvl="1" indent="-265430" algn="l">
              <a:lnSpc>
                <a:spcPts val="2640"/>
              </a:lnSpc>
              <a:buFont typeface="Arial" panose="020B0604020202020204"/>
              <a:buChar char="•"/>
            </a:pPr>
            <a:r>
              <a:rPr lang="en-US" sz="2200">
                <a:solidFill>
                  <a:srgbClr val="94A3B8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rPr>
              <a:t>Team coordination &amp; planning</a:t>
            </a:r>
            <a:endParaRPr lang="en-US" sz="2200">
              <a:solidFill>
                <a:srgbClr val="94A3B8"/>
              </a:solidFill>
              <a:latin typeface="Calibri (MS)" panose="020F0502020204030204"/>
              <a:ea typeface="Calibri (MS)" panose="020F0502020204030204"/>
              <a:cs typeface="Calibri (MS)" panose="020F0502020204030204"/>
              <a:sym typeface="Calibri (MS)" panose="020F0502020204030204"/>
            </a:endParaRPr>
          </a:p>
          <a:p>
            <a:pPr marL="530860" lvl="1" indent="-265430" algn="l">
              <a:lnSpc>
                <a:spcPts val="2640"/>
              </a:lnSpc>
              <a:buFont typeface="Arial" panose="020B0604020202020204"/>
              <a:buChar char="•"/>
            </a:pPr>
            <a:r>
              <a:rPr lang="en-US" sz="2200">
                <a:solidFill>
                  <a:srgbClr val="94A3B8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rPr>
              <a:t>SRS development</a:t>
            </a:r>
            <a:endParaRPr lang="en-US" sz="2200">
              <a:solidFill>
                <a:srgbClr val="94A3B8"/>
              </a:solidFill>
              <a:latin typeface="Calibri (MS)" panose="020F0502020204030204"/>
              <a:ea typeface="Calibri (MS)" panose="020F0502020204030204"/>
              <a:cs typeface="Calibri (MS)" panose="020F0502020204030204"/>
              <a:sym typeface="Calibri (MS)" panose="020F0502020204030204"/>
            </a:endParaRPr>
          </a:p>
          <a:p>
            <a:pPr marL="530860" lvl="1" indent="-265430" algn="l">
              <a:lnSpc>
                <a:spcPts val="2640"/>
              </a:lnSpc>
              <a:buFont typeface="Arial" panose="020B0604020202020204"/>
              <a:buChar char="•"/>
            </a:pPr>
            <a:r>
              <a:rPr lang="en-US" sz="2200">
                <a:solidFill>
                  <a:srgbClr val="94A3B8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rPr>
              <a:t>High-Level Design &amp; DFD</a:t>
            </a:r>
            <a:endParaRPr lang="en-US" sz="2200">
              <a:solidFill>
                <a:srgbClr val="94A3B8"/>
              </a:solidFill>
              <a:latin typeface="Calibri (MS)" panose="020F0502020204030204"/>
              <a:ea typeface="Calibri (MS)" panose="020F0502020204030204"/>
              <a:cs typeface="Calibri (MS)" panose="020F0502020204030204"/>
              <a:sym typeface="Calibri (MS)" panose="020F0502020204030204"/>
            </a:endParaRPr>
          </a:p>
          <a:p>
            <a:pPr marL="530860" lvl="1" indent="-265430" algn="l">
              <a:lnSpc>
                <a:spcPts val="2640"/>
              </a:lnSpc>
              <a:buFont typeface="Arial" panose="020B0604020202020204"/>
              <a:buChar char="•"/>
            </a:pPr>
            <a:r>
              <a:rPr lang="en-US" sz="2200">
                <a:solidFill>
                  <a:srgbClr val="94A3B8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rPr>
              <a:t>Website updates &amp; cross-team communication</a:t>
            </a:r>
            <a:endParaRPr lang="en-US" sz="2200">
              <a:solidFill>
                <a:srgbClr val="94A3B8"/>
              </a:solidFill>
              <a:latin typeface="Calibri (MS)" panose="020F0502020204030204"/>
              <a:ea typeface="Calibri (MS)" panose="020F0502020204030204"/>
              <a:cs typeface="Calibri (MS)" panose="020F0502020204030204"/>
              <a:sym typeface="Calibri (MS)" panose="020F0502020204030204"/>
            </a:endParaRPr>
          </a:p>
          <a:p>
            <a:pPr marL="530860" lvl="1" indent="-265430" algn="l">
              <a:lnSpc>
                <a:spcPts val="2640"/>
              </a:lnSpc>
              <a:buFont typeface="Arial" panose="020B0604020202020204"/>
              <a:buChar char="•"/>
            </a:pPr>
            <a:r>
              <a:rPr lang="en-US" sz="2200">
                <a:solidFill>
                  <a:srgbClr val="94A3B8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rPr>
              <a:t>Mid-Term Presentation</a:t>
            </a:r>
            <a:endParaRPr lang="en-US" sz="2200">
              <a:solidFill>
                <a:srgbClr val="94A3B8"/>
              </a:solidFill>
              <a:latin typeface="Calibri (MS)" panose="020F0502020204030204"/>
              <a:ea typeface="Calibri (MS)" panose="020F0502020204030204"/>
              <a:cs typeface="Calibri (MS)" panose="020F0502020204030204"/>
              <a:sym typeface="Calibri (MS)" panose="020F0502020204030204"/>
            </a:endParaRPr>
          </a:p>
        </p:txBody>
      </p:sp>
      <p:grpSp>
        <p:nvGrpSpPr>
          <p:cNvPr id="24" name="Group 24"/>
          <p:cNvGrpSpPr/>
          <p:nvPr/>
        </p:nvGrpSpPr>
        <p:grpSpPr>
          <a:xfrm rot="0">
            <a:off x="9222743" y="2218439"/>
            <a:ext cx="8108699" cy="3408683"/>
            <a:chOff x="0" y="0"/>
            <a:chExt cx="10811599" cy="4544911"/>
          </a:xfrm>
        </p:grpSpPr>
        <p:sp>
          <p:nvSpPr>
            <p:cNvPr id="25" name="Freeform 25"/>
            <p:cNvSpPr/>
            <p:nvPr/>
          </p:nvSpPr>
          <p:spPr>
            <a:xfrm>
              <a:off x="16891" y="16891"/>
              <a:ext cx="10777728" cy="4511040"/>
            </a:xfrm>
            <a:custGeom>
              <a:avLst/>
              <a:gdLst/>
              <a:ahLst/>
              <a:cxnLst/>
              <a:rect l="l" t="t" r="r" b="b"/>
              <a:pathLst>
                <a:path w="10777728" h="4511040">
                  <a:moveTo>
                    <a:pt x="0" y="0"/>
                  </a:moveTo>
                  <a:lnTo>
                    <a:pt x="10777728" y="0"/>
                  </a:lnTo>
                  <a:lnTo>
                    <a:pt x="10777728" y="4511040"/>
                  </a:lnTo>
                  <a:lnTo>
                    <a:pt x="0" y="4511040"/>
                  </a:lnTo>
                  <a:close/>
                </a:path>
              </a:pathLst>
            </a:custGeom>
            <a:solidFill>
              <a:srgbClr val="141C2E"/>
            </a:solidFill>
          </p:spPr>
        </p:sp>
        <p:sp>
          <p:nvSpPr>
            <p:cNvPr id="26" name="Freeform 26"/>
            <p:cNvSpPr/>
            <p:nvPr/>
          </p:nvSpPr>
          <p:spPr>
            <a:xfrm>
              <a:off x="0" y="0"/>
              <a:ext cx="10811510" cy="4544822"/>
            </a:xfrm>
            <a:custGeom>
              <a:avLst/>
              <a:gdLst/>
              <a:ahLst/>
              <a:cxnLst/>
              <a:rect l="l" t="t" r="r" b="b"/>
              <a:pathLst>
                <a:path w="10811510" h="4544822">
                  <a:moveTo>
                    <a:pt x="16891" y="0"/>
                  </a:moveTo>
                  <a:lnTo>
                    <a:pt x="10794619" y="0"/>
                  </a:lnTo>
                  <a:cubicBezTo>
                    <a:pt x="10804017" y="0"/>
                    <a:pt x="10811510" y="7620"/>
                    <a:pt x="10811510" y="16891"/>
                  </a:cubicBezTo>
                  <a:lnTo>
                    <a:pt x="10811510" y="4527931"/>
                  </a:lnTo>
                  <a:cubicBezTo>
                    <a:pt x="10811510" y="4537329"/>
                    <a:pt x="10803889" y="4544822"/>
                    <a:pt x="10794619" y="4544822"/>
                  </a:cubicBezTo>
                  <a:lnTo>
                    <a:pt x="16891" y="4544822"/>
                  </a:lnTo>
                  <a:cubicBezTo>
                    <a:pt x="7493" y="4544822"/>
                    <a:pt x="0" y="4537202"/>
                    <a:pt x="0" y="45279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527931"/>
                  </a:lnTo>
                  <a:lnTo>
                    <a:pt x="16891" y="4527931"/>
                  </a:lnTo>
                  <a:lnTo>
                    <a:pt x="16891" y="4511040"/>
                  </a:lnTo>
                  <a:lnTo>
                    <a:pt x="10794619" y="4511040"/>
                  </a:lnTo>
                  <a:lnTo>
                    <a:pt x="10794619" y="4527931"/>
                  </a:lnTo>
                  <a:lnTo>
                    <a:pt x="10777727" y="4527931"/>
                  </a:lnTo>
                  <a:lnTo>
                    <a:pt x="10777727" y="16891"/>
                  </a:lnTo>
                  <a:lnTo>
                    <a:pt x="10794619" y="16891"/>
                  </a:lnTo>
                  <a:lnTo>
                    <a:pt x="1079461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E2D45"/>
            </a:solidFill>
          </p:spPr>
        </p:sp>
      </p:grpSp>
      <p:grpSp>
        <p:nvGrpSpPr>
          <p:cNvPr id="27" name="Group 27"/>
          <p:cNvGrpSpPr/>
          <p:nvPr/>
        </p:nvGrpSpPr>
        <p:grpSpPr>
          <a:xfrm rot="0">
            <a:off x="9222743" y="2218439"/>
            <a:ext cx="144275" cy="3408683"/>
            <a:chOff x="0" y="0"/>
            <a:chExt cx="192367" cy="4544911"/>
          </a:xfrm>
        </p:grpSpPr>
        <p:sp>
          <p:nvSpPr>
            <p:cNvPr id="28" name="Freeform 28"/>
            <p:cNvSpPr/>
            <p:nvPr/>
          </p:nvSpPr>
          <p:spPr>
            <a:xfrm>
              <a:off x="16891" y="16891"/>
              <a:ext cx="158496" cy="4511040"/>
            </a:xfrm>
            <a:custGeom>
              <a:avLst/>
              <a:gdLst/>
              <a:ahLst/>
              <a:cxnLst/>
              <a:rect l="l" t="t" r="r" b="b"/>
              <a:pathLst>
                <a:path w="158496" h="4511040">
                  <a:moveTo>
                    <a:pt x="0" y="0"/>
                  </a:moveTo>
                  <a:lnTo>
                    <a:pt x="158496" y="0"/>
                  </a:lnTo>
                  <a:lnTo>
                    <a:pt x="158496" y="4511040"/>
                  </a:lnTo>
                  <a:lnTo>
                    <a:pt x="0" y="4511040"/>
                  </a:lnTo>
                  <a:close/>
                </a:path>
              </a:pathLst>
            </a:custGeom>
            <a:solidFill>
              <a:srgbClr val="34D399"/>
            </a:solidFill>
          </p:spPr>
        </p:sp>
        <p:sp>
          <p:nvSpPr>
            <p:cNvPr id="29" name="Freeform 29"/>
            <p:cNvSpPr/>
            <p:nvPr/>
          </p:nvSpPr>
          <p:spPr>
            <a:xfrm>
              <a:off x="0" y="0"/>
              <a:ext cx="192278" cy="4544822"/>
            </a:xfrm>
            <a:custGeom>
              <a:avLst/>
              <a:gdLst/>
              <a:ahLst/>
              <a:cxnLst/>
              <a:rect l="l" t="t" r="r" b="b"/>
              <a:pathLst>
                <a:path w="192278" h="4544822">
                  <a:moveTo>
                    <a:pt x="16891" y="0"/>
                  </a:moveTo>
                  <a:lnTo>
                    <a:pt x="175387" y="0"/>
                  </a:lnTo>
                  <a:cubicBezTo>
                    <a:pt x="184785" y="0"/>
                    <a:pt x="192278" y="7620"/>
                    <a:pt x="192278" y="16891"/>
                  </a:cubicBezTo>
                  <a:lnTo>
                    <a:pt x="192278" y="4527931"/>
                  </a:lnTo>
                  <a:cubicBezTo>
                    <a:pt x="192278" y="4537329"/>
                    <a:pt x="184658" y="4544822"/>
                    <a:pt x="175387" y="4544822"/>
                  </a:cubicBezTo>
                  <a:lnTo>
                    <a:pt x="16891" y="4544822"/>
                  </a:lnTo>
                  <a:cubicBezTo>
                    <a:pt x="7493" y="4544822"/>
                    <a:pt x="0" y="4537202"/>
                    <a:pt x="0" y="45279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527931"/>
                  </a:lnTo>
                  <a:lnTo>
                    <a:pt x="16891" y="4527931"/>
                  </a:lnTo>
                  <a:lnTo>
                    <a:pt x="16891" y="4511040"/>
                  </a:lnTo>
                  <a:lnTo>
                    <a:pt x="175387" y="4511040"/>
                  </a:lnTo>
                  <a:lnTo>
                    <a:pt x="175387" y="4527931"/>
                  </a:lnTo>
                  <a:lnTo>
                    <a:pt x="158496" y="4527931"/>
                  </a:lnTo>
                  <a:lnTo>
                    <a:pt x="158496" y="16891"/>
                  </a:lnTo>
                  <a:lnTo>
                    <a:pt x="175387" y="16891"/>
                  </a:lnTo>
                  <a:lnTo>
                    <a:pt x="175387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4D399"/>
            </a:solidFill>
          </p:spPr>
        </p:sp>
      </p:grpSp>
      <p:grpSp>
        <p:nvGrpSpPr>
          <p:cNvPr id="30" name="Group 30"/>
          <p:cNvGrpSpPr/>
          <p:nvPr/>
        </p:nvGrpSpPr>
        <p:grpSpPr>
          <a:xfrm rot="0">
            <a:off x="9564624" y="2468880"/>
            <a:ext cx="7315200" cy="512064"/>
            <a:chOff x="0" y="0"/>
            <a:chExt cx="9753600" cy="682752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9753600" cy="682752"/>
            </a:xfrm>
            <a:custGeom>
              <a:avLst/>
              <a:gdLst/>
              <a:ahLst/>
              <a:cxnLst/>
              <a:rect l="l" t="t" r="r" b="b"/>
              <a:pathLst>
                <a:path w="9753600" h="682752">
                  <a:moveTo>
                    <a:pt x="0" y="0"/>
                  </a:moveTo>
                  <a:lnTo>
                    <a:pt x="9753600" y="0"/>
                  </a:lnTo>
                  <a:lnTo>
                    <a:pt x="97536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1">
                <a:alphaModFix amt="0"/>
              </a:blip>
              <a:stretch>
                <a:fillRect t="-228357" b="-228357"/>
              </a:stretch>
            </a:blipFill>
          </p:spPr>
        </p:sp>
        <p:sp>
          <p:nvSpPr>
            <p:cNvPr id="32" name="TextBox 32"/>
            <p:cNvSpPr txBox="1"/>
            <p:nvPr/>
          </p:nvSpPr>
          <p:spPr>
            <a:xfrm>
              <a:off x="0" y="-47625"/>
              <a:ext cx="9753600" cy="73037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000"/>
                </a:lnSpc>
              </a:pPr>
              <a:r>
                <a:rPr lang="en-US" sz="2500" b="1">
                  <a:solidFill>
                    <a:srgbClr val="E2E8F0"/>
                  </a:solidFill>
                  <a:latin typeface="Calibri (MS) Bold" panose="020F0702030404030204"/>
                  <a:ea typeface="Calibri (MS) Bold" panose="020F0702030404030204"/>
                  <a:cs typeface="Calibri (MS) Bold" panose="020F0702030404030204"/>
                  <a:sym typeface="Calibri (MS) Bold" panose="020F0702030404030204"/>
                </a:rPr>
                <a:t>Yiding Wang</a:t>
              </a:r>
              <a:endParaRPr lang="en-US" sz="2500" b="1">
                <a:solidFill>
                  <a:srgbClr val="E2E8F0"/>
                </a:solidFill>
                <a:latin typeface="Calibri (MS) Bold" panose="020F0702030404030204"/>
                <a:ea typeface="Calibri (MS) Bold" panose="020F0702030404030204"/>
                <a:cs typeface="Calibri (MS) Bold" panose="020F0702030404030204"/>
                <a:sym typeface="Calibri (MS) Bold" panose="020F0702030404030204"/>
              </a:endParaRPr>
            </a:p>
          </p:txBody>
        </p:sp>
      </p:grpSp>
      <p:grpSp>
        <p:nvGrpSpPr>
          <p:cNvPr id="33" name="Group 33"/>
          <p:cNvGrpSpPr/>
          <p:nvPr/>
        </p:nvGrpSpPr>
        <p:grpSpPr>
          <a:xfrm rot="0">
            <a:off x="9564624" y="2944368"/>
            <a:ext cx="7315200" cy="402336"/>
            <a:chOff x="0" y="0"/>
            <a:chExt cx="9753600" cy="536448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9753600" cy="536448"/>
            </a:xfrm>
            <a:custGeom>
              <a:avLst/>
              <a:gdLst/>
              <a:ahLst/>
              <a:cxnLst/>
              <a:rect l="l" t="t" r="r" b="b"/>
              <a:pathLst>
                <a:path w="9753600" h="536448">
                  <a:moveTo>
                    <a:pt x="0" y="0"/>
                  </a:moveTo>
                  <a:lnTo>
                    <a:pt x="9753600" y="0"/>
                  </a:lnTo>
                  <a:lnTo>
                    <a:pt x="975360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1">
                <a:alphaModFix amt="0"/>
              </a:blip>
              <a:stretch>
                <a:fillRect t="-304273" b="-304273"/>
              </a:stretch>
            </a:blipFill>
          </p:spPr>
        </p:sp>
        <p:sp>
          <p:nvSpPr>
            <p:cNvPr id="35" name="TextBox 35"/>
            <p:cNvSpPr txBox="1"/>
            <p:nvPr/>
          </p:nvSpPr>
          <p:spPr>
            <a:xfrm>
              <a:off x="0" y="-38100"/>
              <a:ext cx="9753600" cy="57454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34D399"/>
                  </a:solidFill>
                  <a:latin typeface="Calibri (MS)" panose="020F0502020204030204"/>
                  <a:ea typeface="Calibri (MS)" panose="020F0502020204030204"/>
                  <a:cs typeface="Calibri (MS)" panose="020F0502020204030204"/>
                  <a:sym typeface="Calibri (MS)" panose="020F0502020204030204"/>
                </a:rPr>
                <a:t>Vice Team Leader</a:t>
              </a:r>
              <a:endParaRPr lang="en-US" sz="1800">
                <a:solidFill>
                  <a:srgbClr val="34D399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endParaRPr>
            </a:p>
          </p:txBody>
        </p:sp>
      </p:grpSp>
      <p:sp>
        <p:nvSpPr>
          <p:cNvPr id="36" name="TextBox 36"/>
          <p:cNvSpPr txBox="1"/>
          <p:nvPr/>
        </p:nvSpPr>
        <p:spPr>
          <a:xfrm>
            <a:off x="9656064" y="3399663"/>
            <a:ext cx="7132320" cy="20044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0860" lvl="1" indent="-265430" algn="l">
              <a:lnSpc>
                <a:spcPts val="2640"/>
              </a:lnSpc>
              <a:buFont typeface="Arial" panose="020B0604020202020204"/>
              <a:buChar char="•"/>
            </a:pPr>
            <a:r>
              <a:rPr lang="en-US" sz="2200">
                <a:solidFill>
                  <a:srgbClr val="94A3B8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rPr>
              <a:t>Task allocation &amp; weekly reports</a:t>
            </a:r>
            <a:endParaRPr lang="en-US" sz="2200">
              <a:solidFill>
                <a:srgbClr val="94A3B8"/>
              </a:solidFill>
              <a:latin typeface="Calibri (MS)" panose="020F0502020204030204"/>
              <a:ea typeface="Calibri (MS)" panose="020F0502020204030204"/>
              <a:cs typeface="Calibri (MS)" panose="020F0502020204030204"/>
              <a:sym typeface="Calibri (MS)" panose="020F0502020204030204"/>
            </a:endParaRPr>
          </a:p>
          <a:p>
            <a:pPr marL="530860" lvl="1" indent="-265430" algn="l">
              <a:lnSpc>
                <a:spcPts val="2640"/>
              </a:lnSpc>
              <a:buFont typeface="Arial" panose="020B0604020202020204"/>
              <a:buChar char="•"/>
            </a:pPr>
            <a:r>
              <a:rPr lang="en-US" sz="2200">
                <a:solidFill>
                  <a:srgbClr val="94A3B8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rPr>
              <a:t>SRS adjustment &amp; standardization</a:t>
            </a:r>
            <a:endParaRPr lang="en-US" sz="2200">
              <a:solidFill>
                <a:srgbClr val="94A3B8"/>
              </a:solidFill>
              <a:latin typeface="Calibri (MS)" panose="020F0502020204030204"/>
              <a:ea typeface="Calibri (MS)" panose="020F0502020204030204"/>
              <a:cs typeface="Calibri (MS)" panose="020F0502020204030204"/>
              <a:sym typeface="Calibri (MS)" panose="020F0502020204030204"/>
            </a:endParaRPr>
          </a:p>
          <a:p>
            <a:pPr marL="530860" lvl="1" indent="-265430" algn="l">
              <a:lnSpc>
                <a:spcPts val="2640"/>
              </a:lnSpc>
              <a:buFont typeface="Arial" panose="020B0604020202020204"/>
              <a:buChar char="•"/>
            </a:pPr>
            <a:r>
              <a:rPr lang="en-US" sz="2200">
                <a:solidFill>
                  <a:srgbClr val="94A3B8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rPr>
              <a:t>Cross-team documentation integration</a:t>
            </a:r>
            <a:endParaRPr lang="en-US" sz="2200">
              <a:solidFill>
                <a:srgbClr val="94A3B8"/>
              </a:solidFill>
              <a:latin typeface="Calibri (MS)" panose="020F0502020204030204"/>
              <a:ea typeface="Calibri (MS)" panose="020F0502020204030204"/>
              <a:cs typeface="Calibri (MS)" panose="020F0502020204030204"/>
              <a:sym typeface="Calibri (MS)" panose="020F0502020204030204"/>
            </a:endParaRPr>
          </a:p>
          <a:p>
            <a:pPr marL="530860" lvl="1" indent="-265430" algn="l">
              <a:lnSpc>
                <a:spcPts val="2640"/>
              </a:lnSpc>
              <a:buFont typeface="Arial" panose="020B0604020202020204"/>
              <a:buChar char="•"/>
            </a:pPr>
            <a:r>
              <a:rPr lang="en-US" sz="2200">
                <a:solidFill>
                  <a:srgbClr val="94A3B8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rPr>
              <a:t>Prototype code review &amp; bug fixes</a:t>
            </a:r>
            <a:endParaRPr lang="en-US" sz="2200">
              <a:solidFill>
                <a:srgbClr val="94A3B8"/>
              </a:solidFill>
              <a:latin typeface="Calibri (MS)" panose="020F0502020204030204"/>
              <a:ea typeface="Calibri (MS)" panose="020F0502020204030204"/>
              <a:cs typeface="Calibri (MS)" panose="020F0502020204030204"/>
              <a:sym typeface="Calibri (MS)" panose="020F0502020204030204"/>
            </a:endParaRPr>
          </a:p>
          <a:p>
            <a:pPr marL="530860" lvl="1" indent="-265430" algn="l">
              <a:lnSpc>
                <a:spcPts val="2640"/>
              </a:lnSpc>
              <a:buFont typeface="Arial" panose="020B0604020202020204"/>
              <a:buChar char="•"/>
            </a:pPr>
            <a:r>
              <a:rPr lang="en-US" sz="2200">
                <a:solidFill>
                  <a:srgbClr val="94A3B8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rPr>
              <a:t>V2 interface testing</a:t>
            </a:r>
            <a:endParaRPr lang="en-US" sz="2200">
              <a:solidFill>
                <a:srgbClr val="94A3B8"/>
              </a:solidFill>
              <a:latin typeface="Calibri (MS)" panose="020F0502020204030204"/>
              <a:ea typeface="Calibri (MS)" panose="020F0502020204030204"/>
              <a:cs typeface="Calibri (MS)" panose="020F0502020204030204"/>
              <a:sym typeface="Calibri (MS)" panose="020F0502020204030204"/>
            </a:endParaRPr>
          </a:p>
        </p:txBody>
      </p:sp>
      <p:grpSp>
        <p:nvGrpSpPr>
          <p:cNvPr id="37" name="Group 37"/>
          <p:cNvGrpSpPr/>
          <p:nvPr/>
        </p:nvGrpSpPr>
        <p:grpSpPr>
          <a:xfrm rot="0">
            <a:off x="810263" y="5876039"/>
            <a:ext cx="8108699" cy="3408683"/>
            <a:chOff x="0" y="0"/>
            <a:chExt cx="10811599" cy="4544911"/>
          </a:xfrm>
        </p:grpSpPr>
        <p:sp>
          <p:nvSpPr>
            <p:cNvPr id="38" name="Freeform 38"/>
            <p:cNvSpPr/>
            <p:nvPr/>
          </p:nvSpPr>
          <p:spPr>
            <a:xfrm>
              <a:off x="16891" y="16891"/>
              <a:ext cx="10777728" cy="4511040"/>
            </a:xfrm>
            <a:custGeom>
              <a:avLst/>
              <a:gdLst/>
              <a:ahLst/>
              <a:cxnLst/>
              <a:rect l="l" t="t" r="r" b="b"/>
              <a:pathLst>
                <a:path w="10777728" h="4511040">
                  <a:moveTo>
                    <a:pt x="0" y="0"/>
                  </a:moveTo>
                  <a:lnTo>
                    <a:pt x="10777728" y="0"/>
                  </a:lnTo>
                  <a:lnTo>
                    <a:pt x="10777728" y="4511040"/>
                  </a:lnTo>
                  <a:lnTo>
                    <a:pt x="0" y="4511040"/>
                  </a:lnTo>
                  <a:close/>
                </a:path>
              </a:pathLst>
            </a:custGeom>
            <a:solidFill>
              <a:srgbClr val="141C2E"/>
            </a:solidFill>
          </p:spPr>
        </p:sp>
        <p:sp>
          <p:nvSpPr>
            <p:cNvPr id="39" name="Freeform 39"/>
            <p:cNvSpPr/>
            <p:nvPr/>
          </p:nvSpPr>
          <p:spPr>
            <a:xfrm>
              <a:off x="0" y="0"/>
              <a:ext cx="10811510" cy="4544822"/>
            </a:xfrm>
            <a:custGeom>
              <a:avLst/>
              <a:gdLst/>
              <a:ahLst/>
              <a:cxnLst/>
              <a:rect l="l" t="t" r="r" b="b"/>
              <a:pathLst>
                <a:path w="10811510" h="4544822">
                  <a:moveTo>
                    <a:pt x="16891" y="0"/>
                  </a:moveTo>
                  <a:lnTo>
                    <a:pt x="10794619" y="0"/>
                  </a:lnTo>
                  <a:cubicBezTo>
                    <a:pt x="10804017" y="0"/>
                    <a:pt x="10811510" y="7620"/>
                    <a:pt x="10811510" y="16891"/>
                  </a:cubicBezTo>
                  <a:lnTo>
                    <a:pt x="10811510" y="4527931"/>
                  </a:lnTo>
                  <a:cubicBezTo>
                    <a:pt x="10811510" y="4537329"/>
                    <a:pt x="10803889" y="4544822"/>
                    <a:pt x="10794619" y="4544822"/>
                  </a:cubicBezTo>
                  <a:lnTo>
                    <a:pt x="16891" y="4544822"/>
                  </a:lnTo>
                  <a:cubicBezTo>
                    <a:pt x="7493" y="4544822"/>
                    <a:pt x="0" y="4537202"/>
                    <a:pt x="0" y="45279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527931"/>
                  </a:lnTo>
                  <a:lnTo>
                    <a:pt x="16891" y="4527931"/>
                  </a:lnTo>
                  <a:lnTo>
                    <a:pt x="16891" y="4511040"/>
                  </a:lnTo>
                  <a:lnTo>
                    <a:pt x="10794619" y="4511040"/>
                  </a:lnTo>
                  <a:lnTo>
                    <a:pt x="10794619" y="4527931"/>
                  </a:lnTo>
                  <a:lnTo>
                    <a:pt x="10777727" y="4527931"/>
                  </a:lnTo>
                  <a:lnTo>
                    <a:pt x="10777727" y="16891"/>
                  </a:lnTo>
                  <a:lnTo>
                    <a:pt x="10794619" y="16891"/>
                  </a:lnTo>
                  <a:lnTo>
                    <a:pt x="1079461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E2D45"/>
            </a:solidFill>
          </p:spPr>
        </p:sp>
      </p:grpSp>
      <p:grpSp>
        <p:nvGrpSpPr>
          <p:cNvPr id="40" name="Group 40"/>
          <p:cNvGrpSpPr/>
          <p:nvPr/>
        </p:nvGrpSpPr>
        <p:grpSpPr>
          <a:xfrm rot="0">
            <a:off x="810263" y="5876039"/>
            <a:ext cx="144275" cy="3408683"/>
            <a:chOff x="0" y="0"/>
            <a:chExt cx="192367" cy="4544911"/>
          </a:xfrm>
        </p:grpSpPr>
        <p:sp>
          <p:nvSpPr>
            <p:cNvPr id="41" name="Freeform 41"/>
            <p:cNvSpPr/>
            <p:nvPr/>
          </p:nvSpPr>
          <p:spPr>
            <a:xfrm>
              <a:off x="16891" y="16891"/>
              <a:ext cx="158496" cy="4511040"/>
            </a:xfrm>
            <a:custGeom>
              <a:avLst/>
              <a:gdLst/>
              <a:ahLst/>
              <a:cxnLst/>
              <a:rect l="l" t="t" r="r" b="b"/>
              <a:pathLst>
                <a:path w="158496" h="4511040">
                  <a:moveTo>
                    <a:pt x="0" y="0"/>
                  </a:moveTo>
                  <a:lnTo>
                    <a:pt x="158496" y="0"/>
                  </a:lnTo>
                  <a:lnTo>
                    <a:pt x="158496" y="4511040"/>
                  </a:lnTo>
                  <a:lnTo>
                    <a:pt x="0" y="4511040"/>
                  </a:lnTo>
                  <a:close/>
                </a:path>
              </a:pathLst>
            </a:custGeom>
            <a:solidFill>
              <a:srgbClr val="60A5FA"/>
            </a:solidFill>
          </p:spPr>
        </p:sp>
        <p:sp>
          <p:nvSpPr>
            <p:cNvPr id="42" name="Freeform 42"/>
            <p:cNvSpPr/>
            <p:nvPr/>
          </p:nvSpPr>
          <p:spPr>
            <a:xfrm>
              <a:off x="0" y="0"/>
              <a:ext cx="192278" cy="4544822"/>
            </a:xfrm>
            <a:custGeom>
              <a:avLst/>
              <a:gdLst/>
              <a:ahLst/>
              <a:cxnLst/>
              <a:rect l="l" t="t" r="r" b="b"/>
              <a:pathLst>
                <a:path w="192278" h="4544822">
                  <a:moveTo>
                    <a:pt x="16891" y="0"/>
                  </a:moveTo>
                  <a:lnTo>
                    <a:pt x="175387" y="0"/>
                  </a:lnTo>
                  <a:cubicBezTo>
                    <a:pt x="184785" y="0"/>
                    <a:pt x="192278" y="7620"/>
                    <a:pt x="192278" y="16891"/>
                  </a:cubicBezTo>
                  <a:lnTo>
                    <a:pt x="192278" y="4527931"/>
                  </a:lnTo>
                  <a:cubicBezTo>
                    <a:pt x="192278" y="4537329"/>
                    <a:pt x="184658" y="4544822"/>
                    <a:pt x="175387" y="4544822"/>
                  </a:cubicBezTo>
                  <a:lnTo>
                    <a:pt x="16891" y="4544822"/>
                  </a:lnTo>
                  <a:cubicBezTo>
                    <a:pt x="7493" y="4544822"/>
                    <a:pt x="0" y="4537202"/>
                    <a:pt x="0" y="45279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527931"/>
                  </a:lnTo>
                  <a:lnTo>
                    <a:pt x="16891" y="4527931"/>
                  </a:lnTo>
                  <a:lnTo>
                    <a:pt x="16891" y="4511040"/>
                  </a:lnTo>
                  <a:lnTo>
                    <a:pt x="175387" y="4511040"/>
                  </a:lnTo>
                  <a:lnTo>
                    <a:pt x="175387" y="4527931"/>
                  </a:lnTo>
                  <a:lnTo>
                    <a:pt x="158496" y="4527931"/>
                  </a:lnTo>
                  <a:lnTo>
                    <a:pt x="158496" y="16891"/>
                  </a:lnTo>
                  <a:lnTo>
                    <a:pt x="175387" y="16891"/>
                  </a:lnTo>
                  <a:lnTo>
                    <a:pt x="175387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60A5FA"/>
            </a:solidFill>
          </p:spPr>
        </p:sp>
      </p:grpSp>
      <p:grpSp>
        <p:nvGrpSpPr>
          <p:cNvPr id="43" name="Group 43"/>
          <p:cNvGrpSpPr/>
          <p:nvPr/>
        </p:nvGrpSpPr>
        <p:grpSpPr>
          <a:xfrm rot="0">
            <a:off x="1152144" y="6126480"/>
            <a:ext cx="7315200" cy="512064"/>
            <a:chOff x="0" y="0"/>
            <a:chExt cx="9753600" cy="682752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9753600" cy="682752"/>
            </a:xfrm>
            <a:custGeom>
              <a:avLst/>
              <a:gdLst/>
              <a:ahLst/>
              <a:cxnLst/>
              <a:rect l="l" t="t" r="r" b="b"/>
              <a:pathLst>
                <a:path w="9753600" h="682752">
                  <a:moveTo>
                    <a:pt x="0" y="0"/>
                  </a:moveTo>
                  <a:lnTo>
                    <a:pt x="9753600" y="0"/>
                  </a:lnTo>
                  <a:lnTo>
                    <a:pt x="97536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1">
                <a:alphaModFix amt="0"/>
              </a:blip>
              <a:stretch>
                <a:fillRect t="-228357" b="-228357"/>
              </a:stretch>
            </a:blipFill>
          </p:spPr>
        </p:sp>
        <p:sp>
          <p:nvSpPr>
            <p:cNvPr id="45" name="TextBox 45"/>
            <p:cNvSpPr txBox="1"/>
            <p:nvPr/>
          </p:nvSpPr>
          <p:spPr>
            <a:xfrm>
              <a:off x="0" y="-47625"/>
              <a:ext cx="9753600" cy="73037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000"/>
                </a:lnSpc>
              </a:pPr>
              <a:r>
                <a:rPr lang="en-US" sz="2500" b="1">
                  <a:solidFill>
                    <a:srgbClr val="E2E8F0"/>
                  </a:solidFill>
                  <a:latin typeface="Calibri (MS) Bold" panose="020F0702030404030204"/>
                  <a:ea typeface="Calibri (MS) Bold" panose="020F0702030404030204"/>
                  <a:cs typeface="Calibri (MS) Bold" panose="020F0702030404030204"/>
                  <a:sym typeface="Calibri (MS) Bold" panose="020F0702030404030204"/>
                </a:rPr>
                <a:t>Enhe Zhang</a:t>
              </a:r>
              <a:endParaRPr lang="en-US" sz="2500" b="1">
                <a:solidFill>
                  <a:srgbClr val="E2E8F0"/>
                </a:solidFill>
                <a:latin typeface="Calibri (MS) Bold" panose="020F0702030404030204"/>
                <a:ea typeface="Calibri (MS) Bold" panose="020F0702030404030204"/>
                <a:cs typeface="Calibri (MS) Bold" panose="020F0702030404030204"/>
                <a:sym typeface="Calibri (MS) Bold" panose="020F0702030404030204"/>
              </a:endParaRPr>
            </a:p>
          </p:txBody>
        </p:sp>
      </p:grpSp>
      <p:grpSp>
        <p:nvGrpSpPr>
          <p:cNvPr id="46" name="Group 46"/>
          <p:cNvGrpSpPr/>
          <p:nvPr/>
        </p:nvGrpSpPr>
        <p:grpSpPr>
          <a:xfrm rot="0">
            <a:off x="1152144" y="6601968"/>
            <a:ext cx="7315200" cy="402336"/>
            <a:chOff x="0" y="0"/>
            <a:chExt cx="9753600" cy="536448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9753600" cy="536448"/>
            </a:xfrm>
            <a:custGeom>
              <a:avLst/>
              <a:gdLst/>
              <a:ahLst/>
              <a:cxnLst/>
              <a:rect l="l" t="t" r="r" b="b"/>
              <a:pathLst>
                <a:path w="9753600" h="536448">
                  <a:moveTo>
                    <a:pt x="0" y="0"/>
                  </a:moveTo>
                  <a:lnTo>
                    <a:pt x="9753600" y="0"/>
                  </a:lnTo>
                  <a:lnTo>
                    <a:pt x="975360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1">
                <a:alphaModFix amt="0"/>
              </a:blip>
              <a:stretch>
                <a:fillRect t="-304273" b="-304273"/>
              </a:stretch>
            </a:blipFill>
          </p:spPr>
        </p:sp>
        <p:sp>
          <p:nvSpPr>
            <p:cNvPr id="48" name="TextBox 48"/>
            <p:cNvSpPr txBox="1"/>
            <p:nvPr/>
          </p:nvSpPr>
          <p:spPr>
            <a:xfrm>
              <a:off x="0" y="-38100"/>
              <a:ext cx="9753600" cy="57454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0A5FA"/>
                  </a:solidFill>
                  <a:latin typeface="Calibri (MS)" panose="020F0502020204030204"/>
                  <a:ea typeface="Calibri (MS)" panose="020F0502020204030204"/>
                  <a:cs typeface="Calibri (MS)" panose="020F0502020204030204"/>
                  <a:sym typeface="Calibri (MS)" panose="020F0502020204030204"/>
                </a:rPr>
                <a:t>Programmer / Tester</a:t>
              </a:r>
              <a:endParaRPr lang="en-US" sz="1800">
                <a:solidFill>
                  <a:srgbClr val="60A5FA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endParaRPr>
            </a:p>
          </p:txBody>
        </p:sp>
      </p:grpSp>
      <p:sp>
        <p:nvSpPr>
          <p:cNvPr id="49" name="TextBox 49"/>
          <p:cNvSpPr txBox="1"/>
          <p:nvPr/>
        </p:nvSpPr>
        <p:spPr>
          <a:xfrm>
            <a:off x="1243584" y="7057263"/>
            <a:ext cx="7132320" cy="20044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0860" lvl="1" indent="-265430" algn="l">
              <a:lnSpc>
                <a:spcPts val="2640"/>
              </a:lnSpc>
              <a:buFont typeface="Arial" panose="020B0604020202020204"/>
              <a:buChar char="•"/>
            </a:pPr>
            <a:r>
              <a:rPr lang="en-US" sz="2200">
                <a:solidFill>
                  <a:srgbClr val="94A3B8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rPr>
              <a:t>DevEco Studio project setup</a:t>
            </a:r>
            <a:endParaRPr lang="en-US" sz="2200">
              <a:solidFill>
                <a:srgbClr val="94A3B8"/>
              </a:solidFill>
              <a:latin typeface="Calibri (MS)" panose="020F0502020204030204"/>
              <a:ea typeface="Calibri (MS)" panose="020F0502020204030204"/>
              <a:cs typeface="Calibri (MS)" panose="020F0502020204030204"/>
              <a:sym typeface="Calibri (MS)" panose="020F0502020204030204"/>
            </a:endParaRPr>
          </a:p>
          <a:p>
            <a:pPr marL="530860" lvl="1" indent="-265430" algn="l">
              <a:lnSpc>
                <a:spcPts val="2640"/>
              </a:lnSpc>
              <a:buFont typeface="Arial" panose="020B0604020202020204"/>
              <a:buChar char="•"/>
            </a:pPr>
            <a:r>
              <a:rPr lang="en-US" sz="2200">
                <a:solidFill>
                  <a:srgbClr val="94A3B8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rPr>
              <a:t>Login &amp; registration pages</a:t>
            </a:r>
            <a:endParaRPr lang="en-US" sz="2200">
              <a:solidFill>
                <a:srgbClr val="94A3B8"/>
              </a:solidFill>
              <a:latin typeface="Calibri (MS)" panose="020F0502020204030204"/>
              <a:ea typeface="Calibri (MS)" panose="020F0502020204030204"/>
              <a:cs typeface="Calibri (MS)" panose="020F0502020204030204"/>
              <a:sym typeface="Calibri (MS)" panose="020F0502020204030204"/>
            </a:endParaRPr>
          </a:p>
          <a:p>
            <a:pPr marL="530860" lvl="1" indent="-265430" algn="l">
              <a:lnSpc>
                <a:spcPts val="2640"/>
              </a:lnSpc>
              <a:buFont typeface="Arial" panose="020B0604020202020204"/>
              <a:buChar char="•"/>
            </a:pPr>
            <a:r>
              <a:rPr lang="en-US" sz="2200">
                <a:solidFill>
                  <a:srgbClr val="94A3B8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rPr>
              <a:t>Exercise flow &amp; sensor screens</a:t>
            </a:r>
            <a:endParaRPr lang="en-US" sz="2200">
              <a:solidFill>
                <a:srgbClr val="94A3B8"/>
              </a:solidFill>
              <a:latin typeface="Calibri (MS)" panose="020F0502020204030204"/>
              <a:ea typeface="Calibri (MS)" panose="020F0502020204030204"/>
              <a:cs typeface="Calibri (MS)" panose="020F0502020204030204"/>
              <a:sym typeface="Calibri (MS)" panose="020F0502020204030204"/>
            </a:endParaRPr>
          </a:p>
          <a:p>
            <a:pPr marL="530860" lvl="1" indent="-265430" algn="l">
              <a:lnSpc>
                <a:spcPts val="2640"/>
              </a:lnSpc>
              <a:buFont typeface="Arial" panose="020B0604020202020204"/>
              <a:buChar char="•"/>
            </a:pPr>
            <a:r>
              <a:rPr lang="en-US" sz="2200">
                <a:solidFill>
                  <a:srgbClr val="94A3B8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rPr>
              <a:t>Homepage &amp; history page</a:t>
            </a:r>
            <a:endParaRPr lang="en-US" sz="2200">
              <a:solidFill>
                <a:srgbClr val="94A3B8"/>
              </a:solidFill>
              <a:latin typeface="Calibri (MS)" panose="020F0502020204030204"/>
              <a:ea typeface="Calibri (MS)" panose="020F0502020204030204"/>
              <a:cs typeface="Calibri (MS)" panose="020F0502020204030204"/>
              <a:sym typeface="Calibri (MS)" panose="020F0502020204030204"/>
            </a:endParaRPr>
          </a:p>
          <a:p>
            <a:pPr marL="530860" lvl="1" indent="-265430" algn="l">
              <a:lnSpc>
                <a:spcPts val="2640"/>
              </a:lnSpc>
              <a:buFont typeface="Arial" panose="020B0604020202020204"/>
              <a:buChar char="•"/>
            </a:pPr>
            <a:r>
              <a:rPr lang="en-US" sz="2200">
                <a:solidFill>
                  <a:srgbClr val="94A3B8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rPr>
              <a:t>Interface Specification (initial)</a:t>
            </a:r>
            <a:endParaRPr lang="en-US" sz="2200">
              <a:solidFill>
                <a:srgbClr val="94A3B8"/>
              </a:solidFill>
              <a:latin typeface="Calibri (MS)" panose="020F0502020204030204"/>
              <a:ea typeface="Calibri (MS)" panose="020F0502020204030204"/>
              <a:cs typeface="Calibri (MS)" panose="020F0502020204030204"/>
              <a:sym typeface="Calibri (MS)" panose="020F0502020204030204"/>
            </a:endParaRPr>
          </a:p>
        </p:txBody>
      </p:sp>
      <p:grpSp>
        <p:nvGrpSpPr>
          <p:cNvPr id="50" name="Group 50"/>
          <p:cNvGrpSpPr/>
          <p:nvPr/>
        </p:nvGrpSpPr>
        <p:grpSpPr>
          <a:xfrm rot="0">
            <a:off x="9222743" y="5876039"/>
            <a:ext cx="8108699" cy="3408683"/>
            <a:chOff x="0" y="0"/>
            <a:chExt cx="10811599" cy="4544911"/>
          </a:xfrm>
        </p:grpSpPr>
        <p:sp>
          <p:nvSpPr>
            <p:cNvPr id="51" name="Freeform 51"/>
            <p:cNvSpPr/>
            <p:nvPr/>
          </p:nvSpPr>
          <p:spPr>
            <a:xfrm>
              <a:off x="16891" y="16891"/>
              <a:ext cx="10777728" cy="4511040"/>
            </a:xfrm>
            <a:custGeom>
              <a:avLst/>
              <a:gdLst/>
              <a:ahLst/>
              <a:cxnLst/>
              <a:rect l="l" t="t" r="r" b="b"/>
              <a:pathLst>
                <a:path w="10777728" h="4511040">
                  <a:moveTo>
                    <a:pt x="0" y="0"/>
                  </a:moveTo>
                  <a:lnTo>
                    <a:pt x="10777728" y="0"/>
                  </a:lnTo>
                  <a:lnTo>
                    <a:pt x="10777728" y="4511040"/>
                  </a:lnTo>
                  <a:lnTo>
                    <a:pt x="0" y="4511040"/>
                  </a:lnTo>
                  <a:close/>
                </a:path>
              </a:pathLst>
            </a:custGeom>
            <a:solidFill>
              <a:srgbClr val="141C2E"/>
            </a:solidFill>
          </p:spPr>
        </p:sp>
        <p:sp>
          <p:nvSpPr>
            <p:cNvPr id="52" name="Freeform 52"/>
            <p:cNvSpPr/>
            <p:nvPr/>
          </p:nvSpPr>
          <p:spPr>
            <a:xfrm>
              <a:off x="0" y="0"/>
              <a:ext cx="10811510" cy="4544822"/>
            </a:xfrm>
            <a:custGeom>
              <a:avLst/>
              <a:gdLst/>
              <a:ahLst/>
              <a:cxnLst/>
              <a:rect l="l" t="t" r="r" b="b"/>
              <a:pathLst>
                <a:path w="10811510" h="4544822">
                  <a:moveTo>
                    <a:pt x="16891" y="0"/>
                  </a:moveTo>
                  <a:lnTo>
                    <a:pt x="10794619" y="0"/>
                  </a:lnTo>
                  <a:cubicBezTo>
                    <a:pt x="10804017" y="0"/>
                    <a:pt x="10811510" y="7620"/>
                    <a:pt x="10811510" y="16891"/>
                  </a:cubicBezTo>
                  <a:lnTo>
                    <a:pt x="10811510" y="4527931"/>
                  </a:lnTo>
                  <a:cubicBezTo>
                    <a:pt x="10811510" y="4537329"/>
                    <a:pt x="10803889" y="4544822"/>
                    <a:pt x="10794619" y="4544822"/>
                  </a:cubicBezTo>
                  <a:lnTo>
                    <a:pt x="16891" y="4544822"/>
                  </a:lnTo>
                  <a:cubicBezTo>
                    <a:pt x="7493" y="4544822"/>
                    <a:pt x="0" y="4537202"/>
                    <a:pt x="0" y="45279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527931"/>
                  </a:lnTo>
                  <a:lnTo>
                    <a:pt x="16891" y="4527931"/>
                  </a:lnTo>
                  <a:lnTo>
                    <a:pt x="16891" y="4511040"/>
                  </a:lnTo>
                  <a:lnTo>
                    <a:pt x="10794619" y="4511040"/>
                  </a:lnTo>
                  <a:lnTo>
                    <a:pt x="10794619" y="4527931"/>
                  </a:lnTo>
                  <a:lnTo>
                    <a:pt x="10777727" y="4527931"/>
                  </a:lnTo>
                  <a:lnTo>
                    <a:pt x="10777727" y="16891"/>
                  </a:lnTo>
                  <a:lnTo>
                    <a:pt x="10794619" y="16891"/>
                  </a:lnTo>
                  <a:lnTo>
                    <a:pt x="1079461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E2D45"/>
            </a:solidFill>
          </p:spPr>
        </p:sp>
      </p:grpSp>
      <p:grpSp>
        <p:nvGrpSpPr>
          <p:cNvPr id="53" name="Group 53"/>
          <p:cNvGrpSpPr/>
          <p:nvPr/>
        </p:nvGrpSpPr>
        <p:grpSpPr>
          <a:xfrm rot="0">
            <a:off x="9222743" y="5876039"/>
            <a:ext cx="144275" cy="3408683"/>
            <a:chOff x="0" y="0"/>
            <a:chExt cx="192367" cy="4544911"/>
          </a:xfrm>
        </p:grpSpPr>
        <p:sp>
          <p:nvSpPr>
            <p:cNvPr id="54" name="Freeform 54"/>
            <p:cNvSpPr/>
            <p:nvPr/>
          </p:nvSpPr>
          <p:spPr>
            <a:xfrm>
              <a:off x="16891" y="16891"/>
              <a:ext cx="158496" cy="4511040"/>
            </a:xfrm>
            <a:custGeom>
              <a:avLst/>
              <a:gdLst/>
              <a:ahLst/>
              <a:cxnLst/>
              <a:rect l="l" t="t" r="r" b="b"/>
              <a:pathLst>
                <a:path w="158496" h="4511040">
                  <a:moveTo>
                    <a:pt x="0" y="0"/>
                  </a:moveTo>
                  <a:lnTo>
                    <a:pt x="158496" y="0"/>
                  </a:lnTo>
                  <a:lnTo>
                    <a:pt x="158496" y="4511040"/>
                  </a:lnTo>
                  <a:lnTo>
                    <a:pt x="0" y="4511040"/>
                  </a:lnTo>
                  <a:close/>
                </a:path>
              </a:pathLst>
            </a:custGeom>
            <a:solidFill>
              <a:srgbClr val="C084FC"/>
            </a:solidFill>
          </p:spPr>
        </p:sp>
        <p:sp>
          <p:nvSpPr>
            <p:cNvPr id="55" name="Freeform 55"/>
            <p:cNvSpPr/>
            <p:nvPr/>
          </p:nvSpPr>
          <p:spPr>
            <a:xfrm>
              <a:off x="0" y="0"/>
              <a:ext cx="192278" cy="4544822"/>
            </a:xfrm>
            <a:custGeom>
              <a:avLst/>
              <a:gdLst/>
              <a:ahLst/>
              <a:cxnLst/>
              <a:rect l="l" t="t" r="r" b="b"/>
              <a:pathLst>
                <a:path w="192278" h="4544822">
                  <a:moveTo>
                    <a:pt x="16891" y="0"/>
                  </a:moveTo>
                  <a:lnTo>
                    <a:pt x="175387" y="0"/>
                  </a:lnTo>
                  <a:cubicBezTo>
                    <a:pt x="184785" y="0"/>
                    <a:pt x="192278" y="7620"/>
                    <a:pt x="192278" y="16891"/>
                  </a:cubicBezTo>
                  <a:lnTo>
                    <a:pt x="192278" y="4527931"/>
                  </a:lnTo>
                  <a:cubicBezTo>
                    <a:pt x="192278" y="4537329"/>
                    <a:pt x="184658" y="4544822"/>
                    <a:pt x="175387" y="4544822"/>
                  </a:cubicBezTo>
                  <a:lnTo>
                    <a:pt x="16891" y="4544822"/>
                  </a:lnTo>
                  <a:cubicBezTo>
                    <a:pt x="7493" y="4544822"/>
                    <a:pt x="0" y="4537202"/>
                    <a:pt x="0" y="45279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527931"/>
                  </a:lnTo>
                  <a:lnTo>
                    <a:pt x="16891" y="4527931"/>
                  </a:lnTo>
                  <a:lnTo>
                    <a:pt x="16891" y="4511040"/>
                  </a:lnTo>
                  <a:lnTo>
                    <a:pt x="175387" y="4511040"/>
                  </a:lnTo>
                  <a:lnTo>
                    <a:pt x="175387" y="4527931"/>
                  </a:lnTo>
                  <a:lnTo>
                    <a:pt x="158496" y="4527931"/>
                  </a:lnTo>
                  <a:lnTo>
                    <a:pt x="158496" y="16891"/>
                  </a:lnTo>
                  <a:lnTo>
                    <a:pt x="175387" y="16891"/>
                  </a:lnTo>
                  <a:lnTo>
                    <a:pt x="175387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C084FC"/>
            </a:solidFill>
          </p:spPr>
        </p:sp>
      </p:grpSp>
      <p:grpSp>
        <p:nvGrpSpPr>
          <p:cNvPr id="56" name="Group 56"/>
          <p:cNvGrpSpPr/>
          <p:nvPr/>
        </p:nvGrpSpPr>
        <p:grpSpPr>
          <a:xfrm rot="0">
            <a:off x="9564624" y="6126480"/>
            <a:ext cx="7315200" cy="512064"/>
            <a:chOff x="0" y="0"/>
            <a:chExt cx="9753600" cy="682752"/>
          </a:xfrm>
        </p:grpSpPr>
        <p:sp>
          <p:nvSpPr>
            <p:cNvPr id="57" name="Freeform 57"/>
            <p:cNvSpPr/>
            <p:nvPr/>
          </p:nvSpPr>
          <p:spPr>
            <a:xfrm>
              <a:off x="0" y="0"/>
              <a:ext cx="9753600" cy="682752"/>
            </a:xfrm>
            <a:custGeom>
              <a:avLst/>
              <a:gdLst/>
              <a:ahLst/>
              <a:cxnLst/>
              <a:rect l="l" t="t" r="r" b="b"/>
              <a:pathLst>
                <a:path w="9753600" h="682752">
                  <a:moveTo>
                    <a:pt x="0" y="0"/>
                  </a:moveTo>
                  <a:lnTo>
                    <a:pt x="9753600" y="0"/>
                  </a:lnTo>
                  <a:lnTo>
                    <a:pt x="97536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1">
                <a:alphaModFix amt="0"/>
              </a:blip>
              <a:stretch>
                <a:fillRect t="-228357" b="-228357"/>
              </a:stretch>
            </a:blipFill>
          </p:spPr>
        </p:sp>
        <p:sp>
          <p:nvSpPr>
            <p:cNvPr id="58" name="TextBox 58"/>
            <p:cNvSpPr txBox="1"/>
            <p:nvPr/>
          </p:nvSpPr>
          <p:spPr>
            <a:xfrm>
              <a:off x="0" y="-47625"/>
              <a:ext cx="9753600" cy="73037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000"/>
                </a:lnSpc>
              </a:pPr>
              <a:r>
                <a:rPr lang="en-US" sz="2500" b="1">
                  <a:solidFill>
                    <a:srgbClr val="E2E8F0"/>
                  </a:solidFill>
                  <a:latin typeface="Calibri (MS) Bold" panose="020F0702030404030204"/>
                  <a:ea typeface="Calibri (MS) Bold" panose="020F0702030404030204"/>
                  <a:cs typeface="Calibri (MS) Bold" panose="020F0702030404030204"/>
                  <a:sym typeface="Calibri (MS) Bold" panose="020F0702030404030204"/>
                </a:rPr>
                <a:t>Sara Costa</a:t>
              </a:r>
              <a:endParaRPr lang="en-US" sz="2500" b="1">
                <a:solidFill>
                  <a:srgbClr val="E2E8F0"/>
                </a:solidFill>
                <a:latin typeface="Calibri (MS) Bold" panose="020F0702030404030204"/>
                <a:ea typeface="Calibri (MS) Bold" panose="020F0702030404030204"/>
                <a:cs typeface="Calibri (MS) Bold" panose="020F0702030404030204"/>
                <a:sym typeface="Calibri (MS) Bold" panose="020F0702030404030204"/>
              </a:endParaRPr>
            </a:p>
          </p:txBody>
        </p:sp>
      </p:grpSp>
      <p:grpSp>
        <p:nvGrpSpPr>
          <p:cNvPr id="59" name="Group 59"/>
          <p:cNvGrpSpPr/>
          <p:nvPr/>
        </p:nvGrpSpPr>
        <p:grpSpPr>
          <a:xfrm rot="0">
            <a:off x="9564624" y="6601968"/>
            <a:ext cx="7315200" cy="402336"/>
            <a:chOff x="0" y="0"/>
            <a:chExt cx="9753600" cy="536448"/>
          </a:xfrm>
        </p:grpSpPr>
        <p:sp>
          <p:nvSpPr>
            <p:cNvPr id="60" name="Freeform 60"/>
            <p:cNvSpPr/>
            <p:nvPr/>
          </p:nvSpPr>
          <p:spPr>
            <a:xfrm>
              <a:off x="0" y="0"/>
              <a:ext cx="9753600" cy="536448"/>
            </a:xfrm>
            <a:custGeom>
              <a:avLst/>
              <a:gdLst/>
              <a:ahLst/>
              <a:cxnLst/>
              <a:rect l="l" t="t" r="r" b="b"/>
              <a:pathLst>
                <a:path w="9753600" h="536448">
                  <a:moveTo>
                    <a:pt x="0" y="0"/>
                  </a:moveTo>
                  <a:lnTo>
                    <a:pt x="9753600" y="0"/>
                  </a:lnTo>
                  <a:lnTo>
                    <a:pt x="975360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1">
                <a:alphaModFix amt="0"/>
              </a:blip>
              <a:stretch>
                <a:fillRect t="-304273" b="-304273"/>
              </a:stretch>
            </a:blipFill>
          </p:spPr>
        </p:sp>
        <p:sp>
          <p:nvSpPr>
            <p:cNvPr id="61" name="TextBox 61"/>
            <p:cNvSpPr txBox="1"/>
            <p:nvPr/>
          </p:nvSpPr>
          <p:spPr>
            <a:xfrm>
              <a:off x="0" y="-38100"/>
              <a:ext cx="9753600" cy="57454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C084FC"/>
                  </a:solidFill>
                  <a:latin typeface="Calibri (MS)" panose="020F0502020204030204"/>
                  <a:ea typeface="Calibri (MS)" panose="020F0502020204030204"/>
                  <a:cs typeface="Calibri (MS)" panose="020F0502020204030204"/>
                  <a:sym typeface="Calibri (MS)" panose="020F0502020204030204"/>
                </a:rPr>
                <a:t>Programmer / Tester</a:t>
              </a:r>
              <a:endParaRPr lang="en-US" sz="1800">
                <a:solidFill>
                  <a:srgbClr val="C084FC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endParaRPr>
            </a:p>
          </p:txBody>
        </p:sp>
      </p:grpSp>
      <p:sp>
        <p:nvSpPr>
          <p:cNvPr id="62" name="TextBox 62"/>
          <p:cNvSpPr txBox="1"/>
          <p:nvPr/>
        </p:nvSpPr>
        <p:spPr>
          <a:xfrm>
            <a:off x="9656064" y="7057263"/>
            <a:ext cx="7132320" cy="20044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0860" lvl="1" indent="-265430" algn="l">
              <a:lnSpc>
                <a:spcPts val="2640"/>
              </a:lnSpc>
              <a:buFont typeface="Arial" panose="020B0604020202020204"/>
              <a:buChar char="•"/>
            </a:pPr>
            <a:r>
              <a:rPr lang="en-US" sz="2200">
                <a:solidFill>
                  <a:srgbClr val="94A3B8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rPr>
              <a:t>Patient app mockups</a:t>
            </a:r>
            <a:endParaRPr lang="en-US" sz="2200">
              <a:solidFill>
                <a:srgbClr val="94A3B8"/>
              </a:solidFill>
              <a:latin typeface="Calibri (MS)" panose="020F0502020204030204"/>
              <a:ea typeface="Calibri (MS)" panose="020F0502020204030204"/>
              <a:cs typeface="Calibri (MS)" panose="020F0502020204030204"/>
              <a:sym typeface="Calibri (MS)" panose="020F0502020204030204"/>
            </a:endParaRPr>
          </a:p>
          <a:p>
            <a:pPr marL="530860" lvl="1" indent="-265430" algn="l">
              <a:lnSpc>
                <a:spcPts val="2640"/>
              </a:lnSpc>
              <a:buFont typeface="Arial" panose="020B0604020202020204"/>
              <a:buChar char="•"/>
            </a:pPr>
            <a:r>
              <a:rPr lang="en-US" sz="2200">
                <a:solidFill>
                  <a:srgbClr val="94A3B8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rPr>
              <a:t>UI redesign &amp; accessibility improvements</a:t>
            </a:r>
            <a:endParaRPr lang="en-US" sz="2200">
              <a:solidFill>
                <a:srgbClr val="94A3B8"/>
              </a:solidFill>
              <a:latin typeface="Calibri (MS)" panose="020F0502020204030204"/>
              <a:ea typeface="Calibri (MS)" panose="020F0502020204030204"/>
              <a:cs typeface="Calibri (MS)" panose="020F0502020204030204"/>
              <a:sym typeface="Calibri (MS)" panose="020F0502020204030204"/>
            </a:endParaRPr>
          </a:p>
          <a:p>
            <a:pPr marL="530860" lvl="1" indent="-265430" algn="l">
              <a:lnSpc>
                <a:spcPts val="2640"/>
              </a:lnSpc>
              <a:buFont typeface="Arial" panose="020B0604020202020204"/>
              <a:buChar char="•"/>
            </a:pPr>
            <a:r>
              <a:rPr lang="en-US" sz="2200">
                <a:solidFill>
                  <a:srgbClr val="94A3B8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rPr>
              <a:t>Pain tracking &amp; clinical features</a:t>
            </a:r>
            <a:endParaRPr lang="en-US" sz="2200">
              <a:solidFill>
                <a:srgbClr val="94A3B8"/>
              </a:solidFill>
              <a:latin typeface="Calibri (MS)" panose="020F0502020204030204"/>
              <a:ea typeface="Calibri (MS)" panose="020F0502020204030204"/>
              <a:cs typeface="Calibri (MS)" panose="020F0502020204030204"/>
              <a:sym typeface="Calibri (MS)" panose="020F0502020204030204"/>
            </a:endParaRPr>
          </a:p>
          <a:p>
            <a:pPr marL="530860" lvl="1" indent="-265430" algn="l">
              <a:lnSpc>
                <a:spcPts val="2640"/>
              </a:lnSpc>
              <a:buFont typeface="Arial" panose="020B0604020202020204"/>
              <a:buChar char="•"/>
            </a:pPr>
            <a:r>
              <a:rPr lang="en-US" sz="2200">
                <a:solidFill>
                  <a:srgbClr val="94A3B8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rPr>
              <a:t>Interface Specification (updates &amp; corrections)</a:t>
            </a:r>
            <a:endParaRPr lang="en-US" sz="2200">
              <a:solidFill>
                <a:srgbClr val="94A3B8"/>
              </a:solidFill>
              <a:latin typeface="Calibri (MS)" panose="020F0502020204030204"/>
              <a:ea typeface="Calibri (MS)" panose="020F0502020204030204"/>
              <a:cs typeface="Calibri (MS)" panose="020F0502020204030204"/>
              <a:sym typeface="Calibri (MS)" panose="020F0502020204030204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822960" y="402336"/>
            <a:ext cx="16642080" cy="402336"/>
            <a:chOff x="0" y="0"/>
            <a:chExt cx="22189440" cy="53644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2189439" cy="536448"/>
            </a:xfrm>
            <a:custGeom>
              <a:avLst/>
              <a:gdLst/>
              <a:ahLst/>
              <a:cxnLst/>
              <a:rect l="l" t="t" r="r" b="b"/>
              <a:pathLst>
                <a:path w="22189439" h="536448">
                  <a:moveTo>
                    <a:pt x="0" y="0"/>
                  </a:moveTo>
                  <a:lnTo>
                    <a:pt x="22189439" y="0"/>
                  </a:lnTo>
                  <a:lnTo>
                    <a:pt x="22189439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1">
                <a:alphaModFix amt="0"/>
              </a:blip>
              <a:stretch>
                <a:fillRect t="-755972" b="-755972"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2189440" cy="57454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800"/>
                </a:lnSpc>
              </a:pPr>
              <a:r>
                <a:rPr lang="en-US" sz="1500" b="1" spc="600">
                  <a:solidFill>
                    <a:srgbClr val="34D399"/>
                  </a:solidFill>
                  <a:latin typeface="Calibri (MS) Bold" panose="020F0702030404030204"/>
                  <a:ea typeface="Calibri (MS) Bold" panose="020F0702030404030204"/>
                  <a:cs typeface="Calibri (MS) Bold" panose="020F0702030404030204"/>
                  <a:sym typeface="Calibri (MS) Bold" panose="020F0702030404030204"/>
                </a:rPr>
                <a:t>INDIVIDUAL CONTRIBUTIONS — WEEKS 3, 4 &amp; 5</a:t>
              </a:r>
              <a:endParaRPr lang="en-US" sz="1500" b="1" spc="600">
                <a:solidFill>
                  <a:srgbClr val="34D399"/>
                </a:solidFill>
                <a:latin typeface="Calibri (MS) Bold" panose="020F0702030404030204"/>
                <a:ea typeface="Calibri (MS) Bold" panose="020F0702030404030204"/>
                <a:cs typeface="Calibri (MS) Bold" panose="020F0702030404030204"/>
                <a:sym typeface="Calibri (MS) Bold" panose="020F0702030404030204"/>
              </a:endParaRPr>
            </a:p>
          </p:txBody>
        </p:sp>
      </p:grpSp>
      <p:grpSp>
        <p:nvGrpSpPr>
          <p:cNvPr id="5" name="Group 5"/>
          <p:cNvGrpSpPr/>
          <p:nvPr/>
        </p:nvGrpSpPr>
        <p:grpSpPr>
          <a:xfrm rot="0">
            <a:off x="822960" y="804672"/>
            <a:ext cx="16642080" cy="1005840"/>
            <a:chOff x="0" y="0"/>
            <a:chExt cx="22189440" cy="134112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2189439" cy="1341120"/>
            </a:xfrm>
            <a:custGeom>
              <a:avLst/>
              <a:gdLst/>
              <a:ahLst/>
              <a:cxnLst/>
              <a:rect l="l" t="t" r="r" b="b"/>
              <a:pathLst>
                <a:path w="22189439" h="1341120">
                  <a:moveTo>
                    <a:pt x="0" y="0"/>
                  </a:moveTo>
                  <a:lnTo>
                    <a:pt x="22189439" y="0"/>
                  </a:lnTo>
                  <a:lnTo>
                    <a:pt x="22189439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1">
                <a:alphaModFix amt="0"/>
              </a:blip>
              <a:stretch>
                <a:fillRect t="-272388" b="-272388"/>
              </a:stretch>
            </a:blipFill>
          </p:spPr>
        </p:sp>
        <p:sp>
          <p:nvSpPr>
            <p:cNvPr id="7" name="TextBox 7"/>
            <p:cNvSpPr txBox="1"/>
            <p:nvPr/>
          </p:nvSpPr>
          <p:spPr>
            <a:xfrm>
              <a:off x="0" y="-85725"/>
              <a:ext cx="22189440" cy="14268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760"/>
                </a:lnSpc>
              </a:pPr>
              <a:r>
                <a:rPr lang="en-US" sz="4800" b="1">
                  <a:solidFill>
                    <a:srgbClr val="E2E8F0"/>
                  </a:solidFill>
                  <a:latin typeface="Calibri (MS) Bold" panose="020F0702030404030204"/>
                  <a:ea typeface="Calibri (MS) Bold" panose="020F0702030404030204"/>
                  <a:cs typeface="Calibri (MS) Bold" panose="020F0702030404030204"/>
                  <a:sym typeface="Calibri (MS) Bold" panose="020F0702030404030204"/>
                </a:rPr>
                <a:t>What Each Member Has Done</a:t>
              </a:r>
              <a:endParaRPr lang="en-US" sz="4800" b="1">
                <a:solidFill>
                  <a:srgbClr val="E2E8F0"/>
                </a:solidFill>
                <a:latin typeface="Calibri (MS) Bold" panose="020F0702030404030204"/>
                <a:ea typeface="Calibri (MS) Bold" panose="020F0702030404030204"/>
                <a:cs typeface="Calibri (MS) Bold" panose="020F0702030404030204"/>
                <a:sym typeface="Calibri (MS) Bold" panose="020F0702030404030204"/>
              </a:endParaRPr>
            </a:p>
          </p:txBody>
        </p:sp>
      </p:grpSp>
      <p:grpSp>
        <p:nvGrpSpPr>
          <p:cNvPr id="8" name="Group 8"/>
          <p:cNvGrpSpPr/>
          <p:nvPr/>
        </p:nvGrpSpPr>
        <p:grpSpPr>
          <a:xfrm rot="0">
            <a:off x="810263" y="1834391"/>
            <a:ext cx="16667483" cy="71123"/>
            <a:chOff x="0" y="0"/>
            <a:chExt cx="22223311" cy="94831"/>
          </a:xfrm>
        </p:grpSpPr>
        <p:sp>
          <p:nvSpPr>
            <p:cNvPr id="9" name="Freeform 9"/>
            <p:cNvSpPr/>
            <p:nvPr/>
          </p:nvSpPr>
          <p:spPr>
            <a:xfrm>
              <a:off x="16891" y="16891"/>
              <a:ext cx="22189439" cy="60960"/>
            </a:xfrm>
            <a:custGeom>
              <a:avLst/>
              <a:gdLst/>
              <a:ahLst/>
              <a:cxnLst/>
              <a:rect l="l" t="t" r="r" b="b"/>
              <a:pathLst>
                <a:path w="22189439" h="60960">
                  <a:moveTo>
                    <a:pt x="0" y="0"/>
                  </a:moveTo>
                  <a:lnTo>
                    <a:pt x="22189439" y="0"/>
                  </a:lnTo>
                  <a:lnTo>
                    <a:pt x="22189439" y="60960"/>
                  </a:lnTo>
                  <a:lnTo>
                    <a:pt x="0" y="60960"/>
                  </a:lnTo>
                  <a:close/>
                </a:path>
              </a:pathLst>
            </a:custGeom>
            <a:solidFill>
              <a:srgbClr val="1E2D45"/>
            </a:solidFill>
          </p:spPr>
        </p:sp>
        <p:sp>
          <p:nvSpPr>
            <p:cNvPr id="10" name="Freeform 10"/>
            <p:cNvSpPr/>
            <p:nvPr/>
          </p:nvSpPr>
          <p:spPr>
            <a:xfrm>
              <a:off x="0" y="0"/>
              <a:ext cx="22223222" cy="94744"/>
            </a:xfrm>
            <a:custGeom>
              <a:avLst/>
              <a:gdLst/>
              <a:ahLst/>
              <a:cxnLst/>
              <a:rect l="l" t="t" r="r" b="b"/>
              <a:pathLst>
                <a:path w="22223222" h="94744">
                  <a:moveTo>
                    <a:pt x="16891" y="0"/>
                  </a:moveTo>
                  <a:lnTo>
                    <a:pt x="22206330" y="0"/>
                  </a:lnTo>
                  <a:cubicBezTo>
                    <a:pt x="22215729" y="0"/>
                    <a:pt x="22223222" y="7620"/>
                    <a:pt x="22223222" y="16891"/>
                  </a:cubicBezTo>
                  <a:lnTo>
                    <a:pt x="22223222" y="77851"/>
                  </a:lnTo>
                  <a:cubicBezTo>
                    <a:pt x="22223222" y="87249"/>
                    <a:pt x="22215602" y="94742"/>
                    <a:pt x="22206330" y="94742"/>
                  </a:cubicBezTo>
                  <a:lnTo>
                    <a:pt x="16891" y="94742"/>
                  </a:lnTo>
                  <a:cubicBezTo>
                    <a:pt x="7620" y="94869"/>
                    <a:pt x="0" y="87249"/>
                    <a:pt x="0" y="778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77851"/>
                  </a:lnTo>
                  <a:lnTo>
                    <a:pt x="16891" y="77851"/>
                  </a:lnTo>
                  <a:lnTo>
                    <a:pt x="16891" y="60960"/>
                  </a:lnTo>
                  <a:lnTo>
                    <a:pt x="22206330" y="60960"/>
                  </a:lnTo>
                  <a:lnTo>
                    <a:pt x="22206330" y="77851"/>
                  </a:lnTo>
                  <a:lnTo>
                    <a:pt x="22189439" y="77851"/>
                  </a:lnTo>
                  <a:lnTo>
                    <a:pt x="22189439" y="16891"/>
                  </a:lnTo>
                  <a:lnTo>
                    <a:pt x="22206330" y="16891"/>
                  </a:lnTo>
                  <a:lnTo>
                    <a:pt x="2220633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E2D45"/>
            </a:solidFill>
          </p:spPr>
        </p:sp>
      </p:grpSp>
      <p:graphicFrame>
        <p:nvGraphicFramePr>
          <p:cNvPr id="11" name="Table 11"/>
          <p:cNvGraphicFramePr>
            <a:graphicFrameLocks noGrp="1"/>
          </p:cNvGraphicFramePr>
          <p:nvPr/>
        </p:nvGraphicFramePr>
        <p:xfrm>
          <a:off x="822960" y="2011680"/>
          <a:ext cx="16002000" cy="8069952"/>
        </p:xfrm>
        <a:graphic>
          <a:graphicData uri="http://schemas.openxmlformats.org/drawingml/2006/table">
            <a:tbl>
              <a:tblPr/>
              <a:tblGrid>
                <a:gridCol w="3381805"/>
                <a:gridCol w="3843146"/>
                <a:gridCol w="4210683"/>
                <a:gridCol w="4566366"/>
              </a:tblGrid>
              <a:tr h="602781">
                <a:tc>
                  <a:txBody>
                    <a:bodyPr rtlCol="0"/>
                    <a:lstStyle/>
                    <a:p>
                      <a:pPr algn="ctr">
                        <a:lnSpc>
                          <a:spcPts val="2280"/>
                        </a:lnSpc>
                        <a:defRPr/>
                      </a:pPr>
                      <a:r>
                        <a:rPr lang="en-US" sz="1900" b="1">
                          <a:solidFill>
                            <a:srgbClr val="0B0F1A"/>
                          </a:solidFill>
                          <a:latin typeface="Calibri (MS) Bold" panose="020F0702030404030204"/>
                          <a:ea typeface="Calibri (MS) Bold" panose="020F0702030404030204"/>
                          <a:cs typeface="Calibri (MS) Bold" panose="020F0702030404030204"/>
                          <a:sym typeface="Calibri (MS) Bold" panose="020F0702030404030204"/>
                        </a:rPr>
                        <a:t>Member</a:t>
                      </a:r>
                      <a:endParaRPr lang="en-US" sz="1100"/>
                    </a:p>
                  </a:txBody>
                  <a:tcPr marT="91440" marB="91440" anchor="t">
                    <a:lnL w="1016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BDF8"/>
                    </a:solidFill>
                  </a:tcPr>
                </a:tc>
                <a:tc>
                  <a:txBody>
                    <a:bodyPr rtlCol="0"/>
                    <a:lstStyle/>
                    <a:p>
                      <a:pPr algn="ctr">
                        <a:lnSpc>
                          <a:spcPts val="2280"/>
                        </a:lnSpc>
                        <a:defRPr/>
                      </a:pPr>
                      <a:r>
                        <a:rPr lang="en-US" sz="1900" b="1">
                          <a:solidFill>
                            <a:srgbClr val="0B0F1A"/>
                          </a:solidFill>
                          <a:latin typeface="Calibri (MS) Bold" panose="020F0702030404030204"/>
                          <a:ea typeface="Calibri (MS) Bold" panose="020F0702030404030204"/>
                          <a:cs typeface="Calibri (MS) Bold" panose="020F0702030404030204"/>
                          <a:sym typeface="Calibri (MS) Bold" panose="020F0702030404030204"/>
                        </a:rPr>
                        <a:t>Week 3</a:t>
                      </a:r>
                      <a:endParaRPr lang="en-US" sz="1100"/>
                    </a:p>
                  </a:txBody>
                  <a:tcPr marT="91440" marB="91440" anchor="t">
                    <a:lnL w="1016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BDF8"/>
                    </a:solidFill>
                  </a:tcPr>
                </a:tc>
                <a:tc>
                  <a:txBody>
                    <a:bodyPr rtlCol="0"/>
                    <a:lstStyle/>
                    <a:p>
                      <a:pPr algn="ctr">
                        <a:lnSpc>
                          <a:spcPts val="2280"/>
                        </a:lnSpc>
                        <a:defRPr/>
                      </a:pPr>
                      <a:r>
                        <a:rPr lang="en-US" sz="1900" b="1">
                          <a:solidFill>
                            <a:srgbClr val="0B0F1A"/>
                          </a:solidFill>
                          <a:latin typeface="Calibri (MS) Bold" panose="020F0702030404030204"/>
                          <a:ea typeface="Calibri (MS) Bold" panose="020F0702030404030204"/>
                          <a:cs typeface="Calibri (MS) Bold" panose="020F0702030404030204"/>
                          <a:sym typeface="Calibri (MS) Bold" panose="020F0702030404030204"/>
                        </a:rPr>
                        <a:t>Week 4</a:t>
                      </a:r>
                      <a:endParaRPr lang="en-US" sz="1100"/>
                    </a:p>
                  </a:txBody>
                  <a:tcPr marT="91440" marB="91440" anchor="t">
                    <a:lnL w="1016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BDF8"/>
                    </a:solidFill>
                  </a:tcPr>
                </a:tc>
                <a:tc>
                  <a:txBody>
                    <a:bodyPr rtlCol="0"/>
                    <a:lstStyle/>
                    <a:p>
                      <a:pPr algn="ctr">
                        <a:lnSpc>
                          <a:spcPts val="2280"/>
                        </a:lnSpc>
                        <a:defRPr/>
                      </a:pPr>
                      <a:r>
                        <a:rPr lang="en-US" sz="1900" b="1">
                          <a:solidFill>
                            <a:srgbClr val="0B0F1A"/>
                          </a:solidFill>
                          <a:latin typeface="Calibri (MS) Bold" panose="020F0702030404030204"/>
                          <a:ea typeface="Calibri (MS) Bold" panose="020F0702030404030204"/>
                          <a:cs typeface="Calibri (MS) Bold" panose="020F0702030404030204"/>
                          <a:sym typeface="Calibri (MS) Bold" panose="020F0702030404030204"/>
                        </a:rPr>
                        <a:t>Week 5</a:t>
                      </a:r>
                      <a:endParaRPr lang="en-US" sz="1100"/>
                    </a:p>
                  </a:txBody>
                  <a:tcPr marT="91440" marB="91440" anchor="t">
                    <a:lnL w="1016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BDF8"/>
                    </a:solidFill>
                  </a:tcPr>
                </a:tc>
              </a:tr>
              <a:tr h="2307956">
                <a:tc>
                  <a:txBody>
                    <a:bodyPr rtlCol="0"/>
                    <a:lstStyle/>
                    <a:p>
                      <a:pPr algn="ctr">
                        <a:lnSpc>
                          <a:spcPts val="2640"/>
                        </a:lnSpc>
                        <a:defRPr/>
                      </a:pPr>
                      <a:r>
                        <a:rPr lang="en-US" sz="2200" b="1">
                          <a:solidFill>
                            <a:srgbClr val="38BDF8"/>
                          </a:solidFill>
                          <a:latin typeface="Calibri (MS) Bold" panose="020F0702030404030204"/>
                          <a:ea typeface="Calibri (MS) Bold" panose="020F0702030404030204"/>
                          <a:cs typeface="Calibri (MS) Bold" panose="020F0702030404030204"/>
                          <a:sym typeface="Calibri (MS) Bold" panose="020F0702030404030204"/>
                        </a:rPr>
                        <a:t>Diogo Pinhel</a:t>
                      </a:r>
                      <a:endParaRPr lang="en-US" sz="1100"/>
                    </a:p>
                    <a:p>
                      <a:pPr algn="ctr">
                        <a:lnSpc>
                          <a:spcPts val="2640"/>
                        </a:lnSpc>
                      </a:pPr>
                      <a:r>
                        <a:rPr lang="en-US" sz="2200" b="1">
                          <a:solidFill>
                            <a:srgbClr val="38BDF8"/>
                          </a:solidFill>
                          <a:latin typeface="Calibri (MS) Bold" panose="020F0702030404030204"/>
                          <a:ea typeface="Calibri (MS) Bold" panose="020F0702030404030204"/>
                          <a:cs typeface="Calibri (MS) Bold" panose="020F0702030404030204"/>
                          <a:sym typeface="Calibri (MS) Bold" panose="020F0702030404030204"/>
                        </a:rPr>
                        <a:t>Team Leader</a:t>
                      </a:r>
                      <a:endParaRPr lang="en-US" sz="2200" b="1">
                        <a:solidFill>
                          <a:srgbClr val="38BDF8"/>
                        </a:solidFill>
                        <a:latin typeface="Calibri (MS) Bold" panose="020F0702030404030204"/>
                        <a:ea typeface="Calibri (MS) Bold" panose="020F0702030404030204"/>
                        <a:cs typeface="Calibri (MS) Bold" panose="020F0702030404030204"/>
                        <a:sym typeface="Calibri (MS) Bold" panose="020F0702030404030204"/>
                      </a:endParaRPr>
                    </a:p>
                  </a:txBody>
                  <a:tcPr marT="91440" marB="91440" anchor="t">
                    <a:lnL w="1016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6"/>
                    </a:solidFill>
                  </a:tcPr>
                </a:tc>
                <a:tc>
                  <a:txBody>
                    <a:bodyPr rtlCol="0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E2E8F0"/>
                          </a:solidFill>
                          <a:latin typeface="Calibri (MS)" panose="020F0502020204030204"/>
                          <a:ea typeface="Calibri (MS)" panose="020F0502020204030204"/>
                          <a:cs typeface="Calibri (MS)" panose="020F0502020204030204"/>
                          <a:sym typeface="Calibri (MS)" panose="020F0502020204030204"/>
                        </a:rPr>
                        <a:t> First SRS versions</a:t>
                      </a:r>
                      <a:endParaRPr lang="en-US" sz="1100"/>
                    </a:p>
                    <a:p>
                      <a:pPr algn="l">
                        <a:lnSpc>
                          <a:spcPts val="2640"/>
                        </a:lnSpc>
                      </a:pPr>
                      <a:r>
                        <a:rPr lang="en-US" sz="2200">
                          <a:solidFill>
                            <a:srgbClr val="E2E8F0"/>
                          </a:solidFill>
                          <a:latin typeface="Calibri (MS)" panose="020F0502020204030204"/>
                          <a:ea typeface="Calibri (MS)" panose="020F0502020204030204"/>
                          <a:cs typeface="Calibri (MS)" panose="020F0502020204030204"/>
                          <a:sym typeface="Calibri (MS)" panose="020F0502020204030204"/>
                        </a:rPr>
                        <a:t> Team coordination</a:t>
                      </a:r>
                      <a:endParaRPr lang="en-US" sz="2200">
                        <a:solidFill>
                          <a:srgbClr val="E2E8F0"/>
                        </a:solidFill>
                        <a:latin typeface="Calibri (MS)" panose="020F0502020204030204"/>
                        <a:ea typeface="Calibri (MS)" panose="020F0502020204030204"/>
                        <a:cs typeface="Calibri (MS)" panose="020F0502020204030204"/>
                        <a:sym typeface="Calibri (MS)" panose="020F0502020204030204"/>
                      </a:endParaRPr>
                    </a:p>
                  </a:txBody>
                  <a:tcPr marT="91440" marB="91440" anchor="t">
                    <a:lnL w="1016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2E"/>
                    </a:solidFill>
                  </a:tcPr>
                </a:tc>
                <a:tc>
                  <a:txBody>
                    <a:bodyPr rtlCol="0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E2E8F0"/>
                          </a:solidFill>
                          <a:latin typeface="Calibri (MS)" panose="020F0502020204030204"/>
                          <a:ea typeface="Calibri (MS)" panose="020F0502020204030204"/>
                          <a:cs typeface="Calibri (MS)" panose="020F0502020204030204"/>
                          <a:sym typeface="Calibri (MS)" panose="020F0502020204030204"/>
                        </a:rPr>
                        <a:t> High-Level Design</a:t>
                      </a:r>
                      <a:endParaRPr lang="en-US" sz="1100"/>
                    </a:p>
                    <a:p>
                      <a:pPr algn="l">
                        <a:lnSpc>
                          <a:spcPts val="2640"/>
                        </a:lnSpc>
                      </a:pPr>
                      <a:r>
                        <a:rPr lang="en-US" sz="2200">
                          <a:solidFill>
                            <a:srgbClr val="E2E8F0"/>
                          </a:solidFill>
                          <a:latin typeface="Calibri (MS)" panose="020F0502020204030204"/>
                          <a:ea typeface="Calibri (MS)" panose="020F0502020204030204"/>
                          <a:cs typeface="Calibri (MS)" panose="020F0502020204030204"/>
                          <a:sym typeface="Calibri (MS)" panose="020F0502020204030204"/>
                        </a:rPr>
                        <a:t> Internal DFD</a:t>
                      </a:r>
                      <a:endParaRPr lang="en-US" sz="2200">
                        <a:solidFill>
                          <a:srgbClr val="E2E8F0"/>
                        </a:solidFill>
                        <a:latin typeface="Calibri (MS)" panose="020F0502020204030204"/>
                        <a:ea typeface="Calibri (MS)" panose="020F0502020204030204"/>
                        <a:cs typeface="Calibri (MS)" panose="020F0502020204030204"/>
                        <a:sym typeface="Calibri (MS)" panose="020F0502020204030204"/>
                      </a:endParaRPr>
                    </a:p>
                    <a:p>
                      <a:pPr algn="l">
                        <a:lnSpc>
                          <a:spcPts val="2640"/>
                        </a:lnSpc>
                      </a:pPr>
                    </a:p>
                  </a:txBody>
                  <a:tcPr marT="91440" marB="91440" anchor="t">
                    <a:lnL w="1016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2E"/>
                    </a:solidFill>
                  </a:tcPr>
                </a:tc>
                <a:tc>
                  <a:txBody>
                    <a:bodyPr rtlCol="0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E2E8F0"/>
                          </a:solidFill>
                          <a:latin typeface="Calibri (MS)" panose="020F0502020204030204"/>
                          <a:ea typeface="Calibri (MS)" panose="020F0502020204030204"/>
                          <a:cs typeface="Calibri (MS)" panose="020F0502020204030204"/>
                          <a:sym typeface="Calibri (MS)" panose="020F0502020204030204"/>
                        </a:rPr>
                        <a:t> HLD/DFD improvements</a:t>
                      </a:r>
                      <a:endParaRPr lang="en-US" sz="1100"/>
                    </a:p>
                    <a:p>
                      <a:pPr algn="l">
                        <a:lnSpc>
                          <a:spcPts val="2640"/>
                        </a:lnSpc>
                      </a:pPr>
                      <a:r>
                        <a:rPr lang="en-US" sz="2200">
                          <a:solidFill>
                            <a:srgbClr val="E2E8F0"/>
                          </a:solidFill>
                          <a:latin typeface="Calibri (MS)" panose="020F0502020204030204"/>
                          <a:ea typeface="Calibri (MS)" panose="020F0502020204030204"/>
                          <a:cs typeface="Calibri (MS)" panose="020F0502020204030204"/>
                          <a:sym typeface="Calibri (MS)" panose="020F0502020204030204"/>
                        </a:rPr>
                        <a:t> Team coordination</a:t>
                      </a:r>
                      <a:endParaRPr lang="en-US" sz="2200">
                        <a:solidFill>
                          <a:srgbClr val="E2E8F0"/>
                        </a:solidFill>
                        <a:latin typeface="Calibri (MS)" panose="020F0502020204030204"/>
                        <a:ea typeface="Calibri (MS)" panose="020F0502020204030204"/>
                        <a:cs typeface="Calibri (MS)" panose="020F0502020204030204"/>
                        <a:sym typeface="Calibri (MS)" panose="020F0502020204030204"/>
                      </a:endParaRPr>
                    </a:p>
                    <a:p>
                      <a:pPr algn="l">
                        <a:lnSpc>
                          <a:spcPts val="2640"/>
                        </a:lnSpc>
                      </a:pPr>
                      <a:r>
                        <a:rPr lang="en-US" sz="2200">
                          <a:solidFill>
                            <a:srgbClr val="E2E8F0"/>
                          </a:solidFill>
                          <a:latin typeface="Calibri (MS)" panose="020F0502020204030204"/>
                          <a:ea typeface="Calibri (MS)" panose="020F0502020204030204"/>
                          <a:cs typeface="Calibri (MS)" panose="020F0502020204030204"/>
                          <a:sym typeface="Calibri (MS)" panose="020F0502020204030204"/>
                        </a:rPr>
                        <a:t> Website updates</a:t>
                      </a:r>
                      <a:endParaRPr lang="en-US" sz="2200">
                        <a:solidFill>
                          <a:srgbClr val="E2E8F0"/>
                        </a:solidFill>
                        <a:latin typeface="Calibri (MS)" panose="020F0502020204030204"/>
                        <a:ea typeface="Calibri (MS)" panose="020F0502020204030204"/>
                        <a:cs typeface="Calibri (MS)" panose="020F0502020204030204"/>
                        <a:sym typeface="Calibri (MS)" panose="020F0502020204030204"/>
                      </a:endParaRPr>
                    </a:p>
                    <a:p>
                      <a:pPr algn="l">
                        <a:lnSpc>
                          <a:spcPts val="2640"/>
                        </a:lnSpc>
                      </a:pPr>
                      <a:r>
                        <a:rPr lang="en-US" sz="2200">
                          <a:solidFill>
                            <a:srgbClr val="E2E8F0"/>
                          </a:solidFill>
                          <a:latin typeface="Calibri (MS)" panose="020F0502020204030204"/>
                          <a:ea typeface="Calibri (MS)" panose="020F0502020204030204"/>
                          <a:cs typeface="Calibri (MS)" panose="020F0502020204030204"/>
                          <a:sym typeface="Calibri (MS)" panose="020F0502020204030204"/>
                        </a:rPr>
                        <a:t> Mid-Term Presentation</a:t>
                      </a:r>
                      <a:endParaRPr lang="en-US" sz="2200">
                        <a:solidFill>
                          <a:srgbClr val="E2E8F0"/>
                        </a:solidFill>
                        <a:latin typeface="Calibri (MS)" panose="020F0502020204030204"/>
                        <a:ea typeface="Calibri (MS)" panose="020F0502020204030204"/>
                        <a:cs typeface="Calibri (MS)" panose="020F0502020204030204"/>
                        <a:sym typeface="Calibri (MS)" panose="020F0502020204030204"/>
                      </a:endParaRPr>
                    </a:p>
                    <a:p>
                      <a:pPr algn="l">
                        <a:lnSpc>
                          <a:spcPts val="2640"/>
                        </a:lnSpc>
                      </a:pPr>
                      <a:r>
                        <a:rPr lang="en-US" sz="2200">
                          <a:solidFill>
                            <a:srgbClr val="E2E8F0"/>
                          </a:solidFill>
                          <a:latin typeface="Calibri (MS)" panose="020F0502020204030204"/>
                          <a:ea typeface="Calibri (MS)" panose="020F0502020204030204"/>
                          <a:cs typeface="Calibri (MS)" panose="020F0502020204030204"/>
                          <a:sym typeface="Calibri (MS)" panose="020F0502020204030204"/>
                        </a:rPr>
                        <a:t> Cooperation with V2</a:t>
                      </a:r>
                      <a:endParaRPr lang="en-US" sz="2200">
                        <a:solidFill>
                          <a:srgbClr val="E2E8F0"/>
                        </a:solidFill>
                        <a:latin typeface="Calibri (MS)" panose="020F0502020204030204"/>
                        <a:ea typeface="Calibri (MS)" panose="020F0502020204030204"/>
                        <a:cs typeface="Calibri (MS)" panose="020F0502020204030204"/>
                        <a:sym typeface="Calibri (MS)" panose="020F0502020204030204"/>
                      </a:endParaRPr>
                    </a:p>
                    <a:p>
                      <a:pPr algn="l">
                        <a:lnSpc>
                          <a:spcPts val="2640"/>
                        </a:lnSpc>
                      </a:pPr>
                      <a:r>
                        <a:rPr lang="en-US" sz="2200">
                          <a:solidFill>
                            <a:srgbClr val="000000"/>
                          </a:solidFill>
                          <a:latin typeface="Calibri (MS)" panose="020F0502020204030204"/>
                          <a:ea typeface="Calibri (MS)" panose="020F0502020204030204"/>
                          <a:cs typeface="Calibri (MS)" panose="020F0502020204030204"/>
                          <a:sym typeface="Calibri (MS)" panose="020F0502020204030204"/>
                        </a:rPr>
                        <a:t> </a:t>
                      </a:r>
                      <a:r>
                        <a:rPr lang="en-US" sz="2200">
                          <a:solidFill>
                            <a:srgbClr val="FFFFFF"/>
                          </a:solidFill>
                          <a:latin typeface="Calibri (MS)" panose="020F0502020204030204"/>
                          <a:ea typeface="Calibri (MS)" panose="020F0502020204030204"/>
                          <a:cs typeface="Calibri (MS)" panose="020F0502020204030204"/>
                          <a:sym typeface="Calibri (MS)" panose="020F0502020204030204"/>
                        </a:rPr>
                        <a:t>Update some views in mobile app</a:t>
                      </a:r>
                      <a:endParaRPr lang="en-US" sz="2200">
                        <a:solidFill>
                          <a:srgbClr val="FFFFFF"/>
                        </a:solidFill>
                        <a:latin typeface="Calibri (MS)" panose="020F0502020204030204"/>
                        <a:ea typeface="Calibri (MS)" panose="020F0502020204030204"/>
                        <a:cs typeface="Calibri (MS)" panose="020F0502020204030204"/>
                        <a:sym typeface="Calibri (MS)" panose="020F0502020204030204"/>
                      </a:endParaRPr>
                    </a:p>
                  </a:txBody>
                  <a:tcPr marT="91440" marB="91440" anchor="t">
                    <a:lnL w="1016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2E"/>
                    </a:solidFill>
                  </a:tcPr>
                </a:tc>
              </a:tr>
              <a:tr h="1640365">
                <a:tc>
                  <a:txBody>
                    <a:bodyPr rtlCol="0"/>
                    <a:lstStyle/>
                    <a:p>
                      <a:pPr algn="ctr">
                        <a:lnSpc>
                          <a:spcPts val="2640"/>
                        </a:lnSpc>
                        <a:defRPr/>
                      </a:pPr>
                      <a:r>
                        <a:rPr lang="en-US" sz="2200" b="1">
                          <a:solidFill>
                            <a:srgbClr val="34D399"/>
                          </a:solidFill>
                          <a:latin typeface="Calibri (MS) Bold" panose="020F0702030404030204"/>
                          <a:ea typeface="Calibri (MS) Bold" panose="020F0702030404030204"/>
                          <a:cs typeface="Calibri (MS) Bold" panose="020F0702030404030204"/>
                          <a:sym typeface="Calibri (MS) Bold" panose="020F0702030404030204"/>
                        </a:rPr>
                        <a:t>Yiding Wang</a:t>
                      </a:r>
                      <a:endParaRPr lang="en-US" sz="1100"/>
                    </a:p>
                    <a:p>
                      <a:pPr algn="ctr">
                        <a:lnSpc>
                          <a:spcPts val="2640"/>
                        </a:lnSpc>
                      </a:pPr>
                      <a:r>
                        <a:rPr lang="en-US" sz="2200" b="1">
                          <a:solidFill>
                            <a:srgbClr val="34D399"/>
                          </a:solidFill>
                          <a:latin typeface="Calibri (MS) Bold" panose="020F0702030404030204"/>
                          <a:ea typeface="Calibri (MS) Bold" panose="020F0702030404030204"/>
                          <a:cs typeface="Calibri (MS) Bold" panose="020F0702030404030204"/>
                          <a:sym typeface="Calibri (MS) Bold" panose="020F0702030404030204"/>
                        </a:rPr>
                        <a:t>Vice Team Lead</a:t>
                      </a:r>
                      <a:endParaRPr lang="en-US" sz="2200" b="1">
                        <a:solidFill>
                          <a:srgbClr val="34D399"/>
                        </a:solidFill>
                        <a:latin typeface="Calibri (MS) Bold" panose="020F0702030404030204"/>
                        <a:ea typeface="Calibri (MS) Bold" panose="020F0702030404030204"/>
                        <a:cs typeface="Calibri (MS) Bold" panose="020F0702030404030204"/>
                        <a:sym typeface="Calibri (MS) Bold" panose="020F0702030404030204"/>
                      </a:endParaRPr>
                    </a:p>
                  </a:txBody>
                  <a:tcPr marT="91440" marB="91440" anchor="t">
                    <a:lnL w="1016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6"/>
                    </a:solidFill>
                  </a:tcPr>
                </a:tc>
                <a:tc>
                  <a:txBody>
                    <a:bodyPr rtlCol="0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E2E8F0"/>
                          </a:solidFill>
                          <a:latin typeface="Calibri (MS)" panose="020F0502020204030204"/>
                          <a:ea typeface="Calibri (MS)" panose="020F0502020204030204"/>
                          <a:cs typeface="Calibri (MS)" panose="020F0502020204030204"/>
                          <a:sym typeface="Calibri (MS)" panose="020F0502020204030204"/>
                        </a:rPr>
                        <a:t> SRS adjustment</a:t>
                      </a:r>
                      <a:endParaRPr lang="en-US" sz="1100"/>
                    </a:p>
                    <a:p>
                      <a:pPr algn="l">
                        <a:lnSpc>
                          <a:spcPts val="2640"/>
                        </a:lnSpc>
                      </a:pPr>
                      <a:r>
                        <a:rPr lang="en-US" sz="2200">
                          <a:solidFill>
                            <a:srgbClr val="E2E8F0"/>
                          </a:solidFill>
                          <a:latin typeface="Calibri (MS)" panose="020F0502020204030204"/>
                          <a:ea typeface="Calibri (MS)" panose="020F0502020204030204"/>
                          <a:cs typeface="Calibri (MS)" panose="020F0502020204030204"/>
                          <a:sym typeface="Calibri (MS)" panose="020F0502020204030204"/>
                        </a:rPr>
                        <a:t> Task allocation standards</a:t>
                      </a:r>
                      <a:endParaRPr lang="en-US" sz="2200">
                        <a:solidFill>
                          <a:srgbClr val="E2E8F0"/>
                        </a:solidFill>
                        <a:latin typeface="Calibri (MS)" panose="020F0502020204030204"/>
                        <a:ea typeface="Calibri (MS)" panose="020F0502020204030204"/>
                        <a:cs typeface="Calibri (MS)" panose="020F0502020204030204"/>
                        <a:sym typeface="Calibri (MS)" panose="020F0502020204030204"/>
                      </a:endParaRPr>
                    </a:p>
                  </a:txBody>
                  <a:tcPr marT="91440" marB="91440" anchor="t">
                    <a:lnL w="1016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2E"/>
                    </a:solidFill>
                  </a:tcPr>
                </a:tc>
                <a:tc>
                  <a:txBody>
                    <a:bodyPr rtlCol="0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E2E8F0"/>
                          </a:solidFill>
                          <a:latin typeface="Calibri (MS)" panose="020F0502020204030204"/>
                          <a:ea typeface="Calibri (MS)" panose="020F0502020204030204"/>
                          <a:cs typeface="Calibri (MS)" panose="020F0502020204030204"/>
                          <a:sym typeface="Calibri (MS)" panose="020F0502020204030204"/>
                        </a:rPr>
                        <a:t> Weekly task list &amp; report</a:t>
                      </a:r>
                      <a:endParaRPr lang="en-US" sz="1100"/>
                    </a:p>
                    <a:p>
                      <a:pPr algn="l">
                        <a:lnSpc>
                          <a:spcPts val="2640"/>
                        </a:lnSpc>
                      </a:pPr>
                      <a:r>
                        <a:rPr lang="en-US" sz="2200">
                          <a:solidFill>
                            <a:srgbClr val="E2E8F0"/>
                          </a:solidFill>
                          <a:latin typeface="Calibri (MS)" panose="020F0502020204030204"/>
                          <a:ea typeface="Calibri (MS)" panose="020F0502020204030204"/>
                          <a:cs typeface="Calibri (MS)" panose="020F0502020204030204"/>
                          <a:sym typeface="Calibri (MS)" panose="020F0502020204030204"/>
                        </a:rPr>
                        <a:t> Cross-team SRS standardization</a:t>
                      </a:r>
                      <a:endParaRPr lang="en-US" sz="2200">
                        <a:solidFill>
                          <a:srgbClr val="E2E8F0"/>
                        </a:solidFill>
                        <a:latin typeface="Calibri (MS)" panose="020F0502020204030204"/>
                        <a:ea typeface="Calibri (MS)" panose="020F0502020204030204"/>
                        <a:cs typeface="Calibri (MS)" panose="020F0502020204030204"/>
                        <a:sym typeface="Calibri (MS)" panose="020F0502020204030204"/>
                      </a:endParaRPr>
                    </a:p>
                    <a:p>
                      <a:pPr algn="l">
                        <a:lnSpc>
                          <a:spcPts val="2640"/>
                        </a:lnSpc>
                      </a:pPr>
                      <a:r>
                        <a:rPr lang="en-US" sz="2200">
                          <a:solidFill>
                            <a:srgbClr val="E2E8F0"/>
                          </a:solidFill>
                          <a:latin typeface="Calibri (MS)" panose="020F0502020204030204"/>
                          <a:ea typeface="Calibri (MS)" panose="020F0502020204030204"/>
                          <a:cs typeface="Calibri (MS)" panose="020F0502020204030204"/>
                          <a:sym typeface="Calibri (MS)" panose="020F0502020204030204"/>
                        </a:rPr>
                        <a:t> SRS internal use cases rewritten</a:t>
                      </a:r>
                      <a:endParaRPr lang="en-US" sz="2200">
                        <a:solidFill>
                          <a:srgbClr val="E2E8F0"/>
                        </a:solidFill>
                        <a:latin typeface="Calibri (MS)" panose="020F0502020204030204"/>
                        <a:ea typeface="Calibri (MS)" panose="020F0502020204030204"/>
                        <a:cs typeface="Calibri (MS)" panose="020F0502020204030204"/>
                        <a:sym typeface="Calibri (MS)" panose="020F0502020204030204"/>
                      </a:endParaRPr>
                    </a:p>
                  </a:txBody>
                  <a:tcPr marT="91440" marB="91440" anchor="t">
                    <a:lnL w="1016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2E"/>
                    </a:solidFill>
                  </a:tcPr>
                </a:tc>
                <a:tc>
                  <a:txBody>
                    <a:bodyPr rtlCol="0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E2E8F0"/>
                          </a:solidFill>
                          <a:latin typeface="Calibri (MS)" panose="020F0502020204030204"/>
                          <a:ea typeface="Calibri (MS)" panose="020F0502020204030204"/>
                          <a:cs typeface="Calibri (MS)" panose="020F0502020204030204"/>
                          <a:sym typeface="Calibri (MS)" panose="020F0502020204030204"/>
                        </a:rPr>
                        <a:t> Weekly task list &amp; report</a:t>
                      </a:r>
                      <a:endParaRPr lang="en-US" sz="1100"/>
                    </a:p>
                    <a:p>
                      <a:pPr algn="l">
                        <a:lnSpc>
                          <a:spcPts val="2640"/>
                        </a:lnSpc>
                      </a:pPr>
                      <a:r>
                        <a:rPr lang="en-US" sz="2200">
                          <a:solidFill>
                            <a:srgbClr val="E2E8F0"/>
                          </a:solidFill>
                          <a:latin typeface="Calibri (MS)" panose="020F0502020204030204"/>
                          <a:ea typeface="Calibri (MS)" panose="020F0502020204030204"/>
                          <a:cs typeface="Calibri (MS)" panose="020F0502020204030204"/>
                          <a:sym typeface="Calibri (MS)" panose="020F0502020204030204"/>
                        </a:rPr>
                        <a:t> Prototype review &amp; bug fixes</a:t>
                      </a:r>
                      <a:endParaRPr lang="en-US" sz="2200">
                        <a:solidFill>
                          <a:srgbClr val="E2E8F0"/>
                        </a:solidFill>
                        <a:latin typeface="Calibri (MS)" panose="020F0502020204030204"/>
                        <a:ea typeface="Calibri (MS)" panose="020F0502020204030204"/>
                        <a:cs typeface="Calibri (MS)" panose="020F0502020204030204"/>
                        <a:sym typeface="Calibri (MS)" panose="020F0502020204030204"/>
                      </a:endParaRPr>
                    </a:p>
                    <a:p>
                      <a:pPr algn="l">
                        <a:lnSpc>
                          <a:spcPts val="2640"/>
                        </a:lnSpc>
                      </a:pPr>
                      <a:r>
                        <a:rPr lang="en-US" sz="2200">
                          <a:solidFill>
                            <a:srgbClr val="E2E8F0"/>
                          </a:solidFill>
                          <a:latin typeface="Calibri (MS)" panose="020F0502020204030204"/>
                          <a:ea typeface="Calibri (MS)" panose="020F0502020204030204"/>
                          <a:cs typeface="Calibri (MS)" panose="020F0502020204030204"/>
                          <a:sym typeface="Calibri (MS)" panose="020F0502020204030204"/>
                        </a:rPr>
                        <a:t> SRS integration (all teams)</a:t>
                      </a:r>
                      <a:endParaRPr lang="en-US" sz="2200">
                        <a:solidFill>
                          <a:srgbClr val="E2E8F0"/>
                        </a:solidFill>
                        <a:latin typeface="Calibri (MS)" panose="020F0502020204030204"/>
                        <a:ea typeface="Calibri (MS)" panose="020F0502020204030204"/>
                        <a:cs typeface="Calibri (MS)" panose="020F0502020204030204"/>
                        <a:sym typeface="Calibri (MS)" panose="020F0502020204030204"/>
                      </a:endParaRPr>
                    </a:p>
                    <a:p>
                      <a:pPr algn="l">
                        <a:lnSpc>
                          <a:spcPts val="2640"/>
                        </a:lnSpc>
                      </a:pPr>
                      <a:r>
                        <a:rPr lang="en-US" sz="2200">
                          <a:solidFill>
                            <a:srgbClr val="E2E8F0"/>
                          </a:solidFill>
                          <a:latin typeface="Calibri (MS)" panose="020F0502020204030204"/>
                          <a:ea typeface="Calibri (MS)" panose="020F0502020204030204"/>
                          <a:cs typeface="Calibri (MS)" panose="020F0502020204030204"/>
                          <a:sym typeface="Calibri (MS)" panose="020F0502020204030204"/>
                        </a:rPr>
                        <a:t> V2 interface testing</a:t>
                      </a:r>
                      <a:endParaRPr lang="en-US" sz="2200">
                        <a:solidFill>
                          <a:srgbClr val="E2E8F0"/>
                        </a:solidFill>
                        <a:latin typeface="Calibri (MS)" panose="020F0502020204030204"/>
                        <a:ea typeface="Calibri (MS)" panose="020F0502020204030204"/>
                        <a:cs typeface="Calibri (MS)" panose="020F0502020204030204"/>
                        <a:sym typeface="Calibri (MS)" panose="020F0502020204030204"/>
                      </a:endParaRPr>
                    </a:p>
                  </a:txBody>
                  <a:tcPr marT="91440" marB="91440" anchor="t">
                    <a:lnL w="1016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2E"/>
                    </a:solidFill>
                  </a:tcPr>
                </a:tc>
              </a:tr>
              <a:tr h="1688416">
                <a:tc>
                  <a:txBody>
                    <a:bodyPr rtlCol="0"/>
                    <a:lstStyle/>
                    <a:p>
                      <a:pPr algn="ctr">
                        <a:lnSpc>
                          <a:spcPts val="2640"/>
                        </a:lnSpc>
                        <a:defRPr/>
                      </a:pPr>
                      <a:r>
                        <a:rPr lang="en-US" sz="2200" b="1">
                          <a:solidFill>
                            <a:srgbClr val="60A5FA"/>
                          </a:solidFill>
                          <a:latin typeface="Calibri (MS) Bold" panose="020F0702030404030204"/>
                          <a:ea typeface="Calibri (MS) Bold" panose="020F0702030404030204"/>
                          <a:cs typeface="Calibri (MS) Bold" panose="020F0702030404030204"/>
                          <a:sym typeface="Calibri (MS) Bold" panose="020F0702030404030204"/>
                        </a:rPr>
                        <a:t>Enhe Zhang</a:t>
                      </a:r>
                      <a:endParaRPr lang="en-US" sz="1100"/>
                    </a:p>
                    <a:p>
                      <a:pPr algn="ctr">
                        <a:lnSpc>
                          <a:spcPts val="2640"/>
                        </a:lnSpc>
                      </a:pPr>
                      <a:r>
                        <a:rPr lang="en-US" sz="2200" b="1">
                          <a:solidFill>
                            <a:srgbClr val="60A5FA"/>
                          </a:solidFill>
                          <a:latin typeface="Calibri (MS) Bold" panose="020F0702030404030204"/>
                          <a:ea typeface="Calibri (MS) Bold" panose="020F0702030404030204"/>
                          <a:cs typeface="Calibri (MS) Bold" panose="020F0702030404030204"/>
                          <a:sym typeface="Calibri (MS) Bold" panose="020F0702030404030204"/>
                        </a:rPr>
                        <a:t>Programmer</a:t>
                      </a:r>
                      <a:endParaRPr lang="en-US" sz="2200" b="1">
                        <a:solidFill>
                          <a:srgbClr val="60A5FA"/>
                        </a:solidFill>
                        <a:latin typeface="Calibri (MS) Bold" panose="020F0702030404030204"/>
                        <a:ea typeface="Calibri (MS) Bold" panose="020F0702030404030204"/>
                        <a:cs typeface="Calibri (MS) Bold" panose="020F0702030404030204"/>
                        <a:sym typeface="Calibri (MS) Bold" panose="020F0702030404030204"/>
                      </a:endParaRPr>
                    </a:p>
                  </a:txBody>
                  <a:tcPr marT="91440" marB="91440" anchor="t">
                    <a:lnL w="1016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6"/>
                    </a:solidFill>
                  </a:tcPr>
                </a:tc>
                <a:tc>
                  <a:txBody>
                    <a:bodyPr rtlCol="0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E2E8F0"/>
                          </a:solidFill>
                          <a:latin typeface="Calibri (MS)" panose="020F0502020204030204"/>
                          <a:ea typeface="Calibri (MS)" panose="020F0502020204030204"/>
                          <a:cs typeface="Calibri (MS)" panose="020F0502020204030204"/>
                          <a:sym typeface="Calibri (MS)" panose="020F0502020204030204"/>
                        </a:rPr>
                        <a:t> DevEco Studio setup</a:t>
                      </a:r>
                      <a:endParaRPr lang="en-US" sz="1100"/>
                    </a:p>
                    <a:p>
                      <a:pPr algn="l">
                        <a:lnSpc>
                          <a:spcPts val="2640"/>
                        </a:lnSpc>
                      </a:pPr>
                      <a:r>
                        <a:rPr lang="en-US" sz="2200">
                          <a:solidFill>
                            <a:srgbClr val="E2E8F0"/>
                          </a:solidFill>
                          <a:latin typeface="Calibri (MS)" panose="020F0502020204030204"/>
                          <a:ea typeface="Calibri (MS)" panose="020F0502020204030204"/>
                          <a:cs typeface="Calibri (MS)" panose="020F0502020204030204"/>
                          <a:sym typeface="Calibri (MS)" panose="020F0502020204030204"/>
                        </a:rPr>
                        <a:t> Login &amp; register pages</a:t>
                      </a:r>
                      <a:endParaRPr lang="en-US" sz="2200">
                        <a:solidFill>
                          <a:srgbClr val="E2E8F0"/>
                        </a:solidFill>
                        <a:latin typeface="Calibri (MS)" panose="020F0502020204030204"/>
                        <a:ea typeface="Calibri (MS)" panose="020F0502020204030204"/>
                        <a:cs typeface="Calibri (MS)" panose="020F0502020204030204"/>
                        <a:sym typeface="Calibri (MS)" panose="020F0502020204030204"/>
                      </a:endParaRPr>
                    </a:p>
                    <a:p>
                      <a:pPr algn="l">
                        <a:lnSpc>
                          <a:spcPts val="2640"/>
                        </a:lnSpc>
                      </a:pPr>
                      <a:r>
                        <a:rPr lang="en-US" sz="2200">
                          <a:solidFill>
                            <a:srgbClr val="E2E8F0"/>
                          </a:solidFill>
                          <a:latin typeface="Calibri (MS)" panose="020F0502020204030204"/>
                          <a:ea typeface="Calibri (MS)" panose="020F0502020204030204"/>
                          <a:cs typeface="Calibri (MS)" panose="020F0502020204030204"/>
                          <a:sym typeface="Calibri (MS)" panose="020F0502020204030204"/>
                        </a:rPr>
                        <a:t> Interface Spec (started)</a:t>
                      </a:r>
                      <a:endParaRPr lang="en-US" sz="2200">
                        <a:solidFill>
                          <a:srgbClr val="E2E8F0"/>
                        </a:solidFill>
                        <a:latin typeface="Calibri (MS)" panose="020F0502020204030204"/>
                        <a:ea typeface="Calibri (MS)" panose="020F0502020204030204"/>
                        <a:cs typeface="Calibri (MS)" panose="020F0502020204030204"/>
                        <a:sym typeface="Calibri (MS)" panose="020F0502020204030204"/>
                      </a:endParaRPr>
                    </a:p>
                  </a:txBody>
                  <a:tcPr marT="91440" marB="91440" anchor="t">
                    <a:lnL w="1016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2E"/>
                    </a:solidFill>
                  </a:tcPr>
                </a:tc>
                <a:tc>
                  <a:txBody>
                    <a:bodyPr rtlCol="0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E2E8F0"/>
                          </a:solidFill>
                          <a:latin typeface="Calibri (MS)" panose="020F0502020204030204"/>
                          <a:ea typeface="Calibri (MS)" panose="020F0502020204030204"/>
                          <a:cs typeface="Calibri (MS)" panose="020F0502020204030204"/>
                          <a:sym typeface="Calibri (MS)" panose="020F0502020204030204"/>
                        </a:rPr>
                        <a:t> Exercise flow pages</a:t>
                      </a:r>
                      <a:endParaRPr lang="en-US" sz="1100"/>
                    </a:p>
                    <a:p>
                      <a:pPr algn="l">
                        <a:lnSpc>
                          <a:spcPts val="2640"/>
                        </a:lnSpc>
                      </a:pPr>
                      <a:r>
                        <a:rPr lang="en-US" sz="2200">
                          <a:solidFill>
                            <a:srgbClr val="E2E8F0"/>
                          </a:solidFill>
                          <a:latin typeface="Calibri (MS)" panose="020F0502020204030204"/>
                          <a:ea typeface="Calibri (MS)" panose="020F0502020204030204"/>
                          <a:cs typeface="Calibri (MS)" panose="020F0502020204030204"/>
                          <a:sym typeface="Calibri (MS)" panose="020F0502020204030204"/>
                        </a:rPr>
                        <a:t> Sensor connection screen</a:t>
                      </a:r>
                      <a:endParaRPr lang="en-US" sz="2200">
                        <a:solidFill>
                          <a:srgbClr val="E2E8F0"/>
                        </a:solidFill>
                        <a:latin typeface="Calibri (MS)" panose="020F0502020204030204"/>
                        <a:ea typeface="Calibri (MS)" panose="020F0502020204030204"/>
                        <a:cs typeface="Calibri (MS)" panose="020F0502020204030204"/>
                        <a:sym typeface="Calibri (MS)" panose="020F0502020204030204"/>
                      </a:endParaRPr>
                    </a:p>
                    <a:p>
                      <a:pPr algn="l">
                        <a:lnSpc>
                          <a:spcPts val="2640"/>
                        </a:lnSpc>
                      </a:pPr>
                      <a:r>
                        <a:rPr lang="en-US" sz="2200">
                          <a:solidFill>
                            <a:srgbClr val="E2E8F0"/>
                          </a:solidFill>
                          <a:latin typeface="Calibri (MS)" panose="020F0502020204030204"/>
                          <a:ea typeface="Calibri (MS)" panose="020F0502020204030204"/>
                          <a:cs typeface="Calibri (MS)" panose="020F0502020204030204"/>
                          <a:sym typeface="Calibri (MS)" panose="020F0502020204030204"/>
                        </a:rPr>
                        <a:t> Real-time exercise screen</a:t>
                      </a:r>
                      <a:endParaRPr lang="en-US" sz="2200">
                        <a:solidFill>
                          <a:srgbClr val="E2E8F0"/>
                        </a:solidFill>
                        <a:latin typeface="Calibri (MS)" panose="020F0502020204030204"/>
                        <a:ea typeface="Calibri (MS)" panose="020F0502020204030204"/>
                        <a:cs typeface="Calibri (MS)" panose="020F0502020204030204"/>
                        <a:sym typeface="Calibri (MS)" panose="020F0502020204030204"/>
                      </a:endParaRPr>
                    </a:p>
                    <a:p>
                      <a:pPr algn="l">
                        <a:lnSpc>
                          <a:spcPts val="2640"/>
                        </a:lnSpc>
                      </a:pPr>
                      <a:r>
                        <a:rPr lang="en-US" sz="2200">
                          <a:solidFill>
                            <a:srgbClr val="E2E8F0"/>
                          </a:solidFill>
                          <a:latin typeface="Calibri (MS)" panose="020F0502020204030204"/>
                          <a:ea typeface="Calibri (MS)" panose="020F0502020204030204"/>
                          <a:cs typeface="Calibri (MS)" panose="020F0502020204030204"/>
                          <a:sym typeface="Calibri (MS)" panose="020F0502020204030204"/>
                        </a:rPr>
                        <a:t> Homepage &amp; history page</a:t>
                      </a:r>
                      <a:endParaRPr lang="en-US" sz="2200">
                        <a:solidFill>
                          <a:srgbClr val="E2E8F0"/>
                        </a:solidFill>
                        <a:latin typeface="Calibri (MS)" panose="020F0502020204030204"/>
                        <a:ea typeface="Calibri (MS)" panose="020F0502020204030204"/>
                        <a:cs typeface="Calibri (MS)" panose="020F0502020204030204"/>
                        <a:sym typeface="Calibri (MS)" panose="020F0502020204030204"/>
                      </a:endParaRPr>
                    </a:p>
                  </a:txBody>
                  <a:tcPr marT="91440" marB="91440" anchor="t">
                    <a:lnL w="1016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2E"/>
                    </a:solidFill>
                  </a:tcPr>
                </a:tc>
                <a:tc>
                  <a:txBody>
                    <a:bodyPr rtlCol="0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E2E8F0"/>
                          </a:solidFill>
                          <a:latin typeface="Calibri (MS)" panose="020F0502020204030204"/>
                          <a:ea typeface="Calibri (MS)" panose="020F0502020204030204"/>
                          <a:cs typeface="Calibri (MS)" panose="020F0502020204030204"/>
                          <a:sym typeface="Calibri (MS)" panose="020F0502020204030204"/>
                        </a:rPr>
                        <a:t> Sensor→real-time connection fix</a:t>
                      </a:r>
                      <a:endParaRPr lang="en-US" sz="1100"/>
                    </a:p>
                    <a:p>
                      <a:pPr algn="l">
                        <a:lnSpc>
                          <a:spcPts val="2640"/>
                        </a:lnSpc>
                      </a:pPr>
                      <a:r>
                        <a:rPr lang="en-US" sz="2200">
                          <a:solidFill>
                            <a:srgbClr val="E2E8F0"/>
                          </a:solidFill>
                          <a:latin typeface="Calibri (MS)" panose="020F0502020204030204"/>
                          <a:ea typeface="Calibri (MS)" panose="020F0502020204030204"/>
                          <a:cs typeface="Calibri (MS)" panose="020F0502020204030204"/>
                          <a:sym typeface="Calibri (MS)" panose="020F0502020204030204"/>
                        </a:rPr>
                        <a:t> App prototype improvement</a:t>
                      </a:r>
                      <a:endParaRPr lang="en-US" sz="2200">
                        <a:solidFill>
                          <a:srgbClr val="E2E8F0"/>
                        </a:solidFill>
                        <a:latin typeface="Calibri (MS)" panose="020F0502020204030204"/>
                        <a:ea typeface="Calibri (MS)" panose="020F0502020204030204"/>
                        <a:cs typeface="Calibri (MS)" panose="020F0502020204030204"/>
                        <a:sym typeface="Calibri (MS)" panose="020F0502020204030204"/>
                      </a:endParaRPr>
                    </a:p>
                  </a:txBody>
                  <a:tcPr marT="91440" marB="91440" anchor="t">
                    <a:lnL w="1016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2E"/>
                    </a:solidFill>
                  </a:tcPr>
                </a:tc>
              </a:tr>
              <a:tr h="1830433">
                <a:tc>
                  <a:txBody>
                    <a:bodyPr rtlCol="0"/>
                    <a:lstStyle/>
                    <a:p>
                      <a:pPr algn="ctr">
                        <a:lnSpc>
                          <a:spcPts val="2640"/>
                        </a:lnSpc>
                        <a:defRPr/>
                      </a:pPr>
                      <a:r>
                        <a:rPr lang="en-US" sz="2200" b="1">
                          <a:solidFill>
                            <a:srgbClr val="C084FC"/>
                          </a:solidFill>
                          <a:latin typeface="Calibri (MS) Bold" panose="020F0702030404030204"/>
                          <a:ea typeface="Calibri (MS) Bold" panose="020F0702030404030204"/>
                          <a:cs typeface="Calibri (MS) Bold" panose="020F0702030404030204"/>
                          <a:sym typeface="Calibri (MS) Bold" panose="020F0702030404030204"/>
                        </a:rPr>
                        <a:t>Sara Costa</a:t>
                      </a:r>
                      <a:endParaRPr lang="en-US" sz="1100"/>
                    </a:p>
                    <a:p>
                      <a:pPr algn="ctr">
                        <a:lnSpc>
                          <a:spcPts val="2640"/>
                        </a:lnSpc>
                      </a:pPr>
                      <a:r>
                        <a:rPr lang="en-US" sz="2200" b="1">
                          <a:solidFill>
                            <a:srgbClr val="C084FC"/>
                          </a:solidFill>
                          <a:latin typeface="Calibri (MS) Bold" panose="020F0702030404030204"/>
                          <a:ea typeface="Calibri (MS) Bold" panose="020F0702030404030204"/>
                          <a:cs typeface="Calibri (MS) Bold" panose="020F0702030404030204"/>
                          <a:sym typeface="Calibri (MS) Bold" panose="020F0702030404030204"/>
                        </a:rPr>
                        <a:t>Programmer</a:t>
                      </a:r>
                      <a:endParaRPr lang="en-US" sz="2200" b="1">
                        <a:solidFill>
                          <a:srgbClr val="C084FC"/>
                        </a:solidFill>
                        <a:latin typeface="Calibri (MS) Bold" panose="020F0702030404030204"/>
                        <a:ea typeface="Calibri (MS) Bold" panose="020F0702030404030204"/>
                        <a:cs typeface="Calibri (MS) Bold" panose="020F0702030404030204"/>
                        <a:sym typeface="Calibri (MS) Bold" panose="020F0702030404030204"/>
                      </a:endParaRPr>
                    </a:p>
                  </a:txBody>
                  <a:tcPr marT="91440" marB="91440" anchor="t">
                    <a:lnL w="1016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6"/>
                    </a:solidFill>
                  </a:tcPr>
                </a:tc>
                <a:tc>
                  <a:txBody>
                    <a:bodyPr rtlCol="0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E2E8F0"/>
                          </a:solidFill>
                          <a:latin typeface="Calibri (MS)" panose="020F0502020204030204"/>
                          <a:ea typeface="Calibri (MS)" panose="020F0502020204030204"/>
                          <a:cs typeface="Calibri (MS)" panose="020F0502020204030204"/>
                          <a:sym typeface="Calibri (MS)" panose="020F0502020204030204"/>
                        </a:rPr>
                        <a:t>Patient app mockups (initial)</a:t>
                      </a:r>
                      <a:endParaRPr lang="en-US" sz="1100"/>
                    </a:p>
                  </a:txBody>
                  <a:tcPr marT="91440" marB="91440" anchor="t">
                    <a:lnL w="1016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2E"/>
                    </a:solidFill>
                  </a:tcPr>
                </a:tc>
                <a:tc>
                  <a:txBody>
                    <a:bodyPr rtlCol="0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E2E8F0"/>
                          </a:solidFill>
                          <a:latin typeface="Calibri (MS)" panose="020F0502020204030204"/>
                          <a:ea typeface="Calibri (MS)" panose="020F0502020204030204"/>
                          <a:cs typeface="Calibri (MS)" panose="020F0502020204030204"/>
                          <a:sym typeface="Calibri (MS)" panose="020F0502020204030204"/>
                        </a:rPr>
                        <a:t> UI redesign based on feedback</a:t>
                      </a:r>
                      <a:endParaRPr lang="en-US" sz="1100"/>
                    </a:p>
                    <a:p>
                      <a:pPr algn="l">
                        <a:lnSpc>
                          <a:spcPts val="2640"/>
                        </a:lnSpc>
                      </a:pPr>
                      <a:r>
                        <a:rPr lang="en-US" sz="2200">
                          <a:solidFill>
                            <a:srgbClr val="E2E8F0"/>
                          </a:solidFill>
                          <a:latin typeface="Calibri (MS)" panose="020F0502020204030204"/>
                          <a:ea typeface="Calibri (MS)" panose="020F0502020204030204"/>
                          <a:cs typeface="Calibri (MS)" panose="020F0502020204030204"/>
                          <a:sym typeface="Calibri (MS)" panose="020F0502020204030204"/>
                        </a:rPr>
                        <a:t> Accessibility improvements</a:t>
                      </a:r>
                      <a:endParaRPr lang="en-US" sz="2200">
                        <a:solidFill>
                          <a:srgbClr val="E2E8F0"/>
                        </a:solidFill>
                        <a:latin typeface="Calibri (MS)" panose="020F0502020204030204"/>
                        <a:ea typeface="Calibri (MS)" panose="020F0502020204030204"/>
                        <a:cs typeface="Calibri (MS)" panose="020F0502020204030204"/>
                        <a:sym typeface="Calibri (MS)" panose="020F0502020204030204"/>
                      </a:endParaRPr>
                    </a:p>
                    <a:p>
                      <a:pPr algn="l">
                        <a:lnSpc>
                          <a:spcPts val="2640"/>
                        </a:lnSpc>
                      </a:pPr>
                      <a:r>
                        <a:rPr lang="en-US" sz="2200">
                          <a:solidFill>
                            <a:srgbClr val="E2E8F0"/>
                          </a:solidFill>
                          <a:latin typeface="Calibri (MS)" panose="020F0502020204030204"/>
                          <a:ea typeface="Calibri (MS)" panose="020F0502020204030204"/>
                          <a:cs typeface="Calibri (MS)" panose="020F0502020204030204"/>
                          <a:sym typeface="Calibri (MS)" panose="020F0502020204030204"/>
                        </a:rPr>
                        <a:t> Pain tracking &amp; clinical features</a:t>
                      </a:r>
                      <a:endParaRPr lang="en-US" sz="2200">
                        <a:solidFill>
                          <a:srgbClr val="E2E8F0"/>
                        </a:solidFill>
                        <a:latin typeface="Calibri (MS)" panose="020F0502020204030204"/>
                        <a:ea typeface="Calibri (MS)" panose="020F0502020204030204"/>
                        <a:cs typeface="Calibri (MS)" panose="020F0502020204030204"/>
                        <a:sym typeface="Calibri (MS)" panose="020F0502020204030204"/>
                      </a:endParaRPr>
                    </a:p>
                    <a:p>
                      <a:pPr algn="l">
                        <a:lnSpc>
                          <a:spcPts val="2640"/>
                        </a:lnSpc>
                      </a:pPr>
                      <a:r>
                        <a:rPr lang="en-US" sz="2200">
                          <a:solidFill>
                            <a:srgbClr val="E2E8F0"/>
                          </a:solidFill>
                          <a:latin typeface="Calibri (MS)" panose="020F0502020204030204"/>
                          <a:ea typeface="Calibri (MS)" panose="020F0502020204030204"/>
                          <a:cs typeface="Calibri (MS)" panose="020F0502020204030204"/>
                          <a:sym typeface="Calibri (MS)" panose="020F0502020204030204"/>
                        </a:rPr>
                        <a:t> Interface Specification</a:t>
                      </a:r>
                      <a:endParaRPr lang="en-US" sz="2200">
                        <a:solidFill>
                          <a:srgbClr val="E2E8F0"/>
                        </a:solidFill>
                        <a:latin typeface="Calibri (MS)" panose="020F0502020204030204"/>
                        <a:ea typeface="Calibri (MS)" panose="020F0502020204030204"/>
                        <a:cs typeface="Calibri (MS)" panose="020F0502020204030204"/>
                        <a:sym typeface="Calibri (MS)" panose="020F0502020204030204"/>
                      </a:endParaRPr>
                    </a:p>
                  </a:txBody>
                  <a:tcPr marT="91440" marB="91440" anchor="t">
                    <a:lnL w="1016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2E"/>
                    </a:solidFill>
                  </a:tcPr>
                </a:tc>
                <a:tc>
                  <a:txBody>
                    <a:bodyPr rtlCol="0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E2E8F0"/>
                          </a:solidFill>
                          <a:latin typeface="Calibri (MS)" panose="020F0502020204030204"/>
                          <a:ea typeface="Calibri (MS)" panose="020F0502020204030204"/>
                          <a:cs typeface="Calibri (MS)" panose="020F0502020204030204"/>
                          <a:sym typeface="Calibri (MS)" panose="020F0502020204030204"/>
                        </a:rPr>
                        <a:t> Interface Spec updates</a:t>
                      </a:r>
                      <a:endParaRPr lang="en-US" sz="1100"/>
                    </a:p>
                    <a:p>
                      <a:pPr algn="l">
                        <a:lnSpc>
                          <a:spcPts val="2640"/>
                        </a:lnSpc>
                      </a:pPr>
                      <a:r>
                        <a:rPr lang="en-US" sz="2200">
                          <a:solidFill>
                            <a:srgbClr val="E2E8F0"/>
                          </a:solidFill>
                          <a:latin typeface="Calibri (MS)" panose="020F0502020204030204"/>
                          <a:ea typeface="Calibri (MS)" panose="020F0502020204030204"/>
                          <a:cs typeface="Calibri (MS)" panose="020F0502020204030204"/>
                          <a:sym typeface="Calibri (MS)" panose="020F0502020204030204"/>
                        </a:rPr>
                        <a:t> Missing endpoints identified</a:t>
                      </a:r>
                      <a:endParaRPr lang="en-US" sz="2200">
                        <a:solidFill>
                          <a:srgbClr val="E2E8F0"/>
                        </a:solidFill>
                        <a:latin typeface="Calibri (MS)" panose="020F0502020204030204"/>
                        <a:ea typeface="Calibri (MS)" panose="020F0502020204030204"/>
                        <a:cs typeface="Calibri (MS)" panose="020F0502020204030204"/>
                        <a:sym typeface="Calibri (MS)" panose="020F0502020204030204"/>
                      </a:endParaRPr>
                    </a:p>
                    <a:p>
                      <a:pPr algn="l">
                        <a:lnSpc>
                          <a:spcPts val="2640"/>
                        </a:lnSpc>
                      </a:pPr>
                      <a:r>
                        <a:rPr lang="en-US" sz="2200">
                          <a:solidFill>
                            <a:srgbClr val="E2E8F0"/>
                          </a:solidFill>
                          <a:latin typeface="Calibri (MS)" panose="020F0502020204030204"/>
                          <a:ea typeface="Calibri (MS)" panose="020F0502020204030204"/>
                          <a:cs typeface="Calibri (MS)" panose="020F0502020204030204"/>
                          <a:sym typeface="Calibri (MS)" panose="020F0502020204030204"/>
                        </a:rPr>
                        <a:t> Confirmed corrections with S2 &amp; V2</a:t>
                      </a:r>
                      <a:endParaRPr lang="en-US" sz="2200">
                        <a:solidFill>
                          <a:srgbClr val="E2E8F0"/>
                        </a:solidFill>
                        <a:latin typeface="Calibri (MS)" panose="020F0502020204030204"/>
                        <a:ea typeface="Calibri (MS)" panose="020F0502020204030204"/>
                        <a:cs typeface="Calibri (MS)" panose="020F0502020204030204"/>
                        <a:sym typeface="Calibri (MS)" panose="020F0502020204030204"/>
                      </a:endParaRPr>
                    </a:p>
                  </a:txBody>
                  <a:tcPr marT="91440" marB="91440" anchor="t">
                    <a:lnL w="1016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2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822960" y="402336"/>
            <a:ext cx="16642080" cy="402336"/>
            <a:chOff x="0" y="0"/>
            <a:chExt cx="22189440" cy="53644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2189439" cy="536448"/>
            </a:xfrm>
            <a:custGeom>
              <a:avLst/>
              <a:gdLst/>
              <a:ahLst/>
              <a:cxnLst/>
              <a:rect l="l" t="t" r="r" b="b"/>
              <a:pathLst>
                <a:path w="22189439" h="536448">
                  <a:moveTo>
                    <a:pt x="0" y="0"/>
                  </a:moveTo>
                  <a:lnTo>
                    <a:pt x="22189439" y="0"/>
                  </a:lnTo>
                  <a:lnTo>
                    <a:pt x="22189439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1">
                <a:alphaModFix amt="0"/>
              </a:blip>
              <a:stretch>
                <a:fillRect t="-755972" b="-755972"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2189440" cy="57454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800"/>
                </a:lnSpc>
              </a:pPr>
              <a:r>
                <a:rPr lang="en-US" sz="1500" b="1" spc="600">
                  <a:solidFill>
                    <a:srgbClr val="34D399"/>
                  </a:solidFill>
                  <a:latin typeface="Calibri (MS) Bold" panose="020F0702030404030204"/>
                  <a:ea typeface="Calibri (MS) Bold" panose="020F0702030404030204"/>
                  <a:cs typeface="Calibri (MS) Bold" panose="020F0702030404030204"/>
                  <a:sym typeface="Calibri (MS) Bold" panose="020F0702030404030204"/>
                </a:rPr>
                <a:t>UI DESIGN</a:t>
              </a:r>
              <a:endParaRPr lang="en-US" sz="1500" b="1" spc="600">
                <a:solidFill>
                  <a:srgbClr val="34D399"/>
                </a:solidFill>
                <a:latin typeface="Calibri (MS) Bold" panose="020F0702030404030204"/>
                <a:ea typeface="Calibri (MS) Bold" panose="020F0702030404030204"/>
                <a:cs typeface="Calibri (MS) Bold" panose="020F0702030404030204"/>
                <a:sym typeface="Calibri (MS) Bold" panose="020F0702030404030204"/>
              </a:endParaRPr>
            </a:p>
          </p:txBody>
        </p:sp>
      </p:grpSp>
      <p:grpSp>
        <p:nvGrpSpPr>
          <p:cNvPr id="5" name="Group 5"/>
          <p:cNvGrpSpPr/>
          <p:nvPr/>
        </p:nvGrpSpPr>
        <p:grpSpPr>
          <a:xfrm rot="0">
            <a:off x="822960" y="804672"/>
            <a:ext cx="16642080" cy="1005840"/>
            <a:chOff x="0" y="0"/>
            <a:chExt cx="22189440" cy="134112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2189439" cy="1341120"/>
            </a:xfrm>
            <a:custGeom>
              <a:avLst/>
              <a:gdLst/>
              <a:ahLst/>
              <a:cxnLst/>
              <a:rect l="l" t="t" r="r" b="b"/>
              <a:pathLst>
                <a:path w="22189439" h="1341120">
                  <a:moveTo>
                    <a:pt x="0" y="0"/>
                  </a:moveTo>
                  <a:lnTo>
                    <a:pt x="22189439" y="0"/>
                  </a:lnTo>
                  <a:lnTo>
                    <a:pt x="22189439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1">
                <a:alphaModFix amt="0"/>
              </a:blip>
              <a:stretch>
                <a:fillRect t="-272388" b="-272388"/>
              </a:stretch>
            </a:blipFill>
          </p:spPr>
        </p:sp>
        <p:sp>
          <p:nvSpPr>
            <p:cNvPr id="7" name="TextBox 7"/>
            <p:cNvSpPr txBox="1"/>
            <p:nvPr/>
          </p:nvSpPr>
          <p:spPr>
            <a:xfrm>
              <a:off x="0" y="-85725"/>
              <a:ext cx="22189440" cy="14268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760"/>
                </a:lnSpc>
              </a:pPr>
              <a:r>
                <a:rPr lang="en-US" sz="4800" b="1">
                  <a:solidFill>
                    <a:srgbClr val="E2E8F0"/>
                  </a:solidFill>
                  <a:latin typeface="Calibri (MS) Bold" panose="020F0702030404030204"/>
                  <a:ea typeface="Calibri (MS) Bold" panose="020F0702030404030204"/>
                  <a:cs typeface="Calibri (MS) Bold" panose="020F0702030404030204"/>
                  <a:sym typeface="Calibri (MS) Bold" panose="020F0702030404030204"/>
                </a:rPr>
                <a:t>Mockups &amp; UI Evolution</a:t>
              </a:r>
              <a:endParaRPr lang="en-US" sz="4800" b="1">
                <a:solidFill>
                  <a:srgbClr val="E2E8F0"/>
                </a:solidFill>
                <a:latin typeface="Calibri (MS) Bold" panose="020F0702030404030204"/>
                <a:ea typeface="Calibri (MS) Bold" panose="020F0702030404030204"/>
                <a:cs typeface="Calibri (MS) Bold" panose="020F0702030404030204"/>
                <a:sym typeface="Calibri (MS) Bold" panose="020F0702030404030204"/>
              </a:endParaRPr>
            </a:p>
          </p:txBody>
        </p:sp>
      </p:grpSp>
      <p:grpSp>
        <p:nvGrpSpPr>
          <p:cNvPr id="8" name="Group 8"/>
          <p:cNvGrpSpPr/>
          <p:nvPr/>
        </p:nvGrpSpPr>
        <p:grpSpPr>
          <a:xfrm rot="0">
            <a:off x="5018184" y="2730503"/>
            <a:ext cx="4027360" cy="6737099"/>
            <a:chOff x="0" y="0"/>
            <a:chExt cx="5369814" cy="8982799"/>
          </a:xfrm>
        </p:grpSpPr>
        <p:sp>
          <p:nvSpPr>
            <p:cNvPr id="9" name="Freeform 9"/>
            <p:cNvSpPr/>
            <p:nvPr/>
          </p:nvSpPr>
          <p:spPr>
            <a:xfrm>
              <a:off x="16891" y="16891"/>
              <a:ext cx="5336032" cy="8948928"/>
            </a:xfrm>
            <a:custGeom>
              <a:avLst/>
              <a:gdLst/>
              <a:ahLst/>
              <a:cxnLst/>
              <a:rect l="l" t="t" r="r" b="b"/>
              <a:pathLst>
                <a:path w="5336032" h="8948928">
                  <a:moveTo>
                    <a:pt x="0" y="0"/>
                  </a:moveTo>
                  <a:lnTo>
                    <a:pt x="5336032" y="0"/>
                  </a:lnTo>
                  <a:lnTo>
                    <a:pt x="5336032" y="8948928"/>
                  </a:lnTo>
                  <a:lnTo>
                    <a:pt x="0" y="8948928"/>
                  </a:lnTo>
                  <a:close/>
                </a:path>
              </a:pathLst>
            </a:custGeom>
            <a:solidFill>
              <a:srgbClr val="060912"/>
            </a:solidFill>
          </p:spPr>
        </p:sp>
        <p:sp>
          <p:nvSpPr>
            <p:cNvPr id="10" name="Freeform 10"/>
            <p:cNvSpPr/>
            <p:nvPr/>
          </p:nvSpPr>
          <p:spPr>
            <a:xfrm>
              <a:off x="0" y="0"/>
              <a:ext cx="5369814" cy="8982710"/>
            </a:xfrm>
            <a:custGeom>
              <a:avLst/>
              <a:gdLst/>
              <a:ahLst/>
              <a:cxnLst/>
              <a:rect l="l" t="t" r="r" b="b"/>
              <a:pathLst>
                <a:path w="5369814" h="8982710">
                  <a:moveTo>
                    <a:pt x="16891" y="0"/>
                  </a:moveTo>
                  <a:lnTo>
                    <a:pt x="5352923" y="0"/>
                  </a:lnTo>
                  <a:cubicBezTo>
                    <a:pt x="5362321" y="0"/>
                    <a:pt x="5369814" y="7620"/>
                    <a:pt x="5369814" y="16891"/>
                  </a:cubicBezTo>
                  <a:lnTo>
                    <a:pt x="5369814" y="8965819"/>
                  </a:lnTo>
                  <a:cubicBezTo>
                    <a:pt x="5369814" y="8975217"/>
                    <a:pt x="5362194" y="8982710"/>
                    <a:pt x="5352923" y="8982710"/>
                  </a:cubicBezTo>
                  <a:lnTo>
                    <a:pt x="16891" y="8982710"/>
                  </a:lnTo>
                  <a:cubicBezTo>
                    <a:pt x="7493" y="8982710"/>
                    <a:pt x="0" y="8975089"/>
                    <a:pt x="0" y="896581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8965819"/>
                  </a:lnTo>
                  <a:lnTo>
                    <a:pt x="16891" y="8965819"/>
                  </a:lnTo>
                  <a:lnTo>
                    <a:pt x="16891" y="8948927"/>
                  </a:lnTo>
                  <a:lnTo>
                    <a:pt x="5352923" y="8948927"/>
                  </a:lnTo>
                  <a:lnTo>
                    <a:pt x="5352923" y="8965819"/>
                  </a:lnTo>
                  <a:lnTo>
                    <a:pt x="5336032" y="8965819"/>
                  </a:lnTo>
                  <a:lnTo>
                    <a:pt x="5336032" y="16891"/>
                  </a:lnTo>
                  <a:lnTo>
                    <a:pt x="5352923" y="16891"/>
                  </a:lnTo>
                  <a:lnTo>
                    <a:pt x="535292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E2D45"/>
            </a:solidFill>
          </p:spPr>
        </p:sp>
      </p:grpSp>
      <p:grpSp>
        <p:nvGrpSpPr>
          <p:cNvPr id="11" name="Group 11"/>
          <p:cNvGrpSpPr/>
          <p:nvPr/>
        </p:nvGrpSpPr>
        <p:grpSpPr>
          <a:xfrm rot="0">
            <a:off x="810263" y="1834391"/>
            <a:ext cx="16667483" cy="71123"/>
            <a:chOff x="0" y="0"/>
            <a:chExt cx="22223311" cy="94831"/>
          </a:xfrm>
        </p:grpSpPr>
        <p:sp>
          <p:nvSpPr>
            <p:cNvPr id="12" name="Freeform 12"/>
            <p:cNvSpPr/>
            <p:nvPr/>
          </p:nvSpPr>
          <p:spPr>
            <a:xfrm>
              <a:off x="16891" y="16891"/>
              <a:ext cx="22189439" cy="60960"/>
            </a:xfrm>
            <a:custGeom>
              <a:avLst/>
              <a:gdLst/>
              <a:ahLst/>
              <a:cxnLst/>
              <a:rect l="l" t="t" r="r" b="b"/>
              <a:pathLst>
                <a:path w="22189439" h="60960">
                  <a:moveTo>
                    <a:pt x="0" y="0"/>
                  </a:moveTo>
                  <a:lnTo>
                    <a:pt x="22189439" y="0"/>
                  </a:lnTo>
                  <a:lnTo>
                    <a:pt x="22189439" y="60960"/>
                  </a:lnTo>
                  <a:lnTo>
                    <a:pt x="0" y="60960"/>
                  </a:lnTo>
                  <a:close/>
                </a:path>
              </a:pathLst>
            </a:custGeom>
            <a:solidFill>
              <a:srgbClr val="1E2D45"/>
            </a:solidFill>
          </p:spPr>
        </p:sp>
        <p:sp>
          <p:nvSpPr>
            <p:cNvPr id="13" name="Freeform 13"/>
            <p:cNvSpPr/>
            <p:nvPr/>
          </p:nvSpPr>
          <p:spPr>
            <a:xfrm>
              <a:off x="0" y="0"/>
              <a:ext cx="22223222" cy="94744"/>
            </a:xfrm>
            <a:custGeom>
              <a:avLst/>
              <a:gdLst/>
              <a:ahLst/>
              <a:cxnLst/>
              <a:rect l="l" t="t" r="r" b="b"/>
              <a:pathLst>
                <a:path w="22223222" h="94744">
                  <a:moveTo>
                    <a:pt x="16891" y="0"/>
                  </a:moveTo>
                  <a:lnTo>
                    <a:pt x="22206330" y="0"/>
                  </a:lnTo>
                  <a:cubicBezTo>
                    <a:pt x="22215729" y="0"/>
                    <a:pt x="22223222" y="7620"/>
                    <a:pt x="22223222" y="16891"/>
                  </a:cubicBezTo>
                  <a:lnTo>
                    <a:pt x="22223222" y="77851"/>
                  </a:lnTo>
                  <a:cubicBezTo>
                    <a:pt x="22223222" y="87249"/>
                    <a:pt x="22215602" y="94742"/>
                    <a:pt x="22206330" y="94742"/>
                  </a:cubicBezTo>
                  <a:lnTo>
                    <a:pt x="16891" y="94742"/>
                  </a:lnTo>
                  <a:cubicBezTo>
                    <a:pt x="7620" y="94869"/>
                    <a:pt x="0" y="87249"/>
                    <a:pt x="0" y="778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77851"/>
                  </a:lnTo>
                  <a:lnTo>
                    <a:pt x="16891" y="77851"/>
                  </a:lnTo>
                  <a:lnTo>
                    <a:pt x="16891" y="60960"/>
                  </a:lnTo>
                  <a:lnTo>
                    <a:pt x="22206330" y="60960"/>
                  </a:lnTo>
                  <a:lnTo>
                    <a:pt x="22206330" y="77851"/>
                  </a:lnTo>
                  <a:lnTo>
                    <a:pt x="22189439" y="77851"/>
                  </a:lnTo>
                  <a:lnTo>
                    <a:pt x="22189439" y="16891"/>
                  </a:lnTo>
                  <a:lnTo>
                    <a:pt x="22206330" y="16891"/>
                  </a:lnTo>
                  <a:lnTo>
                    <a:pt x="2220633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E2D45"/>
            </a:solidFill>
          </p:spPr>
        </p:sp>
      </p:grpSp>
      <p:grpSp>
        <p:nvGrpSpPr>
          <p:cNvPr id="14" name="Group 14"/>
          <p:cNvGrpSpPr/>
          <p:nvPr/>
        </p:nvGrpSpPr>
        <p:grpSpPr>
          <a:xfrm rot="0">
            <a:off x="822960" y="2011680"/>
            <a:ext cx="16642080" cy="512064"/>
            <a:chOff x="0" y="0"/>
            <a:chExt cx="22189440" cy="682752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22189439" cy="682752"/>
            </a:xfrm>
            <a:custGeom>
              <a:avLst/>
              <a:gdLst/>
              <a:ahLst/>
              <a:cxnLst/>
              <a:rect l="l" t="t" r="r" b="b"/>
              <a:pathLst>
                <a:path w="22189439" h="682752">
                  <a:moveTo>
                    <a:pt x="0" y="0"/>
                  </a:moveTo>
                  <a:lnTo>
                    <a:pt x="22189439" y="0"/>
                  </a:lnTo>
                  <a:lnTo>
                    <a:pt x="22189439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1">
                <a:alphaModFix amt="0"/>
              </a:blip>
              <a:stretch>
                <a:fillRect t="-583263" b="-583263"/>
              </a:stretch>
            </a:blipFill>
          </p:spPr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22189440" cy="72085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94A3B8"/>
                  </a:solidFill>
                  <a:latin typeface="Calibri (MS)" panose="020F0502020204030204"/>
                  <a:ea typeface="Calibri (MS)" panose="020F0502020204030204"/>
                  <a:cs typeface="Calibri (MS)" panose="020F0502020204030204"/>
                  <a:sym typeface="Calibri (MS)" panose="020F0502020204030204"/>
                </a:rPr>
                <a:t>Patient-centred design   ·   Redesign based on feedback   ·   Accessibility improvements   ·   Clinical pain tracking   ·   Pain-based exercise skip</a:t>
              </a:r>
              <a:endParaRPr lang="en-US" sz="2000">
                <a:solidFill>
                  <a:srgbClr val="94A3B8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endParaRPr>
            </a:p>
          </p:txBody>
        </p:sp>
      </p:grpSp>
      <p:grpSp>
        <p:nvGrpSpPr>
          <p:cNvPr id="17" name="Group 17"/>
          <p:cNvGrpSpPr/>
          <p:nvPr/>
        </p:nvGrpSpPr>
        <p:grpSpPr>
          <a:xfrm rot="0">
            <a:off x="810263" y="2730503"/>
            <a:ext cx="4027360" cy="6737099"/>
            <a:chOff x="0" y="0"/>
            <a:chExt cx="5369814" cy="8982799"/>
          </a:xfrm>
        </p:grpSpPr>
        <p:sp>
          <p:nvSpPr>
            <p:cNvPr id="18" name="Freeform 18"/>
            <p:cNvSpPr/>
            <p:nvPr/>
          </p:nvSpPr>
          <p:spPr>
            <a:xfrm>
              <a:off x="16891" y="16891"/>
              <a:ext cx="5336032" cy="8948928"/>
            </a:xfrm>
            <a:custGeom>
              <a:avLst/>
              <a:gdLst/>
              <a:ahLst/>
              <a:cxnLst/>
              <a:rect l="l" t="t" r="r" b="b"/>
              <a:pathLst>
                <a:path w="5336032" h="8948928">
                  <a:moveTo>
                    <a:pt x="0" y="0"/>
                  </a:moveTo>
                  <a:lnTo>
                    <a:pt x="5336032" y="0"/>
                  </a:lnTo>
                  <a:lnTo>
                    <a:pt x="5336032" y="8948928"/>
                  </a:lnTo>
                  <a:lnTo>
                    <a:pt x="0" y="8948928"/>
                  </a:lnTo>
                  <a:close/>
                </a:path>
              </a:pathLst>
            </a:custGeom>
            <a:solidFill>
              <a:srgbClr val="060912"/>
            </a:solidFill>
          </p:spPr>
        </p:sp>
        <p:sp>
          <p:nvSpPr>
            <p:cNvPr id="19" name="Freeform 19"/>
            <p:cNvSpPr/>
            <p:nvPr/>
          </p:nvSpPr>
          <p:spPr>
            <a:xfrm>
              <a:off x="0" y="0"/>
              <a:ext cx="5369814" cy="8982710"/>
            </a:xfrm>
            <a:custGeom>
              <a:avLst/>
              <a:gdLst/>
              <a:ahLst/>
              <a:cxnLst/>
              <a:rect l="l" t="t" r="r" b="b"/>
              <a:pathLst>
                <a:path w="5369814" h="8982710">
                  <a:moveTo>
                    <a:pt x="16891" y="0"/>
                  </a:moveTo>
                  <a:lnTo>
                    <a:pt x="5352923" y="0"/>
                  </a:lnTo>
                  <a:cubicBezTo>
                    <a:pt x="5362321" y="0"/>
                    <a:pt x="5369814" y="7620"/>
                    <a:pt x="5369814" y="16891"/>
                  </a:cubicBezTo>
                  <a:lnTo>
                    <a:pt x="5369814" y="8965819"/>
                  </a:lnTo>
                  <a:cubicBezTo>
                    <a:pt x="5369814" y="8975217"/>
                    <a:pt x="5362194" y="8982710"/>
                    <a:pt x="5352923" y="8982710"/>
                  </a:cubicBezTo>
                  <a:lnTo>
                    <a:pt x="16891" y="8982710"/>
                  </a:lnTo>
                  <a:cubicBezTo>
                    <a:pt x="7493" y="8982710"/>
                    <a:pt x="0" y="8975089"/>
                    <a:pt x="0" y="896581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8965819"/>
                  </a:lnTo>
                  <a:lnTo>
                    <a:pt x="16891" y="8965819"/>
                  </a:lnTo>
                  <a:lnTo>
                    <a:pt x="16891" y="8948927"/>
                  </a:lnTo>
                  <a:lnTo>
                    <a:pt x="5352923" y="8948927"/>
                  </a:lnTo>
                  <a:lnTo>
                    <a:pt x="5352923" y="8965819"/>
                  </a:lnTo>
                  <a:lnTo>
                    <a:pt x="5336032" y="8965819"/>
                  </a:lnTo>
                  <a:lnTo>
                    <a:pt x="5336032" y="16891"/>
                  </a:lnTo>
                  <a:lnTo>
                    <a:pt x="5352923" y="16891"/>
                  </a:lnTo>
                  <a:lnTo>
                    <a:pt x="535292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E2D45"/>
            </a:solidFill>
          </p:spPr>
        </p:sp>
      </p:grpSp>
      <p:grpSp>
        <p:nvGrpSpPr>
          <p:cNvPr id="20" name="Group 20"/>
          <p:cNvGrpSpPr/>
          <p:nvPr/>
        </p:nvGrpSpPr>
        <p:grpSpPr>
          <a:xfrm rot="0">
            <a:off x="391639" y="8801986"/>
            <a:ext cx="4864608" cy="512064"/>
            <a:chOff x="0" y="0"/>
            <a:chExt cx="6486144" cy="682752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6486144" cy="682752"/>
            </a:xfrm>
            <a:custGeom>
              <a:avLst/>
              <a:gdLst/>
              <a:ahLst/>
              <a:cxnLst/>
              <a:rect l="l" t="t" r="r" b="b"/>
              <a:pathLst>
                <a:path w="6486144" h="682752">
                  <a:moveTo>
                    <a:pt x="0" y="0"/>
                  </a:moveTo>
                  <a:lnTo>
                    <a:pt x="6486144" y="0"/>
                  </a:lnTo>
                  <a:lnTo>
                    <a:pt x="6486144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1">
                <a:alphaModFix amt="0"/>
              </a:blip>
              <a:stretch>
                <a:fillRect t="-135107" b="-135107"/>
              </a:stretch>
            </a:blipFill>
          </p:spPr>
        </p:sp>
        <p:sp>
          <p:nvSpPr>
            <p:cNvPr id="22" name="TextBox 22"/>
            <p:cNvSpPr txBox="1"/>
            <p:nvPr/>
          </p:nvSpPr>
          <p:spPr>
            <a:xfrm>
              <a:off x="0" y="-38100"/>
              <a:ext cx="6486144" cy="72085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040"/>
                </a:lnSpc>
              </a:pPr>
              <a:r>
                <a:rPr lang="en-US" sz="1700" b="1">
                  <a:solidFill>
                    <a:srgbClr val="38BDF8"/>
                  </a:solidFill>
                  <a:latin typeface="Calibri (MS) Bold" panose="020F0702030404030204"/>
                  <a:ea typeface="Calibri (MS) Bold" panose="020F0702030404030204"/>
                  <a:cs typeface="Calibri (MS) Bold" panose="020F0702030404030204"/>
                  <a:sym typeface="Calibri (MS) Bold" panose="020F0702030404030204"/>
                </a:rPr>
                <a:t>Homepage</a:t>
              </a:r>
              <a:endParaRPr lang="en-US" sz="1700" b="1">
                <a:solidFill>
                  <a:srgbClr val="38BDF8"/>
                </a:solidFill>
                <a:latin typeface="Calibri (MS) Bold" panose="020F0702030404030204"/>
                <a:ea typeface="Calibri (MS) Bold" panose="020F0702030404030204"/>
                <a:cs typeface="Calibri (MS) Bold" panose="020F0702030404030204"/>
                <a:sym typeface="Calibri (MS) Bold" panose="020F0702030404030204"/>
              </a:endParaRPr>
            </a:p>
          </p:txBody>
        </p:sp>
      </p:grpSp>
      <p:grpSp>
        <p:nvGrpSpPr>
          <p:cNvPr id="23" name="Group 23"/>
          <p:cNvGrpSpPr/>
          <p:nvPr/>
        </p:nvGrpSpPr>
        <p:grpSpPr>
          <a:xfrm rot="0">
            <a:off x="9253090" y="2730503"/>
            <a:ext cx="4027360" cy="6737099"/>
            <a:chOff x="0" y="0"/>
            <a:chExt cx="5369814" cy="8982799"/>
          </a:xfrm>
        </p:grpSpPr>
        <p:sp>
          <p:nvSpPr>
            <p:cNvPr id="24" name="Freeform 24"/>
            <p:cNvSpPr/>
            <p:nvPr/>
          </p:nvSpPr>
          <p:spPr>
            <a:xfrm>
              <a:off x="16891" y="16891"/>
              <a:ext cx="5336032" cy="8948928"/>
            </a:xfrm>
            <a:custGeom>
              <a:avLst/>
              <a:gdLst/>
              <a:ahLst/>
              <a:cxnLst/>
              <a:rect l="l" t="t" r="r" b="b"/>
              <a:pathLst>
                <a:path w="5336032" h="8948928">
                  <a:moveTo>
                    <a:pt x="0" y="0"/>
                  </a:moveTo>
                  <a:lnTo>
                    <a:pt x="5336032" y="0"/>
                  </a:lnTo>
                  <a:lnTo>
                    <a:pt x="5336032" y="8948928"/>
                  </a:lnTo>
                  <a:lnTo>
                    <a:pt x="0" y="8948928"/>
                  </a:lnTo>
                  <a:close/>
                </a:path>
              </a:pathLst>
            </a:custGeom>
            <a:solidFill>
              <a:srgbClr val="060912"/>
            </a:solidFill>
          </p:spPr>
        </p:sp>
        <p:sp>
          <p:nvSpPr>
            <p:cNvPr id="25" name="Freeform 25"/>
            <p:cNvSpPr/>
            <p:nvPr/>
          </p:nvSpPr>
          <p:spPr>
            <a:xfrm>
              <a:off x="0" y="0"/>
              <a:ext cx="5369814" cy="8982710"/>
            </a:xfrm>
            <a:custGeom>
              <a:avLst/>
              <a:gdLst/>
              <a:ahLst/>
              <a:cxnLst/>
              <a:rect l="l" t="t" r="r" b="b"/>
              <a:pathLst>
                <a:path w="5369814" h="8982710">
                  <a:moveTo>
                    <a:pt x="16891" y="0"/>
                  </a:moveTo>
                  <a:lnTo>
                    <a:pt x="5352923" y="0"/>
                  </a:lnTo>
                  <a:cubicBezTo>
                    <a:pt x="5362321" y="0"/>
                    <a:pt x="5369814" y="7620"/>
                    <a:pt x="5369814" y="16891"/>
                  </a:cubicBezTo>
                  <a:lnTo>
                    <a:pt x="5369814" y="8965819"/>
                  </a:lnTo>
                  <a:cubicBezTo>
                    <a:pt x="5369814" y="8975217"/>
                    <a:pt x="5362194" y="8982710"/>
                    <a:pt x="5352923" y="8982710"/>
                  </a:cubicBezTo>
                  <a:lnTo>
                    <a:pt x="16891" y="8982710"/>
                  </a:lnTo>
                  <a:cubicBezTo>
                    <a:pt x="7493" y="8982710"/>
                    <a:pt x="0" y="8975089"/>
                    <a:pt x="0" y="896581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8965819"/>
                  </a:lnTo>
                  <a:lnTo>
                    <a:pt x="16891" y="8965819"/>
                  </a:lnTo>
                  <a:lnTo>
                    <a:pt x="16891" y="8948927"/>
                  </a:lnTo>
                  <a:lnTo>
                    <a:pt x="5352923" y="8948927"/>
                  </a:lnTo>
                  <a:lnTo>
                    <a:pt x="5352923" y="8965819"/>
                  </a:lnTo>
                  <a:lnTo>
                    <a:pt x="5336032" y="8965819"/>
                  </a:lnTo>
                  <a:lnTo>
                    <a:pt x="5336032" y="16891"/>
                  </a:lnTo>
                  <a:lnTo>
                    <a:pt x="5352923" y="16891"/>
                  </a:lnTo>
                  <a:lnTo>
                    <a:pt x="535292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E2D45"/>
            </a:solidFill>
          </p:spPr>
        </p:sp>
      </p:grpSp>
      <p:grpSp>
        <p:nvGrpSpPr>
          <p:cNvPr id="26" name="Group 26"/>
          <p:cNvGrpSpPr/>
          <p:nvPr/>
        </p:nvGrpSpPr>
        <p:grpSpPr>
          <a:xfrm rot="0">
            <a:off x="13474513" y="2730503"/>
            <a:ext cx="4027360" cy="6737099"/>
            <a:chOff x="0" y="0"/>
            <a:chExt cx="5369814" cy="8982799"/>
          </a:xfrm>
        </p:grpSpPr>
        <p:sp>
          <p:nvSpPr>
            <p:cNvPr id="27" name="Freeform 27"/>
            <p:cNvSpPr/>
            <p:nvPr/>
          </p:nvSpPr>
          <p:spPr>
            <a:xfrm>
              <a:off x="16891" y="16891"/>
              <a:ext cx="5336032" cy="8948928"/>
            </a:xfrm>
            <a:custGeom>
              <a:avLst/>
              <a:gdLst/>
              <a:ahLst/>
              <a:cxnLst/>
              <a:rect l="l" t="t" r="r" b="b"/>
              <a:pathLst>
                <a:path w="5336032" h="8948928">
                  <a:moveTo>
                    <a:pt x="0" y="0"/>
                  </a:moveTo>
                  <a:lnTo>
                    <a:pt x="5336032" y="0"/>
                  </a:lnTo>
                  <a:lnTo>
                    <a:pt x="5336032" y="8948928"/>
                  </a:lnTo>
                  <a:lnTo>
                    <a:pt x="0" y="8948928"/>
                  </a:lnTo>
                  <a:close/>
                </a:path>
              </a:pathLst>
            </a:custGeom>
            <a:solidFill>
              <a:srgbClr val="060912"/>
            </a:solidFill>
          </p:spPr>
        </p:sp>
        <p:sp>
          <p:nvSpPr>
            <p:cNvPr id="28" name="Freeform 28"/>
            <p:cNvSpPr/>
            <p:nvPr/>
          </p:nvSpPr>
          <p:spPr>
            <a:xfrm>
              <a:off x="0" y="0"/>
              <a:ext cx="5369814" cy="8982710"/>
            </a:xfrm>
            <a:custGeom>
              <a:avLst/>
              <a:gdLst/>
              <a:ahLst/>
              <a:cxnLst/>
              <a:rect l="l" t="t" r="r" b="b"/>
              <a:pathLst>
                <a:path w="5369814" h="8982710">
                  <a:moveTo>
                    <a:pt x="16891" y="0"/>
                  </a:moveTo>
                  <a:lnTo>
                    <a:pt x="5352923" y="0"/>
                  </a:lnTo>
                  <a:cubicBezTo>
                    <a:pt x="5362321" y="0"/>
                    <a:pt x="5369814" y="7620"/>
                    <a:pt x="5369814" y="16891"/>
                  </a:cubicBezTo>
                  <a:lnTo>
                    <a:pt x="5369814" y="8965819"/>
                  </a:lnTo>
                  <a:cubicBezTo>
                    <a:pt x="5369814" y="8975217"/>
                    <a:pt x="5362194" y="8982710"/>
                    <a:pt x="5352923" y="8982710"/>
                  </a:cubicBezTo>
                  <a:lnTo>
                    <a:pt x="16891" y="8982710"/>
                  </a:lnTo>
                  <a:cubicBezTo>
                    <a:pt x="7493" y="8982710"/>
                    <a:pt x="0" y="8975089"/>
                    <a:pt x="0" y="896581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8965819"/>
                  </a:lnTo>
                  <a:lnTo>
                    <a:pt x="16891" y="8965819"/>
                  </a:lnTo>
                  <a:lnTo>
                    <a:pt x="16891" y="8948927"/>
                  </a:lnTo>
                  <a:lnTo>
                    <a:pt x="5352923" y="8948927"/>
                  </a:lnTo>
                  <a:lnTo>
                    <a:pt x="5352923" y="8965819"/>
                  </a:lnTo>
                  <a:lnTo>
                    <a:pt x="5336032" y="8965819"/>
                  </a:lnTo>
                  <a:lnTo>
                    <a:pt x="5336032" y="16891"/>
                  </a:lnTo>
                  <a:lnTo>
                    <a:pt x="5352923" y="16891"/>
                  </a:lnTo>
                  <a:lnTo>
                    <a:pt x="535292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E2D45"/>
            </a:solidFill>
          </p:spPr>
        </p:sp>
      </p:grpSp>
      <p:sp>
        <p:nvSpPr>
          <p:cNvPr id="29" name="TextBox 29"/>
          <p:cNvSpPr txBox="1"/>
          <p:nvPr/>
        </p:nvSpPr>
        <p:spPr>
          <a:xfrm>
            <a:off x="6385141" y="8891330"/>
            <a:ext cx="1293447" cy="295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40"/>
              </a:lnSpc>
            </a:pPr>
            <a:r>
              <a:rPr lang="en-US" sz="1700" b="1">
                <a:solidFill>
                  <a:srgbClr val="00B0F0"/>
                </a:solidFill>
                <a:latin typeface="Calibri (MS) Bold" panose="020F0702030404030204"/>
                <a:ea typeface="Calibri (MS) Bold" panose="020F0702030404030204"/>
                <a:cs typeface="Calibri (MS) Bold" panose="020F0702030404030204"/>
                <a:sym typeface="Calibri (MS) Bold" panose="020F0702030404030204"/>
              </a:rPr>
              <a:t>Exercise List</a:t>
            </a:r>
            <a:endParaRPr lang="en-US" sz="1700" b="1">
              <a:solidFill>
                <a:srgbClr val="00B0F0"/>
              </a:solidFill>
              <a:latin typeface="Calibri (MS) Bold" panose="020F0702030404030204"/>
              <a:ea typeface="Calibri (MS) Bold" panose="020F0702030404030204"/>
              <a:cs typeface="Calibri (MS) Bold" panose="020F0702030404030204"/>
              <a:sym typeface="Calibri (MS) Bold" panose="020F0702030404030204"/>
            </a:endParaRPr>
          </a:p>
        </p:txBody>
      </p:sp>
      <p:sp>
        <p:nvSpPr>
          <p:cNvPr id="30" name="TextBox 30"/>
          <p:cNvSpPr txBox="1"/>
          <p:nvPr/>
        </p:nvSpPr>
        <p:spPr>
          <a:xfrm>
            <a:off x="10455974" y="8891330"/>
            <a:ext cx="1621593" cy="3929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40"/>
              </a:lnSpc>
            </a:pPr>
            <a:r>
              <a:rPr lang="en-US" sz="1700" b="1">
                <a:solidFill>
                  <a:srgbClr val="00B0F0"/>
                </a:solidFill>
                <a:latin typeface="Calibri (MS) Bold" panose="020F0702030404030204"/>
                <a:ea typeface="Calibri (MS) Bold" panose="020F0702030404030204"/>
                <a:cs typeface="Calibri (MS) Bold" panose="020F0702030404030204"/>
                <a:sym typeface="Calibri (MS) Bold" panose="020F0702030404030204"/>
              </a:rPr>
              <a:t>Exercise Details</a:t>
            </a:r>
            <a:endParaRPr lang="en-US" sz="1700" b="1">
              <a:solidFill>
                <a:srgbClr val="00B0F0"/>
              </a:solidFill>
              <a:latin typeface="Calibri (MS) Bold" panose="020F0702030404030204"/>
              <a:ea typeface="Calibri (MS) Bold" panose="020F0702030404030204"/>
              <a:cs typeface="Calibri (MS) Bold" panose="020F0702030404030204"/>
              <a:sym typeface="Calibri (MS) Bold" panose="020F0702030404030204"/>
            </a:endParaRPr>
          </a:p>
        </p:txBody>
      </p:sp>
      <p:sp>
        <p:nvSpPr>
          <p:cNvPr id="31" name="TextBox 31"/>
          <p:cNvSpPr txBox="1"/>
          <p:nvPr/>
        </p:nvSpPr>
        <p:spPr>
          <a:xfrm>
            <a:off x="15027840" y="8891330"/>
            <a:ext cx="958539" cy="295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40"/>
              </a:lnSpc>
            </a:pPr>
            <a:r>
              <a:rPr lang="en-US" sz="1700" b="1">
                <a:solidFill>
                  <a:srgbClr val="00B0F0"/>
                </a:solidFill>
                <a:latin typeface="Calibri (MS) Bold" panose="020F0702030404030204"/>
                <a:ea typeface="Calibri (MS) Bold" panose="020F0702030404030204"/>
                <a:cs typeface="Calibri (MS) Bold" panose="020F0702030404030204"/>
                <a:sym typeface="Calibri (MS) Bold" panose="020F0702030404030204"/>
              </a:rPr>
              <a:t>Progress</a:t>
            </a:r>
            <a:endParaRPr lang="en-US" sz="1700" b="1">
              <a:solidFill>
                <a:srgbClr val="00B0F0"/>
              </a:solidFill>
              <a:latin typeface="Calibri (MS) Bold" panose="020F0702030404030204"/>
              <a:ea typeface="Calibri (MS) Bold" panose="020F0702030404030204"/>
              <a:cs typeface="Calibri (MS) Bold" panose="020F0702030404030204"/>
              <a:sym typeface="Calibri (MS) Bold" panose="020F0702030404030204"/>
            </a:endParaRPr>
          </a:p>
        </p:txBody>
      </p:sp>
      <p:grpSp>
        <p:nvGrpSpPr>
          <p:cNvPr id="32" name="Group 32"/>
          <p:cNvGrpSpPr/>
          <p:nvPr/>
        </p:nvGrpSpPr>
        <p:grpSpPr>
          <a:xfrm rot="0">
            <a:off x="1055908" y="2975362"/>
            <a:ext cx="3536071" cy="5760720"/>
            <a:chOff x="0" y="0"/>
            <a:chExt cx="4714761" cy="7680960"/>
          </a:xfrm>
        </p:grpSpPr>
        <p:sp>
          <p:nvSpPr>
            <p:cNvPr id="33" name="Freeform 33" descr="The image displays a mobile device screen showing a welcome message for John, a knee surgery patient, with a schedule for exercises, an appointment, and a pain check-in.&#10;&#10;Os conteúdos gerados por IA podem estar incorretos."/>
            <p:cNvSpPr/>
            <p:nvPr/>
          </p:nvSpPr>
          <p:spPr>
            <a:xfrm>
              <a:off x="0" y="0"/>
              <a:ext cx="4714748" cy="7680960"/>
            </a:xfrm>
            <a:custGeom>
              <a:avLst/>
              <a:gdLst/>
              <a:ahLst/>
              <a:cxnLst/>
              <a:rect l="l" t="t" r="r" b="b"/>
              <a:pathLst>
                <a:path w="4714748" h="7680960">
                  <a:moveTo>
                    <a:pt x="0" y="0"/>
                  </a:moveTo>
                  <a:lnTo>
                    <a:pt x="4714748" y="0"/>
                  </a:lnTo>
                  <a:lnTo>
                    <a:pt x="4714748" y="7680960"/>
                  </a:lnTo>
                  <a:lnTo>
                    <a:pt x="0" y="76809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22738" t="-10186" r="-23501" b="-9500"/>
              </a:stretch>
            </a:blipFill>
          </p:spPr>
        </p:sp>
      </p:grpSp>
      <p:grpSp>
        <p:nvGrpSpPr>
          <p:cNvPr id="34" name="Group 34"/>
          <p:cNvGrpSpPr/>
          <p:nvPr/>
        </p:nvGrpSpPr>
        <p:grpSpPr>
          <a:xfrm rot="0">
            <a:off x="5266782" y="2975362"/>
            <a:ext cx="3530165" cy="5760720"/>
            <a:chOff x="0" y="0"/>
            <a:chExt cx="4706887" cy="7680960"/>
          </a:xfrm>
        </p:grpSpPr>
        <p:sp>
          <p:nvSpPr>
            <p:cNvPr id="35" name="Freeform 35" descr="The image shows a fitness app interface displaying a list of various exercises, including warm-up and strength exercises, with specific instructions and repetition counts.&#10;&#10;Os conteúdos gerados por IA podem estar incorretos."/>
            <p:cNvSpPr/>
            <p:nvPr/>
          </p:nvSpPr>
          <p:spPr>
            <a:xfrm>
              <a:off x="0" y="0"/>
              <a:ext cx="4706874" cy="7680960"/>
            </a:xfrm>
            <a:custGeom>
              <a:avLst/>
              <a:gdLst/>
              <a:ahLst/>
              <a:cxnLst/>
              <a:rect l="l" t="t" r="r" b="b"/>
              <a:pathLst>
                <a:path w="4706874" h="7680960">
                  <a:moveTo>
                    <a:pt x="0" y="0"/>
                  </a:moveTo>
                  <a:lnTo>
                    <a:pt x="4706874" y="0"/>
                  </a:lnTo>
                  <a:lnTo>
                    <a:pt x="4706874" y="7680960"/>
                  </a:lnTo>
                  <a:lnTo>
                    <a:pt x="0" y="76809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22742" t="-10004" r="-23340" b="-9354"/>
              </a:stretch>
            </a:blipFill>
          </p:spPr>
        </p:sp>
      </p:grpSp>
      <p:grpSp>
        <p:nvGrpSpPr>
          <p:cNvPr id="36" name="Group 36"/>
          <p:cNvGrpSpPr/>
          <p:nvPr/>
        </p:nvGrpSpPr>
        <p:grpSpPr>
          <a:xfrm rot="0">
            <a:off x="9498735" y="2975362"/>
            <a:ext cx="3536071" cy="5760720"/>
            <a:chOff x="0" y="0"/>
            <a:chExt cx="4714761" cy="7680960"/>
          </a:xfrm>
        </p:grpSpPr>
        <p:sp>
          <p:nvSpPr>
            <p:cNvPr id="37" name="Freeform 37" descr="The image depicts a mobile app interface showing a Straight Leg Raise exercise routine, with options to rate pain, add notes, and complete the set.&#10;&#10;Os conteúdos gerados por IA podem estar incorretos."/>
            <p:cNvSpPr/>
            <p:nvPr/>
          </p:nvSpPr>
          <p:spPr>
            <a:xfrm>
              <a:off x="0" y="0"/>
              <a:ext cx="4714748" cy="7680960"/>
            </a:xfrm>
            <a:custGeom>
              <a:avLst/>
              <a:gdLst/>
              <a:ahLst/>
              <a:cxnLst/>
              <a:rect l="l" t="t" r="r" b="b"/>
              <a:pathLst>
                <a:path w="4714748" h="7680960">
                  <a:moveTo>
                    <a:pt x="0" y="0"/>
                  </a:moveTo>
                  <a:lnTo>
                    <a:pt x="4714748" y="0"/>
                  </a:lnTo>
                  <a:lnTo>
                    <a:pt x="4714748" y="7680960"/>
                  </a:lnTo>
                  <a:lnTo>
                    <a:pt x="0" y="76809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8786" t="-10021" r="-27318" b="-9555"/>
              </a:stretch>
            </a:blipFill>
          </p:spPr>
        </p:sp>
      </p:grpSp>
      <p:grpSp>
        <p:nvGrpSpPr>
          <p:cNvPr id="38" name="Group 38"/>
          <p:cNvGrpSpPr/>
          <p:nvPr/>
        </p:nvGrpSpPr>
        <p:grpSpPr>
          <a:xfrm rot="0">
            <a:off x="13737650" y="2975362"/>
            <a:ext cx="3538919" cy="5767159"/>
            <a:chOff x="0" y="0"/>
            <a:chExt cx="4718558" cy="7689545"/>
          </a:xfrm>
        </p:grpSpPr>
        <p:sp>
          <p:nvSpPr>
            <p:cNvPr id="39" name="Freeform 39" descr="The image shows a mobile device displaying a fitness app with progress metrics for knee flexibility, including an increase in range of motion, exercise adherence, and completion of prescribed exercises.&#10;&#10;Os conteúdos gerados por IA podem estar inc..."/>
            <p:cNvSpPr/>
            <p:nvPr/>
          </p:nvSpPr>
          <p:spPr>
            <a:xfrm>
              <a:off x="0" y="0"/>
              <a:ext cx="4718558" cy="7689596"/>
            </a:xfrm>
            <a:custGeom>
              <a:avLst/>
              <a:gdLst/>
              <a:ahLst/>
              <a:cxnLst/>
              <a:rect l="l" t="t" r="r" b="b"/>
              <a:pathLst>
                <a:path w="4718558" h="7689596">
                  <a:moveTo>
                    <a:pt x="0" y="0"/>
                  </a:moveTo>
                  <a:lnTo>
                    <a:pt x="4718558" y="0"/>
                  </a:lnTo>
                  <a:lnTo>
                    <a:pt x="4718558" y="7689596"/>
                  </a:lnTo>
                  <a:lnTo>
                    <a:pt x="0" y="76895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25150" t="-9892" r="-25831" b="-10003"/>
              </a:stretch>
            </a:blipFill>
          </p:spPr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822960" y="402336"/>
            <a:ext cx="16642080" cy="402336"/>
            <a:chOff x="0" y="0"/>
            <a:chExt cx="22189440" cy="53644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2189439" cy="536448"/>
            </a:xfrm>
            <a:custGeom>
              <a:avLst/>
              <a:gdLst/>
              <a:ahLst/>
              <a:cxnLst/>
              <a:rect l="l" t="t" r="r" b="b"/>
              <a:pathLst>
                <a:path w="22189439" h="536448">
                  <a:moveTo>
                    <a:pt x="0" y="0"/>
                  </a:moveTo>
                  <a:lnTo>
                    <a:pt x="22189439" y="0"/>
                  </a:lnTo>
                  <a:lnTo>
                    <a:pt x="22189439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1">
                <a:alphaModFix amt="0"/>
              </a:blip>
              <a:stretch>
                <a:fillRect t="-755972" b="-755972"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2189440" cy="57454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800"/>
                </a:lnSpc>
              </a:pPr>
              <a:r>
                <a:rPr lang="en-US" sz="1500" b="1" spc="600">
                  <a:solidFill>
                    <a:srgbClr val="34D399"/>
                  </a:solidFill>
                  <a:latin typeface="Calibri (MS) Bold" panose="020F0702030404030204"/>
                  <a:ea typeface="Calibri (MS) Bold" panose="020F0702030404030204"/>
                  <a:cs typeface="Calibri (MS) Bold" panose="020F0702030404030204"/>
                  <a:sym typeface="Calibri (MS) Bold" panose="020F0702030404030204"/>
                </a:rPr>
                <a:t>UI DESIGN</a:t>
              </a:r>
              <a:endParaRPr lang="en-US" sz="1500" b="1" spc="600">
                <a:solidFill>
                  <a:srgbClr val="34D399"/>
                </a:solidFill>
                <a:latin typeface="Calibri (MS) Bold" panose="020F0702030404030204"/>
                <a:ea typeface="Calibri (MS) Bold" panose="020F0702030404030204"/>
                <a:cs typeface="Calibri (MS) Bold" panose="020F0702030404030204"/>
                <a:sym typeface="Calibri (MS) Bold" panose="020F0702030404030204"/>
              </a:endParaRPr>
            </a:p>
          </p:txBody>
        </p:sp>
      </p:grpSp>
      <p:grpSp>
        <p:nvGrpSpPr>
          <p:cNvPr id="5" name="Group 5"/>
          <p:cNvGrpSpPr/>
          <p:nvPr/>
        </p:nvGrpSpPr>
        <p:grpSpPr>
          <a:xfrm rot="0">
            <a:off x="822960" y="804672"/>
            <a:ext cx="16642080" cy="1005840"/>
            <a:chOff x="0" y="0"/>
            <a:chExt cx="22189440" cy="134112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2189439" cy="1341120"/>
            </a:xfrm>
            <a:custGeom>
              <a:avLst/>
              <a:gdLst/>
              <a:ahLst/>
              <a:cxnLst/>
              <a:rect l="l" t="t" r="r" b="b"/>
              <a:pathLst>
                <a:path w="22189439" h="1341120">
                  <a:moveTo>
                    <a:pt x="0" y="0"/>
                  </a:moveTo>
                  <a:lnTo>
                    <a:pt x="22189439" y="0"/>
                  </a:lnTo>
                  <a:lnTo>
                    <a:pt x="22189439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1">
                <a:alphaModFix amt="0"/>
              </a:blip>
              <a:stretch>
                <a:fillRect t="-272388" b="-272388"/>
              </a:stretch>
            </a:blipFill>
          </p:spPr>
        </p:sp>
        <p:sp>
          <p:nvSpPr>
            <p:cNvPr id="7" name="TextBox 7"/>
            <p:cNvSpPr txBox="1"/>
            <p:nvPr/>
          </p:nvSpPr>
          <p:spPr>
            <a:xfrm>
              <a:off x="0" y="-85725"/>
              <a:ext cx="22189440" cy="14268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760"/>
                </a:lnSpc>
              </a:pPr>
              <a:r>
                <a:rPr lang="en-US" sz="4800" b="1">
                  <a:solidFill>
                    <a:srgbClr val="E2E8F0"/>
                  </a:solidFill>
                  <a:latin typeface="Calibri (MS) Bold" panose="020F0702030404030204"/>
                  <a:ea typeface="Calibri (MS) Bold" panose="020F0702030404030204"/>
                  <a:cs typeface="Calibri (MS) Bold" panose="020F0702030404030204"/>
                  <a:sym typeface="Calibri (MS) Bold" panose="020F0702030404030204"/>
                </a:rPr>
                <a:t>Mockups &amp; UI Evolution</a:t>
              </a:r>
              <a:endParaRPr lang="en-US" sz="4800" b="1">
                <a:solidFill>
                  <a:srgbClr val="E2E8F0"/>
                </a:solidFill>
                <a:latin typeface="Calibri (MS) Bold" panose="020F0702030404030204"/>
                <a:ea typeface="Calibri (MS) Bold" panose="020F0702030404030204"/>
                <a:cs typeface="Calibri (MS) Bold" panose="020F0702030404030204"/>
                <a:sym typeface="Calibri (MS) Bold" panose="020F0702030404030204"/>
              </a:endParaRPr>
            </a:p>
          </p:txBody>
        </p:sp>
      </p:grpSp>
      <p:grpSp>
        <p:nvGrpSpPr>
          <p:cNvPr id="8" name="Group 8"/>
          <p:cNvGrpSpPr/>
          <p:nvPr/>
        </p:nvGrpSpPr>
        <p:grpSpPr>
          <a:xfrm rot="0">
            <a:off x="810263" y="1834391"/>
            <a:ext cx="16667483" cy="71123"/>
            <a:chOff x="0" y="0"/>
            <a:chExt cx="22223311" cy="94831"/>
          </a:xfrm>
        </p:grpSpPr>
        <p:sp>
          <p:nvSpPr>
            <p:cNvPr id="9" name="Freeform 9"/>
            <p:cNvSpPr/>
            <p:nvPr/>
          </p:nvSpPr>
          <p:spPr>
            <a:xfrm>
              <a:off x="16891" y="16891"/>
              <a:ext cx="22189439" cy="60960"/>
            </a:xfrm>
            <a:custGeom>
              <a:avLst/>
              <a:gdLst/>
              <a:ahLst/>
              <a:cxnLst/>
              <a:rect l="l" t="t" r="r" b="b"/>
              <a:pathLst>
                <a:path w="22189439" h="60960">
                  <a:moveTo>
                    <a:pt x="0" y="0"/>
                  </a:moveTo>
                  <a:lnTo>
                    <a:pt x="22189439" y="0"/>
                  </a:lnTo>
                  <a:lnTo>
                    <a:pt x="22189439" y="60960"/>
                  </a:lnTo>
                  <a:lnTo>
                    <a:pt x="0" y="60960"/>
                  </a:lnTo>
                  <a:close/>
                </a:path>
              </a:pathLst>
            </a:custGeom>
            <a:solidFill>
              <a:srgbClr val="1E2D45"/>
            </a:solidFill>
          </p:spPr>
        </p:sp>
        <p:sp>
          <p:nvSpPr>
            <p:cNvPr id="10" name="Freeform 10"/>
            <p:cNvSpPr/>
            <p:nvPr/>
          </p:nvSpPr>
          <p:spPr>
            <a:xfrm>
              <a:off x="0" y="0"/>
              <a:ext cx="22223222" cy="94744"/>
            </a:xfrm>
            <a:custGeom>
              <a:avLst/>
              <a:gdLst/>
              <a:ahLst/>
              <a:cxnLst/>
              <a:rect l="l" t="t" r="r" b="b"/>
              <a:pathLst>
                <a:path w="22223222" h="94744">
                  <a:moveTo>
                    <a:pt x="16891" y="0"/>
                  </a:moveTo>
                  <a:lnTo>
                    <a:pt x="22206330" y="0"/>
                  </a:lnTo>
                  <a:cubicBezTo>
                    <a:pt x="22215729" y="0"/>
                    <a:pt x="22223222" y="7620"/>
                    <a:pt x="22223222" y="16891"/>
                  </a:cubicBezTo>
                  <a:lnTo>
                    <a:pt x="22223222" y="77851"/>
                  </a:lnTo>
                  <a:cubicBezTo>
                    <a:pt x="22223222" y="87249"/>
                    <a:pt x="22215602" y="94742"/>
                    <a:pt x="22206330" y="94742"/>
                  </a:cubicBezTo>
                  <a:lnTo>
                    <a:pt x="16891" y="94742"/>
                  </a:lnTo>
                  <a:cubicBezTo>
                    <a:pt x="7620" y="94869"/>
                    <a:pt x="0" y="87249"/>
                    <a:pt x="0" y="778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77851"/>
                  </a:lnTo>
                  <a:lnTo>
                    <a:pt x="16891" y="77851"/>
                  </a:lnTo>
                  <a:lnTo>
                    <a:pt x="16891" y="60960"/>
                  </a:lnTo>
                  <a:lnTo>
                    <a:pt x="22206330" y="60960"/>
                  </a:lnTo>
                  <a:lnTo>
                    <a:pt x="22206330" y="77851"/>
                  </a:lnTo>
                  <a:lnTo>
                    <a:pt x="22189439" y="77851"/>
                  </a:lnTo>
                  <a:lnTo>
                    <a:pt x="22189439" y="16891"/>
                  </a:lnTo>
                  <a:lnTo>
                    <a:pt x="22206330" y="16891"/>
                  </a:lnTo>
                  <a:lnTo>
                    <a:pt x="2220633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E2D45"/>
            </a:solidFill>
          </p:spPr>
        </p:sp>
      </p:grpSp>
      <p:grpSp>
        <p:nvGrpSpPr>
          <p:cNvPr id="11" name="Group 11"/>
          <p:cNvGrpSpPr/>
          <p:nvPr/>
        </p:nvGrpSpPr>
        <p:grpSpPr>
          <a:xfrm rot="0">
            <a:off x="5025242" y="2730503"/>
            <a:ext cx="4027360" cy="6737099"/>
            <a:chOff x="0" y="0"/>
            <a:chExt cx="5369814" cy="8982799"/>
          </a:xfrm>
        </p:grpSpPr>
        <p:sp>
          <p:nvSpPr>
            <p:cNvPr id="12" name="Freeform 12"/>
            <p:cNvSpPr/>
            <p:nvPr/>
          </p:nvSpPr>
          <p:spPr>
            <a:xfrm>
              <a:off x="16891" y="16891"/>
              <a:ext cx="5336032" cy="8948928"/>
            </a:xfrm>
            <a:custGeom>
              <a:avLst/>
              <a:gdLst/>
              <a:ahLst/>
              <a:cxnLst/>
              <a:rect l="l" t="t" r="r" b="b"/>
              <a:pathLst>
                <a:path w="5336032" h="8948928">
                  <a:moveTo>
                    <a:pt x="0" y="0"/>
                  </a:moveTo>
                  <a:lnTo>
                    <a:pt x="5336032" y="0"/>
                  </a:lnTo>
                  <a:lnTo>
                    <a:pt x="5336032" y="8948928"/>
                  </a:lnTo>
                  <a:lnTo>
                    <a:pt x="0" y="8948928"/>
                  </a:lnTo>
                  <a:close/>
                </a:path>
              </a:pathLst>
            </a:custGeom>
            <a:solidFill>
              <a:srgbClr val="060912"/>
            </a:solidFill>
          </p:spPr>
        </p:sp>
        <p:sp>
          <p:nvSpPr>
            <p:cNvPr id="13" name="Freeform 13"/>
            <p:cNvSpPr/>
            <p:nvPr/>
          </p:nvSpPr>
          <p:spPr>
            <a:xfrm>
              <a:off x="0" y="0"/>
              <a:ext cx="5369814" cy="8982710"/>
            </a:xfrm>
            <a:custGeom>
              <a:avLst/>
              <a:gdLst/>
              <a:ahLst/>
              <a:cxnLst/>
              <a:rect l="l" t="t" r="r" b="b"/>
              <a:pathLst>
                <a:path w="5369814" h="8982710">
                  <a:moveTo>
                    <a:pt x="16891" y="0"/>
                  </a:moveTo>
                  <a:lnTo>
                    <a:pt x="5352923" y="0"/>
                  </a:lnTo>
                  <a:cubicBezTo>
                    <a:pt x="5362321" y="0"/>
                    <a:pt x="5369814" y="7620"/>
                    <a:pt x="5369814" y="16891"/>
                  </a:cubicBezTo>
                  <a:lnTo>
                    <a:pt x="5369814" y="8965819"/>
                  </a:lnTo>
                  <a:cubicBezTo>
                    <a:pt x="5369814" y="8975217"/>
                    <a:pt x="5362194" y="8982710"/>
                    <a:pt x="5352923" y="8982710"/>
                  </a:cubicBezTo>
                  <a:lnTo>
                    <a:pt x="16891" y="8982710"/>
                  </a:lnTo>
                  <a:cubicBezTo>
                    <a:pt x="7493" y="8982710"/>
                    <a:pt x="0" y="8975089"/>
                    <a:pt x="0" y="896581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8965819"/>
                  </a:lnTo>
                  <a:lnTo>
                    <a:pt x="16891" y="8965819"/>
                  </a:lnTo>
                  <a:lnTo>
                    <a:pt x="16891" y="8948927"/>
                  </a:lnTo>
                  <a:lnTo>
                    <a:pt x="5352923" y="8948927"/>
                  </a:lnTo>
                  <a:lnTo>
                    <a:pt x="5352923" y="8965819"/>
                  </a:lnTo>
                  <a:lnTo>
                    <a:pt x="5336032" y="8965819"/>
                  </a:lnTo>
                  <a:lnTo>
                    <a:pt x="5336032" y="16891"/>
                  </a:lnTo>
                  <a:lnTo>
                    <a:pt x="5352923" y="16891"/>
                  </a:lnTo>
                  <a:lnTo>
                    <a:pt x="535292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E2D45"/>
            </a:solidFill>
          </p:spPr>
        </p:sp>
      </p:grpSp>
      <p:grpSp>
        <p:nvGrpSpPr>
          <p:cNvPr id="14" name="Group 14"/>
          <p:cNvGrpSpPr/>
          <p:nvPr/>
        </p:nvGrpSpPr>
        <p:grpSpPr>
          <a:xfrm rot="0">
            <a:off x="822960" y="2011680"/>
            <a:ext cx="16642080" cy="512064"/>
            <a:chOff x="0" y="0"/>
            <a:chExt cx="22189440" cy="682752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22189439" cy="682752"/>
            </a:xfrm>
            <a:custGeom>
              <a:avLst/>
              <a:gdLst/>
              <a:ahLst/>
              <a:cxnLst/>
              <a:rect l="l" t="t" r="r" b="b"/>
              <a:pathLst>
                <a:path w="22189439" h="682752">
                  <a:moveTo>
                    <a:pt x="0" y="0"/>
                  </a:moveTo>
                  <a:lnTo>
                    <a:pt x="22189439" y="0"/>
                  </a:lnTo>
                  <a:lnTo>
                    <a:pt x="22189439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1">
                <a:alphaModFix amt="0"/>
              </a:blip>
              <a:stretch>
                <a:fillRect t="-583263" b="-583263"/>
              </a:stretch>
            </a:blipFill>
          </p:spPr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22189440" cy="72085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94A3B8"/>
                  </a:solidFill>
                  <a:latin typeface="Calibri (MS)" panose="020F0502020204030204"/>
                  <a:ea typeface="Calibri (MS)" panose="020F0502020204030204"/>
                  <a:cs typeface="Calibri (MS)" panose="020F0502020204030204"/>
                  <a:sym typeface="Calibri (MS)" panose="020F0502020204030204"/>
                </a:rPr>
                <a:t>Patient-centred design   ·   Redesign based on feedback   ·   Accessibility improvements   ·   Clinical pain tracking   ·   Pain-based exercise skip</a:t>
              </a:r>
              <a:endParaRPr lang="en-US" sz="2000">
                <a:solidFill>
                  <a:srgbClr val="94A3B8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endParaRPr>
            </a:p>
          </p:txBody>
        </p:sp>
      </p:grpSp>
      <p:grpSp>
        <p:nvGrpSpPr>
          <p:cNvPr id="17" name="Group 17"/>
          <p:cNvGrpSpPr/>
          <p:nvPr/>
        </p:nvGrpSpPr>
        <p:grpSpPr>
          <a:xfrm rot="0">
            <a:off x="810263" y="2730503"/>
            <a:ext cx="4027360" cy="6737099"/>
            <a:chOff x="0" y="0"/>
            <a:chExt cx="5369814" cy="8982799"/>
          </a:xfrm>
        </p:grpSpPr>
        <p:sp>
          <p:nvSpPr>
            <p:cNvPr id="18" name="Freeform 18"/>
            <p:cNvSpPr/>
            <p:nvPr/>
          </p:nvSpPr>
          <p:spPr>
            <a:xfrm>
              <a:off x="16891" y="16891"/>
              <a:ext cx="5336032" cy="8948928"/>
            </a:xfrm>
            <a:custGeom>
              <a:avLst/>
              <a:gdLst/>
              <a:ahLst/>
              <a:cxnLst/>
              <a:rect l="l" t="t" r="r" b="b"/>
              <a:pathLst>
                <a:path w="5336032" h="8948928">
                  <a:moveTo>
                    <a:pt x="0" y="0"/>
                  </a:moveTo>
                  <a:lnTo>
                    <a:pt x="5336032" y="0"/>
                  </a:lnTo>
                  <a:lnTo>
                    <a:pt x="5336032" y="8948928"/>
                  </a:lnTo>
                  <a:lnTo>
                    <a:pt x="0" y="8948928"/>
                  </a:lnTo>
                  <a:close/>
                </a:path>
              </a:pathLst>
            </a:custGeom>
            <a:solidFill>
              <a:srgbClr val="060912"/>
            </a:solidFill>
          </p:spPr>
        </p:sp>
        <p:sp>
          <p:nvSpPr>
            <p:cNvPr id="19" name="Freeform 19"/>
            <p:cNvSpPr/>
            <p:nvPr/>
          </p:nvSpPr>
          <p:spPr>
            <a:xfrm>
              <a:off x="0" y="0"/>
              <a:ext cx="5369814" cy="8982710"/>
            </a:xfrm>
            <a:custGeom>
              <a:avLst/>
              <a:gdLst/>
              <a:ahLst/>
              <a:cxnLst/>
              <a:rect l="l" t="t" r="r" b="b"/>
              <a:pathLst>
                <a:path w="5369814" h="8982710">
                  <a:moveTo>
                    <a:pt x="16891" y="0"/>
                  </a:moveTo>
                  <a:lnTo>
                    <a:pt x="5352923" y="0"/>
                  </a:lnTo>
                  <a:cubicBezTo>
                    <a:pt x="5362321" y="0"/>
                    <a:pt x="5369814" y="7620"/>
                    <a:pt x="5369814" y="16891"/>
                  </a:cubicBezTo>
                  <a:lnTo>
                    <a:pt x="5369814" y="8965819"/>
                  </a:lnTo>
                  <a:cubicBezTo>
                    <a:pt x="5369814" y="8975217"/>
                    <a:pt x="5362194" y="8982710"/>
                    <a:pt x="5352923" y="8982710"/>
                  </a:cubicBezTo>
                  <a:lnTo>
                    <a:pt x="16891" y="8982710"/>
                  </a:lnTo>
                  <a:cubicBezTo>
                    <a:pt x="7493" y="8982710"/>
                    <a:pt x="0" y="8975089"/>
                    <a:pt x="0" y="896581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8965819"/>
                  </a:lnTo>
                  <a:lnTo>
                    <a:pt x="16891" y="8965819"/>
                  </a:lnTo>
                  <a:lnTo>
                    <a:pt x="16891" y="8948927"/>
                  </a:lnTo>
                  <a:lnTo>
                    <a:pt x="5352923" y="8948927"/>
                  </a:lnTo>
                  <a:lnTo>
                    <a:pt x="5352923" y="8965819"/>
                  </a:lnTo>
                  <a:lnTo>
                    <a:pt x="5336032" y="8965819"/>
                  </a:lnTo>
                  <a:lnTo>
                    <a:pt x="5336032" y="16891"/>
                  </a:lnTo>
                  <a:lnTo>
                    <a:pt x="5352923" y="16891"/>
                  </a:lnTo>
                  <a:lnTo>
                    <a:pt x="535292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E2D45"/>
            </a:solidFill>
          </p:spPr>
        </p:sp>
      </p:grpSp>
      <p:grpSp>
        <p:nvGrpSpPr>
          <p:cNvPr id="20" name="Group 20"/>
          <p:cNvGrpSpPr/>
          <p:nvPr/>
        </p:nvGrpSpPr>
        <p:grpSpPr>
          <a:xfrm rot="0">
            <a:off x="1042416" y="6528816"/>
            <a:ext cx="4864608" cy="2194560"/>
            <a:chOff x="0" y="0"/>
            <a:chExt cx="6486144" cy="292608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6486144" cy="2926080"/>
            </a:xfrm>
            <a:custGeom>
              <a:avLst/>
              <a:gdLst/>
              <a:ahLst/>
              <a:cxnLst/>
              <a:rect l="l" t="t" r="r" b="b"/>
              <a:pathLst>
                <a:path w="6486144" h="2926080">
                  <a:moveTo>
                    <a:pt x="0" y="0"/>
                  </a:moveTo>
                  <a:lnTo>
                    <a:pt x="6486144" y="0"/>
                  </a:lnTo>
                  <a:lnTo>
                    <a:pt x="6486144" y="2926080"/>
                  </a:lnTo>
                  <a:lnTo>
                    <a:pt x="0" y="2926080"/>
                  </a:lnTo>
                  <a:close/>
                </a:path>
              </a:pathLst>
            </a:custGeom>
            <a:blipFill>
              <a:blip r:embed="rId1">
                <a:alphaModFix amt="0"/>
              </a:blip>
              <a:stretch>
                <a:fillRect l="-7881" r="-7881"/>
              </a:stretch>
            </a:blipFill>
          </p:spPr>
        </p:sp>
        <p:sp>
          <p:nvSpPr>
            <p:cNvPr id="22" name="TextBox 22"/>
            <p:cNvSpPr txBox="1"/>
            <p:nvPr/>
          </p:nvSpPr>
          <p:spPr>
            <a:xfrm>
              <a:off x="0" y="-38100"/>
              <a:ext cx="6486144" cy="29641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94A3B8"/>
                  </a:solidFill>
                  <a:latin typeface="Calibri (MS)" panose="020F0502020204030204"/>
                  <a:ea typeface="Calibri (MS)" panose="020F0502020204030204"/>
                  <a:cs typeface="Calibri (MS)" panose="020F0502020204030204"/>
                  <a:sym typeface="Calibri (MS)" panose="020F0502020204030204"/>
                </a:rPr>
                <a:t>🖼️</a:t>
              </a:r>
              <a:endParaRPr lang="en-US" sz="1800">
                <a:solidFill>
                  <a:srgbClr val="94A3B8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endParaRPr>
            </a:p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94A3B8"/>
                  </a:solidFill>
                  <a:latin typeface="Calibri (MS)" panose="020F0502020204030204"/>
                  <a:ea typeface="Calibri (MS)" panose="020F0502020204030204"/>
                  <a:cs typeface="Calibri (MS)" panose="020F0502020204030204"/>
                  <a:sym typeface="Calibri (MS)" panose="020F0502020204030204"/>
                </a:rPr>
                <a:t>Insert Mockup</a:t>
              </a:r>
              <a:endParaRPr lang="en-US" sz="1800">
                <a:solidFill>
                  <a:srgbClr val="94A3B8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endParaRPr>
            </a:p>
          </p:txBody>
        </p:sp>
      </p:grpSp>
      <p:grpSp>
        <p:nvGrpSpPr>
          <p:cNvPr id="23" name="Group 23"/>
          <p:cNvGrpSpPr/>
          <p:nvPr/>
        </p:nvGrpSpPr>
        <p:grpSpPr>
          <a:xfrm rot="0">
            <a:off x="378142" y="8798404"/>
            <a:ext cx="4864608" cy="512064"/>
            <a:chOff x="0" y="0"/>
            <a:chExt cx="6486144" cy="682752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6486144" cy="682752"/>
            </a:xfrm>
            <a:custGeom>
              <a:avLst/>
              <a:gdLst/>
              <a:ahLst/>
              <a:cxnLst/>
              <a:rect l="l" t="t" r="r" b="b"/>
              <a:pathLst>
                <a:path w="6486144" h="682752">
                  <a:moveTo>
                    <a:pt x="0" y="0"/>
                  </a:moveTo>
                  <a:lnTo>
                    <a:pt x="6486144" y="0"/>
                  </a:lnTo>
                  <a:lnTo>
                    <a:pt x="6486144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1">
                <a:alphaModFix amt="0"/>
              </a:blip>
              <a:stretch>
                <a:fillRect t="-135107" b="-135107"/>
              </a:stretch>
            </a:blipFill>
          </p:spPr>
        </p:sp>
        <p:sp>
          <p:nvSpPr>
            <p:cNvPr id="25" name="TextBox 25"/>
            <p:cNvSpPr txBox="1"/>
            <p:nvPr/>
          </p:nvSpPr>
          <p:spPr>
            <a:xfrm>
              <a:off x="0" y="-38100"/>
              <a:ext cx="6486144" cy="72085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040"/>
                </a:lnSpc>
              </a:pPr>
              <a:r>
                <a:rPr lang="en-US" sz="1700" b="1">
                  <a:solidFill>
                    <a:srgbClr val="38BDF8"/>
                  </a:solidFill>
                  <a:latin typeface="Calibri (MS) Bold" panose="020F0702030404030204"/>
                  <a:ea typeface="Calibri (MS) Bold" panose="020F0702030404030204"/>
                  <a:cs typeface="Calibri (MS) Bold" panose="020F0702030404030204"/>
                  <a:sym typeface="Calibri (MS) Bold" panose="020F0702030404030204"/>
                </a:rPr>
                <a:t>Education</a:t>
              </a:r>
              <a:endParaRPr lang="en-US" sz="1700" b="1">
                <a:solidFill>
                  <a:srgbClr val="38BDF8"/>
                </a:solidFill>
                <a:latin typeface="Calibri (MS) Bold" panose="020F0702030404030204"/>
                <a:ea typeface="Calibri (MS) Bold" panose="020F0702030404030204"/>
                <a:cs typeface="Calibri (MS) Bold" panose="020F0702030404030204"/>
                <a:sym typeface="Calibri (MS) Bold" panose="020F0702030404030204"/>
              </a:endParaRPr>
            </a:p>
          </p:txBody>
        </p:sp>
      </p:grpSp>
      <p:grpSp>
        <p:nvGrpSpPr>
          <p:cNvPr id="26" name="Group 26"/>
          <p:cNvGrpSpPr/>
          <p:nvPr/>
        </p:nvGrpSpPr>
        <p:grpSpPr>
          <a:xfrm rot="0">
            <a:off x="9253090" y="2730503"/>
            <a:ext cx="4027360" cy="6737099"/>
            <a:chOff x="0" y="0"/>
            <a:chExt cx="5369814" cy="8982799"/>
          </a:xfrm>
        </p:grpSpPr>
        <p:sp>
          <p:nvSpPr>
            <p:cNvPr id="27" name="Freeform 27"/>
            <p:cNvSpPr/>
            <p:nvPr/>
          </p:nvSpPr>
          <p:spPr>
            <a:xfrm>
              <a:off x="16891" y="16891"/>
              <a:ext cx="5336032" cy="8948928"/>
            </a:xfrm>
            <a:custGeom>
              <a:avLst/>
              <a:gdLst/>
              <a:ahLst/>
              <a:cxnLst/>
              <a:rect l="l" t="t" r="r" b="b"/>
              <a:pathLst>
                <a:path w="5336032" h="8948928">
                  <a:moveTo>
                    <a:pt x="0" y="0"/>
                  </a:moveTo>
                  <a:lnTo>
                    <a:pt x="5336032" y="0"/>
                  </a:lnTo>
                  <a:lnTo>
                    <a:pt x="5336032" y="8948928"/>
                  </a:lnTo>
                  <a:lnTo>
                    <a:pt x="0" y="8948928"/>
                  </a:lnTo>
                  <a:close/>
                </a:path>
              </a:pathLst>
            </a:custGeom>
            <a:solidFill>
              <a:srgbClr val="060912"/>
            </a:solidFill>
          </p:spPr>
        </p:sp>
        <p:sp>
          <p:nvSpPr>
            <p:cNvPr id="28" name="Freeform 28"/>
            <p:cNvSpPr/>
            <p:nvPr/>
          </p:nvSpPr>
          <p:spPr>
            <a:xfrm>
              <a:off x="0" y="0"/>
              <a:ext cx="5369814" cy="8982710"/>
            </a:xfrm>
            <a:custGeom>
              <a:avLst/>
              <a:gdLst/>
              <a:ahLst/>
              <a:cxnLst/>
              <a:rect l="l" t="t" r="r" b="b"/>
              <a:pathLst>
                <a:path w="5369814" h="8982710">
                  <a:moveTo>
                    <a:pt x="16891" y="0"/>
                  </a:moveTo>
                  <a:lnTo>
                    <a:pt x="5352923" y="0"/>
                  </a:lnTo>
                  <a:cubicBezTo>
                    <a:pt x="5362321" y="0"/>
                    <a:pt x="5369814" y="7620"/>
                    <a:pt x="5369814" y="16891"/>
                  </a:cubicBezTo>
                  <a:lnTo>
                    <a:pt x="5369814" y="8965819"/>
                  </a:lnTo>
                  <a:cubicBezTo>
                    <a:pt x="5369814" y="8975217"/>
                    <a:pt x="5362194" y="8982710"/>
                    <a:pt x="5352923" y="8982710"/>
                  </a:cubicBezTo>
                  <a:lnTo>
                    <a:pt x="16891" y="8982710"/>
                  </a:lnTo>
                  <a:cubicBezTo>
                    <a:pt x="7493" y="8982710"/>
                    <a:pt x="0" y="8975089"/>
                    <a:pt x="0" y="896581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8965819"/>
                  </a:lnTo>
                  <a:lnTo>
                    <a:pt x="16891" y="8965819"/>
                  </a:lnTo>
                  <a:lnTo>
                    <a:pt x="16891" y="8948927"/>
                  </a:lnTo>
                  <a:lnTo>
                    <a:pt x="5352923" y="8948927"/>
                  </a:lnTo>
                  <a:lnTo>
                    <a:pt x="5352923" y="8965819"/>
                  </a:lnTo>
                  <a:lnTo>
                    <a:pt x="5336032" y="8965819"/>
                  </a:lnTo>
                  <a:lnTo>
                    <a:pt x="5336032" y="16891"/>
                  </a:lnTo>
                  <a:lnTo>
                    <a:pt x="5352923" y="16891"/>
                  </a:lnTo>
                  <a:lnTo>
                    <a:pt x="535292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E2D45"/>
            </a:solidFill>
          </p:spPr>
        </p:sp>
      </p:grpSp>
      <p:grpSp>
        <p:nvGrpSpPr>
          <p:cNvPr id="29" name="Group 29"/>
          <p:cNvGrpSpPr/>
          <p:nvPr/>
        </p:nvGrpSpPr>
        <p:grpSpPr>
          <a:xfrm rot="0">
            <a:off x="13474513" y="2730503"/>
            <a:ext cx="4027360" cy="6737099"/>
            <a:chOff x="0" y="0"/>
            <a:chExt cx="5369814" cy="8982799"/>
          </a:xfrm>
        </p:grpSpPr>
        <p:sp>
          <p:nvSpPr>
            <p:cNvPr id="30" name="Freeform 30"/>
            <p:cNvSpPr/>
            <p:nvPr/>
          </p:nvSpPr>
          <p:spPr>
            <a:xfrm>
              <a:off x="16891" y="16891"/>
              <a:ext cx="5336032" cy="8948928"/>
            </a:xfrm>
            <a:custGeom>
              <a:avLst/>
              <a:gdLst/>
              <a:ahLst/>
              <a:cxnLst/>
              <a:rect l="l" t="t" r="r" b="b"/>
              <a:pathLst>
                <a:path w="5336032" h="8948928">
                  <a:moveTo>
                    <a:pt x="0" y="0"/>
                  </a:moveTo>
                  <a:lnTo>
                    <a:pt x="5336032" y="0"/>
                  </a:lnTo>
                  <a:lnTo>
                    <a:pt x="5336032" y="8948928"/>
                  </a:lnTo>
                  <a:lnTo>
                    <a:pt x="0" y="8948928"/>
                  </a:lnTo>
                  <a:close/>
                </a:path>
              </a:pathLst>
            </a:custGeom>
            <a:solidFill>
              <a:srgbClr val="060912"/>
            </a:solidFill>
          </p:spPr>
        </p:sp>
        <p:sp>
          <p:nvSpPr>
            <p:cNvPr id="31" name="Freeform 31"/>
            <p:cNvSpPr/>
            <p:nvPr/>
          </p:nvSpPr>
          <p:spPr>
            <a:xfrm>
              <a:off x="0" y="0"/>
              <a:ext cx="5369814" cy="8982710"/>
            </a:xfrm>
            <a:custGeom>
              <a:avLst/>
              <a:gdLst/>
              <a:ahLst/>
              <a:cxnLst/>
              <a:rect l="l" t="t" r="r" b="b"/>
              <a:pathLst>
                <a:path w="5369814" h="8982710">
                  <a:moveTo>
                    <a:pt x="16891" y="0"/>
                  </a:moveTo>
                  <a:lnTo>
                    <a:pt x="5352923" y="0"/>
                  </a:lnTo>
                  <a:cubicBezTo>
                    <a:pt x="5362321" y="0"/>
                    <a:pt x="5369814" y="7620"/>
                    <a:pt x="5369814" y="16891"/>
                  </a:cubicBezTo>
                  <a:lnTo>
                    <a:pt x="5369814" y="8965819"/>
                  </a:lnTo>
                  <a:cubicBezTo>
                    <a:pt x="5369814" y="8975217"/>
                    <a:pt x="5362194" y="8982710"/>
                    <a:pt x="5352923" y="8982710"/>
                  </a:cubicBezTo>
                  <a:lnTo>
                    <a:pt x="16891" y="8982710"/>
                  </a:lnTo>
                  <a:cubicBezTo>
                    <a:pt x="7493" y="8982710"/>
                    <a:pt x="0" y="8975089"/>
                    <a:pt x="0" y="896581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8965819"/>
                  </a:lnTo>
                  <a:lnTo>
                    <a:pt x="16891" y="8965819"/>
                  </a:lnTo>
                  <a:lnTo>
                    <a:pt x="16891" y="8948927"/>
                  </a:lnTo>
                  <a:lnTo>
                    <a:pt x="5352923" y="8948927"/>
                  </a:lnTo>
                  <a:lnTo>
                    <a:pt x="5352923" y="8965819"/>
                  </a:lnTo>
                  <a:lnTo>
                    <a:pt x="5336032" y="8965819"/>
                  </a:lnTo>
                  <a:lnTo>
                    <a:pt x="5336032" y="16891"/>
                  </a:lnTo>
                  <a:lnTo>
                    <a:pt x="5352923" y="16891"/>
                  </a:lnTo>
                  <a:lnTo>
                    <a:pt x="535292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E2D45"/>
            </a:solidFill>
          </p:spPr>
        </p:sp>
      </p:grpSp>
      <p:sp>
        <p:nvSpPr>
          <p:cNvPr id="32" name="TextBox 32"/>
          <p:cNvSpPr txBox="1"/>
          <p:nvPr/>
        </p:nvSpPr>
        <p:spPr>
          <a:xfrm>
            <a:off x="6728127" y="8889363"/>
            <a:ext cx="810987" cy="3929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40"/>
              </a:lnSpc>
            </a:pPr>
            <a:r>
              <a:rPr lang="en-US" sz="1700" b="1">
                <a:solidFill>
                  <a:srgbClr val="00B0F0"/>
                </a:solidFill>
                <a:latin typeface="Calibri (MS) Bold" panose="020F0702030404030204"/>
                <a:ea typeface="Calibri (MS) Bold" panose="020F0702030404030204"/>
                <a:cs typeface="Calibri (MS) Bold" panose="020F0702030404030204"/>
                <a:sym typeface="Calibri (MS) Bold" panose="020F0702030404030204"/>
              </a:rPr>
              <a:t>Profile</a:t>
            </a:r>
            <a:endParaRPr lang="en-US" sz="1700" b="1">
              <a:solidFill>
                <a:srgbClr val="00B0F0"/>
              </a:solidFill>
              <a:latin typeface="Calibri (MS) Bold" panose="020F0702030404030204"/>
              <a:ea typeface="Calibri (MS) Bold" panose="020F0702030404030204"/>
              <a:cs typeface="Calibri (MS) Bold" panose="020F0702030404030204"/>
              <a:sym typeface="Calibri (MS) Bold" panose="020F0702030404030204"/>
            </a:endParaRPr>
          </a:p>
        </p:txBody>
      </p:sp>
      <p:sp>
        <p:nvSpPr>
          <p:cNvPr id="33" name="TextBox 33"/>
          <p:cNvSpPr txBox="1"/>
          <p:nvPr/>
        </p:nvSpPr>
        <p:spPr>
          <a:xfrm>
            <a:off x="10725910" y="8889363"/>
            <a:ext cx="1361046" cy="3929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40"/>
              </a:lnSpc>
            </a:pPr>
            <a:r>
              <a:rPr lang="en-US" sz="1700" b="1">
                <a:solidFill>
                  <a:srgbClr val="00B0F0"/>
                </a:solidFill>
                <a:latin typeface="Calibri (MS) Bold" panose="020F0702030404030204"/>
                <a:ea typeface="Calibri (MS) Bold" panose="020F0702030404030204"/>
                <a:cs typeface="Calibri (MS) Bold" panose="020F0702030404030204"/>
                <a:sym typeface="Calibri (MS) Bold" panose="020F0702030404030204"/>
              </a:rPr>
              <a:t>Video Player</a:t>
            </a:r>
            <a:endParaRPr lang="en-US" sz="1700" b="1">
              <a:solidFill>
                <a:srgbClr val="00B0F0"/>
              </a:solidFill>
              <a:latin typeface="Calibri (MS) Bold" panose="020F0702030404030204"/>
              <a:ea typeface="Calibri (MS) Bold" panose="020F0702030404030204"/>
              <a:cs typeface="Calibri (MS) Bold" panose="020F0702030404030204"/>
              <a:sym typeface="Calibri (MS) Bold" panose="020F0702030404030204"/>
            </a:endParaRPr>
          </a:p>
        </p:txBody>
      </p:sp>
      <p:sp>
        <p:nvSpPr>
          <p:cNvPr id="34" name="TextBox 34"/>
          <p:cNvSpPr txBox="1"/>
          <p:nvPr/>
        </p:nvSpPr>
        <p:spPr>
          <a:xfrm>
            <a:off x="14418683" y="8889363"/>
            <a:ext cx="2139020" cy="3929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40"/>
              </a:lnSpc>
            </a:pPr>
            <a:r>
              <a:rPr lang="en-US" sz="1700" b="1">
                <a:solidFill>
                  <a:srgbClr val="00B0F0"/>
                </a:solidFill>
                <a:latin typeface="Calibri (MS) Bold" panose="020F0702030404030204"/>
                <a:ea typeface="Calibri (MS) Bold" panose="020F0702030404030204"/>
                <a:cs typeface="Calibri (MS) Bold" panose="020F0702030404030204"/>
                <a:sym typeface="Calibri (MS) Bold" panose="020F0702030404030204"/>
              </a:rPr>
              <a:t>Skip/Modify Exercise</a:t>
            </a:r>
            <a:endParaRPr lang="en-US" sz="1700" b="1">
              <a:solidFill>
                <a:srgbClr val="00B0F0"/>
              </a:solidFill>
              <a:latin typeface="Calibri (MS) Bold" panose="020F0702030404030204"/>
              <a:ea typeface="Calibri (MS) Bold" panose="020F0702030404030204"/>
              <a:cs typeface="Calibri (MS) Bold" panose="020F0702030404030204"/>
              <a:sym typeface="Calibri (MS) Bold" panose="020F0702030404030204"/>
            </a:endParaRPr>
          </a:p>
        </p:txBody>
      </p:sp>
      <p:grpSp>
        <p:nvGrpSpPr>
          <p:cNvPr id="35" name="Group 35"/>
          <p:cNvGrpSpPr/>
          <p:nvPr/>
        </p:nvGrpSpPr>
        <p:grpSpPr>
          <a:xfrm rot="0">
            <a:off x="1086031" y="2981373"/>
            <a:ext cx="3536071" cy="5778932"/>
            <a:chOff x="0" y="0"/>
            <a:chExt cx="4714761" cy="7705242"/>
          </a:xfrm>
        </p:grpSpPr>
        <p:sp>
          <p:nvSpPr>
            <p:cNvPr id="36" name="Freeform 36" descr="The image displays a smartphone screen displaying an educational app with sections on asthma, videos, tips, pain management, and nutrition for healing.&#10;&#10;Os conteúdos gerados por IA podem estar incorretos."/>
            <p:cNvSpPr/>
            <p:nvPr/>
          </p:nvSpPr>
          <p:spPr>
            <a:xfrm>
              <a:off x="0" y="0"/>
              <a:ext cx="4714748" cy="7705242"/>
            </a:xfrm>
            <a:custGeom>
              <a:avLst/>
              <a:gdLst/>
              <a:ahLst/>
              <a:cxnLst/>
              <a:rect l="l" t="t" r="r" b="b"/>
              <a:pathLst>
                <a:path w="4714748" h="7705242">
                  <a:moveTo>
                    <a:pt x="0" y="0"/>
                  </a:moveTo>
                  <a:lnTo>
                    <a:pt x="4714748" y="0"/>
                  </a:lnTo>
                  <a:lnTo>
                    <a:pt x="4714748" y="7705242"/>
                  </a:lnTo>
                  <a:lnTo>
                    <a:pt x="0" y="77052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24272" t="-9338" r="-24272" b="-11851"/>
              </a:stretch>
            </a:blipFill>
          </p:spPr>
        </p:sp>
      </p:grpSp>
      <p:grpSp>
        <p:nvGrpSpPr>
          <p:cNvPr id="37" name="Group 37"/>
          <p:cNvGrpSpPr/>
          <p:nvPr/>
        </p:nvGrpSpPr>
        <p:grpSpPr>
          <a:xfrm rot="0">
            <a:off x="5267315" y="2979106"/>
            <a:ext cx="3557149" cy="5781199"/>
            <a:chOff x="0" y="0"/>
            <a:chExt cx="4742866" cy="7708265"/>
          </a:xfrm>
        </p:grpSpPr>
        <p:sp>
          <p:nvSpPr>
            <p:cNvPr id="38" name="Freeform 38" descr="John Doe&#10;&#10;Os conteúdos gerados por IA podem estar incorretos."/>
            <p:cNvSpPr/>
            <p:nvPr/>
          </p:nvSpPr>
          <p:spPr>
            <a:xfrm>
              <a:off x="0" y="0"/>
              <a:ext cx="4742815" cy="7708265"/>
            </a:xfrm>
            <a:custGeom>
              <a:avLst/>
              <a:gdLst/>
              <a:ahLst/>
              <a:cxnLst/>
              <a:rect l="l" t="t" r="r" b="b"/>
              <a:pathLst>
                <a:path w="4742815" h="7708265">
                  <a:moveTo>
                    <a:pt x="0" y="0"/>
                  </a:moveTo>
                  <a:lnTo>
                    <a:pt x="4742815" y="0"/>
                  </a:lnTo>
                  <a:lnTo>
                    <a:pt x="4742815" y="7708265"/>
                  </a:lnTo>
                  <a:lnTo>
                    <a:pt x="0" y="77082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25161" t="-8805" r="-26515" b="-11968"/>
              </a:stretch>
            </a:blipFill>
          </p:spPr>
        </p:sp>
      </p:grpSp>
      <p:grpSp>
        <p:nvGrpSpPr>
          <p:cNvPr id="39" name="Group 39"/>
          <p:cNvGrpSpPr/>
          <p:nvPr/>
        </p:nvGrpSpPr>
        <p:grpSpPr>
          <a:xfrm rot="0">
            <a:off x="9495523" y="2979106"/>
            <a:ext cx="3536071" cy="5760720"/>
            <a:chOff x="0" y="0"/>
            <a:chExt cx="4714761" cy="7680960"/>
          </a:xfrm>
        </p:grpSpPr>
        <p:sp>
          <p:nvSpPr>
            <p:cNvPr id="40" name="Freeform 40" descr="The image displays a mobile device showing a step-by-step guide for performing Heel Slides exercise, with instructions to lie back, slide heel towards buttocks, hold, then slide back down, and repeat for prescribed reps.&#10;&#10;Os conteúdos gerados por..."/>
            <p:cNvSpPr/>
            <p:nvPr/>
          </p:nvSpPr>
          <p:spPr>
            <a:xfrm>
              <a:off x="0" y="0"/>
              <a:ext cx="4714748" cy="7680960"/>
            </a:xfrm>
            <a:custGeom>
              <a:avLst/>
              <a:gdLst/>
              <a:ahLst/>
              <a:cxnLst/>
              <a:rect l="l" t="t" r="r" b="b"/>
              <a:pathLst>
                <a:path w="4714748" h="7680960">
                  <a:moveTo>
                    <a:pt x="0" y="0"/>
                  </a:moveTo>
                  <a:lnTo>
                    <a:pt x="4714748" y="0"/>
                  </a:lnTo>
                  <a:lnTo>
                    <a:pt x="4714748" y="7680960"/>
                  </a:lnTo>
                  <a:lnTo>
                    <a:pt x="0" y="76809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23823" t="-8805" r="-23745" b="-11969"/>
              </a:stretch>
            </a:blipFill>
          </p:spPr>
        </p:sp>
      </p:grpSp>
      <p:grpSp>
        <p:nvGrpSpPr>
          <p:cNvPr id="41" name="Group 41"/>
          <p:cNvGrpSpPr/>
          <p:nvPr/>
        </p:nvGrpSpPr>
        <p:grpSpPr>
          <a:xfrm rot="0">
            <a:off x="13709075" y="2993708"/>
            <a:ext cx="3536071" cy="5736050"/>
            <a:chOff x="0" y="0"/>
            <a:chExt cx="4714761" cy="7648067"/>
          </a:xfrm>
        </p:grpSpPr>
        <p:sp>
          <p:nvSpPr>
            <p:cNvPr id="42" name="Freeform 42" descr="The image depicts a mobile app screen for a leg strength exercise, presenting options to proceed with the preset exercise, adjust difficulty, skip the exercise, or cancel it.&#10;&#10;Os conteúdos gerados por IA podem estar incorretos."/>
            <p:cNvSpPr/>
            <p:nvPr/>
          </p:nvSpPr>
          <p:spPr>
            <a:xfrm>
              <a:off x="0" y="0"/>
              <a:ext cx="4714748" cy="7648067"/>
            </a:xfrm>
            <a:custGeom>
              <a:avLst/>
              <a:gdLst/>
              <a:ahLst/>
              <a:cxnLst/>
              <a:rect l="l" t="t" r="r" b="b"/>
              <a:pathLst>
                <a:path w="4714748" h="7648067">
                  <a:moveTo>
                    <a:pt x="0" y="0"/>
                  </a:moveTo>
                  <a:lnTo>
                    <a:pt x="4714748" y="0"/>
                  </a:lnTo>
                  <a:lnTo>
                    <a:pt x="4714748" y="7648067"/>
                  </a:lnTo>
                  <a:lnTo>
                    <a:pt x="0" y="76480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9382" t="-9453" r="-27398" b="-11192"/>
              </a:stretch>
            </a:blipFill>
          </p:spPr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822960" y="402336"/>
            <a:ext cx="16642080" cy="402336"/>
            <a:chOff x="0" y="0"/>
            <a:chExt cx="22189440" cy="53644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2189439" cy="536448"/>
            </a:xfrm>
            <a:custGeom>
              <a:avLst/>
              <a:gdLst/>
              <a:ahLst/>
              <a:cxnLst/>
              <a:rect l="l" t="t" r="r" b="b"/>
              <a:pathLst>
                <a:path w="22189439" h="536448">
                  <a:moveTo>
                    <a:pt x="0" y="0"/>
                  </a:moveTo>
                  <a:lnTo>
                    <a:pt x="22189439" y="0"/>
                  </a:lnTo>
                  <a:lnTo>
                    <a:pt x="22189439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1">
                <a:alphaModFix amt="0"/>
              </a:blip>
              <a:stretch>
                <a:fillRect t="-755972" b="-755972"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2189440" cy="57454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800"/>
                </a:lnSpc>
              </a:pPr>
              <a:r>
                <a:rPr lang="en-US" sz="1500" b="1" spc="600">
                  <a:solidFill>
                    <a:srgbClr val="34D399"/>
                  </a:solidFill>
                  <a:latin typeface="Calibri (MS) Bold" panose="020F0702030404030204"/>
                  <a:ea typeface="Calibri (MS) Bold" panose="020F0702030404030204"/>
                  <a:cs typeface="Calibri (MS) Bold" panose="020F0702030404030204"/>
                  <a:sym typeface="Calibri (MS) Bold" panose="020F0702030404030204"/>
                </a:rPr>
                <a:t>APPLICATION PROTOTYPE</a:t>
              </a:r>
              <a:endParaRPr lang="en-US" sz="1500" b="1" spc="600">
                <a:solidFill>
                  <a:srgbClr val="34D399"/>
                </a:solidFill>
                <a:latin typeface="Calibri (MS) Bold" panose="020F0702030404030204"/>
                <a:ea typeface="Calibri (MS) Bold" panose="020F0702030404030204"/>
                <a:cs typeface="Calibri (MS) Bold" panose="020F0702030404030204"/>
                <a:sym typeface="Calibri (MS) Bold" panose="020F0702030404030204"/>
              </a:endParaRPr>
            </a:p>
          </p:txBody>
        </p:sp>
      </p:grpSp>
      <p:grpSp>
        <p:nvGrpSpPr>
          <p:cNvPr id="5" name="Group 5"/>
          <p:cNvGrpSpPr/>
          <p:nvPr/>
        </p:nvGrpSpPr>
        <p:grpSpPr>
          <a:xfrm rot="0">
            <a:off x="822960" y="804672"/>
            <a:ext cx="16642080" cy="1005840"/>
            <a:chOff x="0" y="0"/>
            <a:chExt cx="22189440" cy="134112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2189439" cy="1341120"/>
            </a:xfrm>
            <a:custGeom>
              <a:avLst/>
              <a:gdLst/>
              <a:ahLst/>
              <a:cxnLst/>
              <a:rect l="l" t="t" r="r" b="b"/>
              <a:pathLst>
                <a:path w="22189439" h="1341120">
                  <a:moveTo>
                    <a:pt x="0" y="0"/>
                  </a:moveTo>
                  <a:lnTo>
                    <a:pt x="22189439" y="0"/>
                  </a:lnTo>
                  <a:lnTo>
                    <a:pt x="22189439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1">
                <a:alphaModFix amt="0"/>
              </a:blip>
              <a:stretch>
                <a:fillRect t="-272388" b="-272388"/>
              </a:stretch>
            </a:blipFill>
          </p:spPr>
        </p:sp>
        <p:sp>
          <p:nvSpPr>
            <p:cNvPr id="7" name="TextBox 7"/>
            <p:cNvSpPr txBox="1"/>
            <p:nvPr/>
          </p:nvSpPr>
          <p:spPr>
            <a:xfrm>
              <a:off x="0" y="-85725"/>
              <a:ext cx="22189440" cy="14268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760"/>
                </a:lnSpc>
              </a:pPr>
              <a:r>
                <a:rPr lang="en-US" sz="4800" b="1">
                  <a:solidFill>
                    <a:srgbClr val="E2E8F0"/>
                  </a:solidFill>
                  <a:latin typeface="Calibri (MS) Bold" panose="020F0702030404030204"/>
                  <a:ea typeface="Calibri (MS) Bold" panose="020F0702030404030204"/>
                  <a:cs typeface="Calibri (MS) Bold" panose="020F0702030404030204"/>
                  <a:sym typeface="Calibri (MS) Bold" panose="020F0702030404030204"/>
                </a:rPr>
                <a:t>Working Prototype — Current State</a:t>
              </a:r>
              <a:endParaRPr lang="en-US" sz="4800" b="1">
                <a:solidFill>
                  <a:srgbClr val="E2E8F0"/>
                </a:solidFill>
                <a:latin typeface="Calibri (MS) Bold" panose="020F0702030404030204"/>
                <a:ea typeface="Calibri (MS) Bold" panose="020F0702030404030204"/>
                <a:cs typeface="Calibri (MS) Bold" panose="020F0702030404030204"/>
                <a:sym typeface="Calibri (MS) Bold" panose="020F0702030404030204"/>
              </a:endParaRPr>
            </a:p>
          </p:txBody>
        </p:sp>
      </p:grpSp>
      <p:grpSp>
        <p:nvGrpSpPr>
          <p:cNvPr id="8" name="Group 8"/>
          <p:cNvGrpSpPr/>
          <p:nvPr/>
        </p:nvGrpSpPr>
        <p:grpSpPr>
          <a:xfrm rot="0">
            <a:off x="810263" y="1834391"/>
            <a:ext cx="16667483" cy="71123"/>
            <a:chOff x="0" y="0"/>
            <a:chExt cx="22223311" cy="94831"/>
          </a:xfrm>
        </p:grpSpPr>
        <p:sp>
          <p:nvSpPr>
            <p:cNvPr id="9" name="Freeform 9"/>
            <p:cNvSpPr/>
            <p:nvPr/>
          </p:nvSpPr>
          <p:spPr>
            <a:xfrm>
              <a:off x="16891" y="16891"/>
              <a:ext cx="22189439" cy="60960"/>
            </a:xfrm>
            <a:custGeom>
              <a:avLst/>
              <a:gdLst/>
              <a:ahLst/>
              <a:cxnLst/>
              <a:rect l="l" t="t" r="r" b="b"/>
              <a:pathLst>
                <a:path w="22189439" h="60960">
                  <a:moveTo>
                    <a:pt x="0" y="0"/>
                  </a:moveTo>
                  <a:lnTo>
                    <a:pt x="22189439" y="0"/>
                  </a:lnTo>
                  <a:lnTo>
                    <a:pt x="22189439" y="60960"/>
                  </a:lnTo>
                  <a:lnTo>
                    <a:pt x="0" y="60960"/>
                  </a:lnTo>
                  <a:close/>
                </a:path>
              </a:pathLst>
            </a:custGeom>
            <a:solidFill>
              <a:srgbClr val="1E2D45"/>
            </a:solidFill>
          </p:spPr>
        </p:sp>
        <p:sp>
          <p:nvSpPr>
            <p:cNvPr id="10" name="Freeform 10"/>
            <p:cNvSpPr/>
            <p:nvPr/>
          </p:nvSpPr>
          <p:spPr>
            <a:xfrm>
              <a:off x="0" y="0"/>
              <a:ext cx="22223222" cy="94744"/>
            </a:xfrm>
            <a:custGeom>
              <a:avLst/>
              <a:gdLst/>
              <a:ahLst/>
              <a:cxnLst/>
              <a:rect l="l" t="t" r="r" b="b"/>
              <a:pathLst>
                <a:path w="22223222" h="94744">
                  <a:moveTo>
                    <a:pt x="16891" y="0"/>
                  </a:moveTo>
                  <a:lnTo>
                    <a:pt x="22206330" y="0"/>
                  </a:lnTo>
                  <a:cubicBezTo>
                    <a:pt x="22215729" y="0"/>
                    <a:pt x="22223222" y="7620"/>
                    <a:pt x="22223222" y="16891"/>
                  </a:cubicBezTo>
                  <a:lnTo>
                    <a:pt x="22223222" y="77851"/>
                  </a:lnTo>
                  <a:cubicBezTo>
                    <a:pt x="22223222" y="87249"/>
                    <a:pt x="22215602" y="94742"/>
                    <a:pt x="22206330" y="94742"/>
                  </a:cubicBezTo>
                  <a:lnTo>
                    <a:pt x="16891" y="94742"/>
                  </a:lnTo>
                  <a:cubicBezTo>
                    <a:pt x="7620" y="94869"/>
                    <a:pt x="0" y="87249"/>
                    <a:pt x="0" y="778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77851"/>
                  </a:lnTo>
                  <a:lnTo>
                    <a:pt x="16891" y="77851"/>
                  </a:lnTo>
                  <a:lnTo>
                    <a:pt x="16891" y="60960"/>
                  </a:lnTo>
                  <a:lnTo>
                    <a:pt x="22206330" y="60960"/>
                  </a:lnTo>
                  <a:lnTo>
                    <a:pt x="22206330" y="77851"/>
                  </a:lnTo>
                  <a:lnTo>
                    <a:pt x="22189439" y="77851"/>
                  </a:lnTo>
                  <a:lnTo>
                    <a:pt x="22189439" y="16891"/>
                  </a:lnTo>
                  <a:lnTo>
                    <a:pt x="22206330" y="16891"/>
                  </a:lnTo>
                  <a:lnTo>
                    <a:pt x="2220633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E2D45"/>
            </a:solidFill>
          </p:spPr>
        </p:sp>
      </p:grpSp>
      <p:grpSp>
        <p:nvGrpSpPr>
          <p:cNvPr id="11" name="Group 11"/>
          <p:cNvGrpSpPr/>
          <p:nvPr/>
        </p:nvGrpSpPr>
        <p:grpSpPr>
          <a:xfrm rot="0">
            <a:off x="810263" y="2035559"/>
            <a:ext cx="2585723" cy="610619"/>
            <a:chOff x="0" y="0"/>
            <a:chExt cx="3447631" cy="814159"/>
          </a:xfrm>
        </p:grpSpPr>
        <p:sp>
          <p:nvSpPr>
            <p:cNvPr id="12" name="Freeform 12"/>
            <p:cNvSpPr/>
            <p:nvPr/>
          </p:nvSpPr>
          <p:spPr>
            <a:xfrm>
              <a:off x="16891" y="16891"/>
              <a:ext cx="3413760" cy="780288"/>
            </a:xfrm>
            <a:custGeom>
              <a:avLst/>
              <a:gdLst/>
              <a:ahLst/>
              <a:cxnLst/>
              <a:rect l="l" t="t" r="r" b="b"/>
              <a:pathLst>
                <a:path w="3413760" h="780288">
                  <a:moveTo>
                    <a:pt x="0" y="0"/>
                  </a:moveTo>
                  <a:lnTo>
                    <a:pt x="3413760" y="0"/>
                  </a:lnTo>
                  <a:lnTo>
                    <a:pt x="3413760" y="780288"/>
                  </a:lnTo>
                  <a:lnTo>
                    <a:pt x="0" y="780288"/>
                  </a:lnTo>
                  <a:close/>
                </a:path>
              </a:pathLst>
            </a:custGeom>
            <a:solidFill>
              <a:srgbClr val="1A2236"/>
            </a:solidFill>
          </p:spPr>
        </p:sp>
        <p:sp>
          <p:nvSpPr>
            <p:cNvPr id="13" name="Freeform 13"/>
            <p:cNvSpPr/>
            <p:nvPr/>
          </p:nvSpPr>
          <p:spPr>
            <a:xfrm>
              <a:off x="0" y="0"/>
              <a:ext cx="3447542" cy="814072"/>
            </a:xfrm>
            <a:custGeom>
              <a:avLst/>
              <a:gdLst/>
              <a:ahLst/>
              <a:cxnLst/>
              <a:rect l="l" t="t" r="r" b="b"/>
              <a:pathLst>
                <a:path w="3447542" h="814072">
                  <a:moveTo>
                    <a:pt x="16891" y="0"/>
                  </a:moveTo>
                  <a:lnTo>
                    <a:pt x="3430651" y="0"/>
                  </a:lnTo>
                  <a:cubicBezTo>
                    <a:pt x="3440049" y="0"/>
                    <a:pt x="3447542" y="7620"/>
                    <a:pt x="3447542" y="16891"/>
                  </a:cubicBezTo>
                  <a:lnTo>
                    <a:pt x="3447542" y="797179"/>
                  </a:lnTo>
                  <a:cubicBezTo>
                    <a:pt x="3447542" y="806577"/>
                    <a:pt x="3439922" y="814070"/>
                    <a:pt x="3430651" y="814070"/>
                  </a:cubicBezTo>
                  <a:lnTo>
                    <a:pt x="16891" y="814070"/>
                  </a:lnTo>
                  <a:cubicBezTo>
                    <a:pt x="7620" y="814197"/>
                    <a:pt x="0" y="806577"/>
                    <a:pt x="0" y="7971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797179"/>
                  </a:lnTo>
                  <a:lnTo>
                    <a:pt x="16891" y="797179"/>
                  </a:lnTo>
                  <a:lnTo>
                    <a:pt x="16891" y="780288"/>
                  </a:lnTo>
                  <a:lnTo>
                    <a:pt x="3430651" y="780288"/>
                  </a:lnTo>
                  <a:lnTo>
                    <a:pt x="3430651" y="797179"/>
                  </a:lnTo>
                  <a:lnTo>
                    <a:pt x="3413760" y="797179"/>
                  </a:lnTo>
                  <a:lnTo>
                    <a:pt x="3413760" y="16891"/>
                  </a:lnTo>
                  <a:lnTo>
                    <a:pt x="3430651" y="16891"/>
                  </a:lnTo>
                  <a:lnTo>
                    <a:pt x="34306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8BDF8"/>
            </a:solidFill>
          </p:spPr>
        </p:sp>
      </p:grpSp>
      <p:grpSp>
        <p:nvGrpSpPr>
          <p:cNvPr id="14" name="Group 14"/>
          <p:cNvGrpSpPr/>
          <p:nvPr/>
        </p:nvGrpSpPr>
        <p:grpSpPr>
          <a:xfrm rot="0">
            <a:off x="822960" y="2048256"/>
            <a:ext cx="2560320" cy="585216"/>
            <a:chOff x="0" y="0"/>
            <a:chExt cx="3413760" cy="780288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3413760" cy="780288"/>
            </a:xfrm>
            <a:custGeom>
              <a:avLst/>
              <a:gdLst/>
              <a:ahLst/>
              <a:cxnLst/>
              <a:rect l="l" t="t" r="r" b="b"/>
              <a:pathLst>
                <a:path w="3413760" h="780288">
                  <a:moveTo>
                    <a:pt x="0" y="0"/>
                  </a:moveTo>
                  <a:lnTo>
                    <a:pt x="3413760" y="0"/>
                  </a:lnTo>
                  <a:lnTo>
                    <a:pt x="341376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1">
                <a:alphaModFix amt="0"/>
              </a:blip>
              <a:stretch>
                <a:fillRect t="-35247" b="-35247"/>
              </a:stretch>
            </a:blipFill>
          </p:spPr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3413760" cy="81838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 b="1">
                  <a:solidFill>
                    <a:srgbClr val="38BDF8"/>
                  </a:solidFill>
                  <a:latin typeface="Calibri (MS) Bold" panose="020F0702030404030204"/>
                  <a:ea typeface="Calibri (MS) Bold" panose="020F0702030404030204"/>
                  <a:cs typeface="Calibri (MS) Bold" panose="020F0702030404030204"/>
                  <a:sym typeface="Calibri (MS) Bold" panose="020F0702030404030204"/>
                </a:rPr>
                <a:t>Login &amp; Register</a:t>
              </a:r>
              <a:endParaRPr lang="en-US" sz="1800" b="1">
                <a:solidFill>
                  <a:srgbClr val="38BDF8"/>
                </a:solidFill>
                <a:latin typeface="Calibri (MS) Bold" panose="020F0702030404030204"/>
                <a:ea typeface="Calibri (MS) Bold" panose="020F0702030404030204"/>
                <a:cs typeface="Calibri (MS) Bold" panose="020F0702030404030204"/>
                <a:sym typeface="Calibri (MS) Bold" panose="020F0702030404030204"/>
              </a:endParaRPr>
            </a:p>
          </p:txBody>
        </p:sp>
      </p:grpSp>
      <p:grpSp>
        <p:nvGrpSpPr>
          <p:cNvPr id="17" name="Group 17"/>
          <p:cNvGrpSpPr/>
          <p:nvPr/>
        </p:nvGrpSpPr>
        <p:grpSpPr>
          <a:xfrm rot="0">
            <a:off x="3590039" y="2035559"/>
            <a:ext cx="2585723" cy="610619"/>
            <a:chOff x="0" y="0"/>
            <a:chExt cx="3447631" cy="814159"/>
          </a:xfrm>
        </p:grpSpPr>
        <p:sp>
          <p:nvSpPr>
            <p:cNvPr id="18" name="Freeform 18"/>
            <p:cNvSpPr/>
            <p:nvPr/>
          </p:nvSpPr>
          <p:spPr>
            <a:xfrm>
              <a:off x="16891" y="16891"/>
              <a:ext cx="3413760" cy="780288"/>
            </a:xfrm>
            <a:custGeom>
              <a:avLst/>
              <a:gdLst/>
              <a:ahLst/>
              <a:cxnLst/>
              <a:rect l="l" t="t" r="r" b="b"/>
              <a:pathLst>
                <a:path w="3413760" h="780288">
                  <a:moveTo>
                    <a:pt x="0" y="0"/>
                  </a:moveTo>
                  <a:lnTo>
                    <a:pt x="3413760" y="0"/>
                  </a:lnTo>
                  <a:lnTo>
                    <a:pt x="3413760" y="780288"/>
                  </a:lnTo>
                  <a:lnTo>
                    <a:pt x="0" y="780288"/>
                  </a:lnTo>
                  <a:close/>
                </a:path>
              </a:pathLst>
            </a:custGeom>
            <a:solidFill>
              <a:srgbClr val="1A2236"/>
            </a:solidFill>
          </p:spPr>
        </p:sp>
        <p:sp>
          <p:nvSpPr>
            <p:cNvPr id="19" name="Freeform 19"/>
            <p:cNvSpPr/>
            <p:nvPr/>
          </p:nvSpPr>
          <p:spPr>
            <a:xfrm>
              <a:off x="0" y="0"/>
              <a:ext cx="3447542" cy="814072"/>
            </a:xfrm>
            <a:custGeom>
              <a:avLst/>
              <a:gdLst/>
              <a:ahLst/>
              <a:cxnLst/>
              <a:rect l="l" t="t" r="r" b="b"/>
              <a:pathLst>
                <a:path w="3447542" h="814072">
                  <a:moveTo>
                    <a:pt x="16891" y="0"/>
                  </a:moveTo>
                  <a:lnTo>
                    <a:pt x="3430651" y="0"/>
                  </a:lnTo>
                  <a:cubicBezTo>
                    <a:pt x="3440049" y="0"/>
                    <a:pt x="3447542" y="7620"/>
                    <a:pt x="3447542" y="16891"/>
                  </a:cubicBezTo>
                  <a:lnTo>
                    <a:pt x="3447542" y="797179"/>
                  </a:lnTo>
                  <a:cubicBezTo>
                    <a:pt x="3447542" y="806577"/>
                    <a:pt x="3439922" y="814070"/>
                    <a:pt x="3430651" y="814070"/>
                  </a:cubicBezTo>
                  <a:lnTo>
                    <a:pt x="16891" y="814070"/>
                  </a:lnTo>
                  <a:cubicBezTo>
                    <a:pt x="7620" y="814197"/>
                    <a:pt x="0" y="806577"/>
                    <a:pt x="0" y="7971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797179"/>
                  </a:lnTo>
                  <a:lnTo>
                    <a:pt x="16891" y="797179"/>
                  </a:lnTo>
                  <a:lnTo>
                    <a:pt x="16891" y="780288"/>
                  </a:lnTo>
                  <a:lnTo>
                    <a:pt x="3430651" y="780288"/>
                  </a:lnTo>
                  <a:lnTo>
                    <a:pt x="3430651" y="797179"/>
                  </a:lnTo>
                  <a:lnTo>
                    <a:pt x="3413760" y="797179"/>
                  </a:lnTo>
                  <a:lnTo>
                    <a:pt x="3413760" y="16891"/>
                  </a:lnTo>
                  <a:lnTo>
                    <a:pt x="3430651" y="16891"/>
                  </a:lnTo>
                  <a:lnTo>
                    <a:pt x="34306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8BDF8"/>
            </a:solidFill>
          </p:spPr>
        </p:sp>
      </p:grpSp>
      <p:grpSp>
        <p:nvGrpSpPr>
          <p:cNvPr id="20" name="Group 20"/>
          <p:cNvGrpSpPr/>
          <p:nvPr/>
        </p:nvGrpSpPr>
        <p:grpSpPr>
          <a:xfrm rot="0">
            <a:off x="3602736" y="2048256"/>
            <a:ext cx="2560320" cy="585216"/>
            <a:chOff x="0" y="0"/>
            <a:chExt cx="3413760" cy="780288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3413760" cy="780288"/>
            </a:xfrm>
            <a:custGeom>
              <a:avLst/>
              <a:gdLst/>
              <a:ahLst/>
              <a:cxnLst/>
              <a:rect l="l" t="t" r="r" b="b"/>
              <a:pathLst>
                <a:path w="3413760" h="780288">
                  <a:moveTo>
                    <a:pt x="0" y="0"/>
                  </a:moveTo>
                  <a:lnTo>
                    <a:pt x="3413760" y="0"/>
                  </a:lnTo>
                  <a:lnTo>
                    <a:pt x="341376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1">
                <a:alphaModFix amt="0"/>
              </a:blip>
              <a:stretch>
                <a:fillRect t="-35247" b="-35247"/>
              </a:stretch>
            </a:blipFill>
          </p:spPr>
        </p:sp>
        <p:sp>
          <p:nvSpPr>
            <p:cNvPr id="22" name="TextBox 22"/>
            <p:cNvSpPr txBox="1"/>
            <p:nvPr/>
          </p:nvSpPr>
          <p:spPr>
            <a:xfrm>
              <a:off x="0" y="-38100"/>
              <a:ext cx="3413760" cy="81838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800"/>
                </a:lnSpc>
              </a:pPr>
              <a:r>
                <a:rPr lang="en-US" sz="1500" b="1">
                  <a:solidFill>
                    <a:srgbClr val="38BDF8"/>
                  </a:solidFill>
                  <a:latin typeface="Calibri (MS) Bold" panose="020F0702030404030204"/>
                  <a:ea typeface="Calibri (MS) Bold" panose="020F0702030404030204"/>
                  <a:cs typeface="Calibri (MS) Bold" panose="020F0702030404030204"/>
                  <a:sym typeface="Calibri (MS) Bold" panose="020F0702030404030204"/>
                </a:rPr>
                <a:t>Homepage</a:t>
              </a:r>
              <a:endParaRPr lang="en-US" sz="1500" b="1">
                <a:solidFill>
                  <a:srgbClr val="38BDF8"/>
                </a:solidFill>
                <a:latin typeface="Calibri (MS) Bold" panose="020F0702030404030204"/>
                <a:ea typeface="Calibri (MS) Bold" panose="020F0702030404030204"/>
                <a:cs typeface="Calibri (MS) Bold" panose="020F0702030404030204"/>
                <a:sym typeface="Calibri (MS) Bold" panose="020F0702030404030204"/>
              </a:endParaRPr>
            </a:p>
          </p:txBody>
        </p:sp>
      </p:grpSp>
      <p:grpSp>
        <p:nvGrpSpPr>
          <p:cNvPr id="23" name="Group 23"/>
          <p:cNvGrpSpPr/>
          <p:nvPr/>
        </p:nvGrpSpPr>
        <p:grpSpPr>
          <a:xfrm rot="0">
            <a:off x="6369815" y="2035559"/>
            <a:ext cx="2585723" cy="610619"/>
            <a:chOff x="0" y="0"/>
            <a:chExt cx="3447631" cy="814159"/>
          </a:xfrm>
        </p:grpSpPr>
        <p:sp>
          <p:nvSpPr>
            <p:cNvPr id="24" name="Freeform 24"/>
            <p:cNvSpPr/>
            <p:nvPr/>
          </p:nvSpPr>
          <p:spPr>
            <a:xfrm>
              <a:off x="16891" y="16891"/>
              <a:ext cx="3413760" cy="780288"/>
            </a:xfrm>
            <a:custGeom>
              <a:avLst/>
              <a:gdLst/>
              <a:ahLst/>
              <a:cxnLst/>
              <a:rect l="l" t="t" r="r" b="b"/>
              <a:pathLst>
                <a:path w="3413760" h="780288">
                  <a:moveTo>
                    <a:pt x="0" y="0"/>
                  </a:moveTo>
                  <a:lnTo>
                    <a:pt x="3413760" y="0"/>
                  </a:lnTo>
                  <a:lnTo>
                    <a:pt x="3413760" y="780288"/>
                  </a:lnTo>
                  <a:lnTo>
                    <a:pt x="0" y="780288"/>
                  </a:lnTo>
                  <a:close/>
                </a:path>
              </a:pathLst>
            </a:custGeom>
            <a:solidFill>
              <a:srgbClr val="1A2236"/>
            </a:solidFill>
          </p:spPr>
        </p:sp>
        <p:sp>
          <p:nvSpPr>
            <p:cNvPr id="25" name="Freeform 25"/>
            <p:cNvSpPr/>
            <p:nvPr/>
          </p:nvSpPr>
          <p:spPr>
            <a:xfrm>
              <a:off x="0" y="0"/>
              <a:ext cx="3447542" cy="814072"/>
            </a:xfrm>
            <a:custGeom>
              <a:avLst/>
              <a:gdLst/>
              <a:ahLst/>
              <a:cxnLst/>
              <a:rect l="l" t="t" r="r" b="b"/>
              <a:pathLst>
                <a:path w="3447542" h="814072">
                  <a:moveTo>
                    <a:pt x="16891" y="0"/>
                  </a:moveTo>
                  <a:lnTo>
                    <a:pt x="3430651" y="0"/>
                  </a:lnTo>
                  <a:cubicBezTo>
                    <a:pt x="3440049" y="0"/>
                    <a:pt x="3447542" y="7620"/>
                    <a:pt x="3447542" y="16891"/>
                  </a:cubicBezTo>
                  <a:lnTo>
                    <a:pt x="3447542" y="797179"/>
                  </a:lnTo>
                  <a:cubicBezTo>
                    <a:pt x="3447542" y="806577"/>
                    <a:pt x="3439922" y="814070"/>
                    <a:pt x="3430651" y="814070"/>
                  </a:cubicBezTo>
                  <a:lnTo>
                    <a:pt x="16891" y="814070"/>
                  </a:lnTo>
                  <a:cubicBezTo>
                    <a:pt x="7620" y="814197"/>
                    <a:pt x="0" y="806577"/>
                    <a:pt x="0" y="7971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797179"/>
                  </a:lnTo>
                  <a:lnTo>
                    <a:pt x="16891" y="797179"/>
                  </a:lnTo>
                  <a:lnTo>
                    <a:pt x="16891" y="780288"/>
                  </a:lnTo>
                  <a:lnTo>
                    <a:pt x="3430651" y="780288"/>
                  </a:lnTo>
                  <a:lnTo>
                    <a:pt x="3430651" y="797179"/>
                  </a:lnTo>
                  <a:lnTo>
                    <a:pt x="3413760" y="797179"/>
                  </a:lnTo>
                  <a:lnTo>
                    <a:pt x="3413760" y="16891"/>
                  </a:lnTo>
                  <a:lnTo>
                    <a:pt x="3430651" y="16891"/>
                  </a:lnTo>
                  <a:lnTo>
                    <a:pt x="34306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8BDF8"/>
            </a:solidFill>
          </p:spPr>
        </p:sp>
      </p:grpSp>
      <p:grpSp>
        <p:nvGrpSpPr>
          <p:cNvPr id="26" name="Group 26"/>
          <p:cNvGrpSpPr/>
          <p:nvPr/>
        </p:nvGrpSpPr>
        <p:grpSpPr>
          <a:xfrm rot="0">
            <a:off x="6382512" y="2048256"/>
            <a:ext cx="2560320" cy="585216"/>
            <a:chOff x="0" y="0"/>
            <a:chExt cx="3413760" cy="780288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3413760" cy="780288"/>
            </a:xfrm>
            <a:custGeom>
              <a:avLst/>
              <a:gdLst/>
              <a:ahLst/>
              <a:cxnLst/>
              <a:rect l="l" t="t" r="r" b="b"/>
              <a:pathLst>
                <a:path w="3413760" h="780288">
                  <a:moveTo>
                    <a:pt x="0" y="0"/>
                  </a:moveTo>
                  <a:lnTo>
                    <a:pt x="3413760" y="0"/>
                  </a:lnTo>
                  <a:lnTo>
                    <a:pt x="341376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1">
                <a:alphaModFix amt="0"/>
              </a:blip>
              <a:stretch>
                <a:fillRect t="-35247" b="-35247"/>
              </a:stretch>
            </a:blipFill>
          </p:spPr>
        </p:sp>
        <p:sp>
          <p:nvSpPr>
            <p:cNvPr id="28" name="TextBox 28"/>
            <p:cNvSpPr txBox="1"/>
            <p:nvPr/>
          </p:nvSpPr>
          <p:spPr>
            <a:xfrm>
              <a:off x="0" y="-38100"/>
              <a:ext cx="3413760" cy="81838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800"/>
                </a:lnSpc>
              </a:pPr>
              <a:r>
                <a:rPr lang="en-US" sz="1500" b="1">
                  <a:solidFill>
                    <a:srgbClr val="38BDF8"/>
                  </a:solidFill>
                  <a:latin typeface="Calibri (MS) Bold" panose="020F0702030404030204"/>
                  <a:ea typeface="Calibri (MS) Bold" panose="020F0702030404030204"/>
                  <a:cs typeface="Calibri (MS) Bold" panose="020F0702030404030204"/>
                  <a:sym typeface="Calibri (MS) Bold" panose="020F0702030404030204"/>
                </a:rPr>
                <a:t>Exercise Flow</a:t>
              </a:r>
              <a:endParaRPr lang="en-US" sz="1500" b="1">
                <a:solidFill>
                  <a:srgbClr val="38BDF8"/>
                </a:solidFill>
                <a:latin typeface="Calibri (MS) Bold" panose="020F0702030404030204"/>
                <a:ea typeface="Calibri (MS) Bold" panose="020F0702030404030204"/>
                <a:cs typeface="Calibri (MS) Bold" panose="020F0702030404030204"/>
                <a:sym typeface="Calibri (MS) Bold" panose="020F0702030404030204"/>
              </a:endParaRPr>
            </a:p>
          </p:txBody>
        </p:sp>
      </p:grpSp>
      <p:grpSp>
        <p:nvGrpSpPr>
          <p:cNvPr id="29" name="Group 29"/>
          <p:cNvGrpSpPr/>
          <p:nvPr/>
        </p:nvGrpSpPr>
        <p:grpSpPr>
          <a:xfrm rot="0">
            <a:off x="9149591" y="2035559"/>
            <a:ext cx="2585723" cy="610619"/>
            <a:chOff x="0" y="0"/>
            <a:chExt cx="3447631" cy="814159"/>
          </a:xfrm>
        </p:grpSpPr>
        <p:sp>
          <p:nvSpPr>
            <p:cNvPr id="30" name="Freeform 30"/>
            <p:cNvSpPr/>
            <p:nvPr/>
          </p:nvSpPr>
          <p:spPr>
            <a:xfrm>
              <a:off x="16891" y="16891"/>
              <a:ext cx="3413760" cy="780288"/>
            </a:xfrm>
            <a:custGeom>
              <a:avLst/>
              <a:gdLst/>
              <a:ahLst/>
              <a:cxnLst/>
              <a:rect l="l" t="t" r="r" b="b"/>
              <a:pathLst>
                <a:path w="3413760" h="780288">
                  <a:moveTo>
                    <a:pt x="0" y="0"/>
                  </a:moveTo>
                  <a:lnTo>
                    <a:pt x="3413760" y="0"/>
                  </a:lnTo>
                  <a:lnTo>
                    <a:pt x="3413760" y="780288"/>
                  </a:lnTo>
                  <a:lnTo>
                    <a:pt x="0" y="780288"/>
                  </a:lnTo>
                  <a:close/>
                </a:path>
              </a:pathLst>
            </a:custGeom>
            <a:solidFill>
              <a:srgbClr val="1A2236"/>
            </a:solidFill>
          </p:spPr>
        </p:sp>
        <p:sp>
          <p:nvSpPr>
            <p:cNvPr id="31" name="Freeform 31"/>
            <p:cNvSpPr/>
            <p:nvPr/>
          </p:nvSpPr>
          <p:spPr>
            <a:xfrm>
              <a:off x="0" y="0"/>
              <a:ext cx="3447542" cy="814072"/>
            </a:xfrm>
            <a:custGeom>
              <a:avLst/>
              <a:gdLst/>
              <a:ahLst/>
              <a:cxnLst/>
              <a:rect l="l" t="t" r="r" b="b"/>
              <a:pathLst>
                <a:path w="3447542" h="814072">
                  <a:moveTo>
                    <a:pt x="16891" y="0"/>
                  </a:moveTo>
                  <a:lnTo>
                    <a:pt x="3430651" y="0"/>
                  </a:lnTo>
                  <a:cubicBezTo>
                    <a:pt x="3440049" y="0"/>
                    <a:pt x="3447542" y="7620"/>
                    <a:pt x="3447542" y="16891"/>
                  </a:cubicBezTo>
                  <a:lnTo>
                    <a:pt x="3447542" y="797179"/>
                  </a:lnTo>
                  <a:cubicBezTo>
                    <a:pt x="3447542" y="806577"/>
                    <a:pt x="3439922" y="814070"/>
                    <a:pt x="3430651" y="814070"/>
                  </a:cubicBezTo>
                  <a:lnTo>
                    <a:pt x="16891" y="814070"/>
                  </a:lnTo>
                  <a:cubicBezTo>
                    <a:pt x="7620" y="814197"/>
                    <a:pt x="0" y="806577"/>
                    <a:pt x="0" y="7971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797179"/>
                  </a:lnTo>
                  <a:lnTo>
                    <a:pt x="16891" y="797179"/>
                  </a:lnTo>
                  <a:lnTo>
                    <a:pt x="16891" y="780288"/>
                  </a:lnTo>
                  <a:lnTo>
                    <a:pt x="3430651" y="780288"/>
                  </a:lnTo>
                  <a:lnTo>
                    <a:pt x="3430651" y="797179"/>
                  </a:lnTo>
                  <a:lnTo>
                    <a:pt x="3413760" y="797179"/>
                  </a:lnTo>
                  <a:lnTo>
                    <a:pt x="3413760" y="16891"/>
                  </a:lnTo>
                  <a:lnTo>
                    <a:pt x="3430651" y="16891"/>
                  </a:lnTo>
                  <a:lnTo>
                    <a:pt x="34306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8BDF8"/>
            </a:solidFill>
          </p:spPr>
        </p:sp>
      </p:grpSp>
      <p:grpSp>
        <p:nvGrpSpPr>
          <p:cNvPr id="32" name="Group 32"/>
          <p:cNvGrpSpPr/>
          <p:nvPr/>
        </p:nvGrpSpPr>
        <p:grpSpPr>
          <a:xfrm rot="0">
            <a:off x="9162288" y="2048256"/>
            <a:ext cx="2560320" cy="585216"/>
            <a:chOff x="0" y="0"/>
            <a:chExt cx="3413760" cy="780288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3413760" cy="780288"/>
            </a:xfrm>
            <a:custGeom>
              <a:avLst/>
              <a:gdLst/>
              <a:ahLst/>
              <a:cxnLst/>
              <a:rect l="l" t="t" r="r" b="b"/>
              <a:pathLst>
                <a:path w="3413760" h="780288">
                  <a:moveTo>
                    <a:pt x="0" y="0"/>
                  </a:moveTo>
                  <a:lnTo>
                    <a:pt x="3413760" y="0"/>
                  </a:lnTo>
                  <a:lnTo>
                    <a:pt x="341376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1">
                <a:alphaModFix amt="0"/>
              </a:blip>
              <a:stretch>
                <a:fillRect t="-35247" b="-35247"/>
              </a:stretch>
            </a:blipFill>
          </p:spPr>
        </p:sp>
        <p:sp>
          <p:nvSpPr>
            <p:cNvPr id="34" name="TextBox 34"/>
            <p:cNvSpPr txBox="1"/>
            <p:nvPr/>
          </p:nvSpPr>
          <p:spPr>
            <a:xfrm>
              <a:off x="0" y="-38100"/>
              <a:ext cx="3413760" cy="81838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 b="1">
                  <a:solidFill>
                    <a:srgbClr val="38BDF8"/>
                  </a:solidFill>
                  <a:latin typeface="Calibri (MS) Bold" panose="020F0702030404030204"/>
                  <a:ea typeface="Calibri (MS) Bold" panose="020F0702030404030204"/>
                  <a:cs typeface="Calibri (MS) Bold" panose="020F0702030404030204"/>
                  <a:sym typeface="Calibri (MS) Bold" panose="020F0702030404030204"/>
                </a:rPr>
                <a:t>Sensor Connection</a:t>
              </a:r>
              <a:endParaRPr lang="en-US" sz="1800" b="1">
                <a:solidFill>
                  <a:srgbClr val="38BDF8"/>
                </a:solidFill>
                <a:latin typeface="Calibri (MS) Bold" panose="020F0702030404030204"/>
                <a:ea typeface="Calibri (MS) Bold" panose="020F0702030404030204"/>
                <a:cs typeface="Calibri (MS) Bold" panose="020F0702030404030204"/>
                <a:sym typeface="Calibri (MS) Bold" panose="020F0702030404030204"/>
              </a:endParaRPr>
            </a:p>
          </p:txBody>
        </p:sp>
      </p:grpSp>
      <p:grpSp>
        <p:nvGrpSpPr>
          <p:cNvPr id="35" name="Group 35"/>
          <p:cNvGrpSpPr/>
          <p:nvPr/>
        </p:nvGrpSpPr>
        <p:grpSpPr>
          <a:xfrm rot="0">
            <a:off x="11929367" y="2035559"/>
            <a:ext cx="2585723" cy="610619"/>
            <a:chOff x="0" y="0"/>
            <a:chExt cx="3447631" cy="814159"/>
          </a:xfrm>
        </p:grpSpPr>
        <p:sp>
          <p:nvSpPr>
            <p:cNvPr id="36" name="Freeform 36"/>
            <p:cNvSpPr/>
            <p:nvPr/>
          </p:nvSpPr>
          <p:spPr>
            <a:xfrm>
              <a:off x="16891" y="16891"/>
              <a:ext cx="3413760" cy="780288"/>
            </a:xfrm>
            <a:custGeom>
              <a:avLst/>
              <a:gdLst/>
              <a:ahLst/>
              <a:cxnLst/>
              <a:rect l="l" t="t" r="r" b="b"/>
              <a:pathLst>
                <a:path w="3413760" h="780288">
                  <a:moveTo>
                    <a:pt x="0" y="0"/>
                  </a:moveTo>
                  <a:lnTo>
                    <a:pt x="3413760" y="0"/>
                  </a:lnTo>
                  <a:lnTo>
                    <a:pt x="3413760" y="780288"/>
                  </a:lnTo>
                  <a:lnTo>
                    <a:pt x="0" y="780288"/>
                  </a:lnTo>
                  <a:close/>
                </a:path>
              </a:pathLst>
            </a:custGeom>
            <a:solidFill>
              <a:srgbClr val="1A2236"/>
            </a:solidFill>
          </p:spPr>
        </p:sp>
        <p:sp>
          <p:nvSpPr>
            <p:cNvPr id="37" name="Freeform 37"/>
            <p:cNvSpPr/>
            <p:nvPr/>
          </p:nvSpPr>
          <p:spPr>
            <a:xfrm>
              <a:off x="0" y="0"/>
              <a:ext cx="3447542" cy="814072"/>
            </a:xfrm>
            <a:custGeom>
              <a:avLst/>
              <a:gdLst/>
              <a:ahLst/>
              <a:cxnLst/>
              <a:rect l="l" t="t" r="r" b="b"/>
              <a:pathLst>
                <a:path w="3447542" h="814072">
                  <a:moveTo>
                    <a:pt x="16891" y="0"/>
                  </a:moveTo>
                  <a:lnTo>
                    <a:pt x="3430651" y="0"/>
                  </a:lnTo>
                  <a:cubicBezTo>
                    <a:pt x="3440049" y="0"/>
                    <a:pt x="3447542" y="7620"/>
                    <a:pt x="3447542" y="16891"/>
                  </a:cubicBezTo>
                  <a:lnTo>
                    <a:pt x="3447542" y="797179"/>
                  </a:lnTo>
                  <a:cubicBezTo>
                    <a:pt x="3447542" y="806577"/>
                    <a:pt x="3439922" y="814070"/>
                    <a:pt x="3430651" y="814070"/>
                  </a:cubicBezTo>
                  <a:lnTo>
                    <a:pt x="16891" y="814070"/>
                  </a:lnTo>
                  <a:cubicBezTo>
                    <a:pt x="7620" y="814197"/>
                    <a:pt x="0" y="806577"/>
                    <a:pt x="0" y="7971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797179"/>
                  </a:lnTo>
                  <a:lnTo>
                    <a:pt x="16891" y="797179"/>
                  </a:lnTo>
                  <a:lnTo>
                    <a:pt x="16891" y="780288"/>
                  </a:lnTo>
                  <a:lnTo>
                    <a:pt x="3430651" y="780288"/>
                  </a:lnTo>
                  <a:lnTo>
                    <a:pt x="3430651" y="797179"/>
                  </a:lnTo>
                  <a:lnTo>
                    <a:pt x="3413760" y="797179"/>
                  </a:lnTo>
                  <a:lnTo>
                    <a:pt x="3413760" y="16891"/>
                  </a:lnTo>
                  <a:lnTo>
                    <a:pt x="3430651" y="16891"/>
                  </a:lnTo>
                  <a:lnTo>
                    <a:pt x="34306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8BDF8"/>
            </a:solidFill>
          </p:spPr>
        </p:sp>
      </p:grpSp>
      <p:grpSp>
        <p:nvGrpSpPr>
          <p:cNvPr id="38" name="Group 38"/>
          <p:cNvGrpSpPr/>
          <p:nvPr/>
        </p:nvGrpSpPr>
        <p:grpSpPr>
          <a:xfrm rot="0">
            <a:off x="11942064" y="2048256"/>
            <a:ext cx="2560320" cy="585216"/>
            <a:chOff x="0" y="0"/>
            <a:chExt cx="3413760" cy="780288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3413760" cy="780288"/>
            </a:xfrm>
            <a:custGeom>
              <a:avLst/>
              <a:gdLst/>
              <a:ahLst/>
              <a:cxnLst/>
              <a:rect l="l" t="t" r="r" b="b"/>
              <a:pathLst>
                <a:path w="3413760" h="780288">
                  <a:moveTo>
                    <a:pt x="0" y="0"/>
                  </a:moveTo>
                  <a:lnTo>
                    <a:pt x="3413760" y="0"/>
                  </a:lnTo>
                  <a:lnTo>
                    <a:pt x="341376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1">
                <a:alphaModFix amt="0"/>
              </a:blip>
              <a:stretch>
                <a:fillRect t="-35247" b="-35247"/>
              </a:stretch>
            </a:blipFill>
          </p:spPr>
        </p:sp>
        <p:sp>
          <p:nvSpPr>
            <p:cNvPr id="40" name="TextBox 40"/>
            <p:cNvSpPr txBox="1"/>
            <p:nvPr/>
          </p:nvSpPr>
          <p:spPr>
            <a:xfrm>
              <a:off x="0" y="-38100"/>
              <a:ext cx="3413760" cy="81838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 b="1">
                  <a:solidFill>
                    <a:srgbClr val="38BDF8"/>
                  </a:solidFill>
                  <a:latin typeface="Calibri (MS) Bold" panose="020F0702030404030204"/>
                  <a:ea typeface="Calibri (MS) Bold" panose="020F0702030404030204"/>
                  <a:cs typeface="Calibri (MS) Bold" panose="020F0702030404030204"/>
                  <a:sym typeface="Calibri (MS) Bold" panose="020F0702030404030204"/>
                </a:rPr>
                <a:t>Real-Time Exercise</a:t>
              </a:r>
              <a:endParaRPr lang="en-US" sz="1800" b="1">
                <a:solidFill>
                  <a:srgbClr val="38BDF8"/>
                </a:solidFill>
                <a:latin typeface="Calibri (MS) Bold" panose="020F0702030404030204"/>
                <a:ea typeface="Calibri (MS) Bold" panose="020F0702030404030204"/>
                <a:cs typeface="Calibri (MS) Bold" panose="020F0702030404030204"/>
                <a:sym typeface="Calibri (MS) Bold" panose="020F0702030404030204"/>
              </a:endParaRPr>
            </a:p>
          </p:txBody>
        </p:sp>
      </p:grpSp>
      <p:grpSp>
        <p:nvGrpSpPr>
          <p:cNvPr id="41" name="Group 41"/>
          <p:cNvGrpSpPr/>
          <p:nvPr/>
        </p:nvGrpSpPr>
        <p:grpSpPr>
          <a:xfrm rot="0">
            <a:off x="14709143" y="2035559"/>
            <a:ext cx="2585723" cy="610619"/>
            <a:chOff x="0" y="0"/>
            <a:chExt cx="3447631" cy="814159"/>
          </a:xfrm>
        </p:grpSpPr>
        <p:sp>
          <p:nvSpPr>
            <p:cNvPr id="42" name="Freeform 42"/>
            <p:cNvSpPr/>
            <p:nvPr/>
          </p:nvSpPr>
          <p:spPr>
            <a:xfrm>
              <a:off x="16891" y="16891"/>
              <a:ext cx="3413760" cy="780288"/>
            </a:xfrm>
            <a:custGeom>
              <a:avLst/>
              <a:gdLst/>
              <a:ahLst/>
              <a:cxnLst/>
              <a:rect l="l" t="t" r="r" b="b"/>
              <a:pathLst>
                <a:path w="3413760" h="780288">
                  <a:moveTo>
                    <a:pt x="0" y="0"/>
                  </a:moveTo>
                  <a:lnTo>
                    <a:pt x="3413760" y="0"/>
                  </a:lnTo>
                  <a:lnTo>
                    <a:pt x="3413760" y="780288"/>
                  </a:lnTo>
                  <a:lnTo>
                    <a:pt x="0" y="780288"/>
                  </a:lnTo>
                  <a:close/>
                </a:path>
              </a:pathLst>
            </a:custGeom>
            <a:solidFill>
              <a:srgbClr val="1A2236"/>
            </a:solidFill>
          </p:spPr>
        </p:sp>
        <p:sp>
          <p:nvSpPr>
            <p:cNvPr id="43" name="Freeform 43"/>
            <p:cNvSpPr/>
            <p:nvPr/>
          </p:nvSpPr>
          <p:spPr>
            <a:xfrm>
              <a:off x="0" y="0"/>
              <a:ext cx="3447542" cy="814072"/>
            </a:xfrm>
            <a:custGeom>
              <a:avLst/>
              <a:gdLst/>
              <a:ahLst/>
              <a:cxnLst/>
              <a:rect l="l" t="t" r="r" b="b"/>
              <a:pathLst>
                <a:path w="3447542" h="814072">
                  <a:moveTo>
                    <a:pt x="16891" y="0"/>
                  </a:moveTo>
                  <a:lnTo>
                    <a:pt x="3430651" y="0"/>
                  </a:lnTo>
                  <a:cubicBezTo>
                    <a:pt x="3440049" y="0"/>
                    <a:pt x="3447542" y="7620"/>
                    <a:pt x="3447542" y="16891"/>
                  </a:cubicBezTo>
                  <a:lnTo>
                    <a:pt x="3447542" y="797179"/>
                  </a:lnTo>
                  <a:cubicBezTo>
                    <a:pt x="3447542" y="806577"/>
                    <a:pt x="3439922" y="814070"/>
                    <a:pt x="3430651" y="814070"/>
                  </a:cubicBezTo>
                  <a:lnTo>
                    <a:pt x="16891" y="814070"/>
                  </a:lnTo>
                  <a:cubicBezTo>
                    <a:pt x="7620" y="814197"/>
                    <a:pt x="0" y="806577"/>
                    <a:pt x="0" y="7971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797179"/>
                  </a:lnTo>
                  <a:lnTo>
                    <a:pt x="16891" y="797179"/>
                  </a:lnTo>
                  <a:lnTo>
                    <a:pt x="16891" y="780288"/>
                  </a:lnTo>
                  <a:lnTo>
                    <a:pt x="3430651" y="780288"/>
                  </a:lnTo>
                  <a:lnTo>
                    <a:pt x="3430651" y="797179"/>
                  </a:lnTo>
                  <a:lnTo>
                    <a:pt x="3413760" y="797179"/>
                  </a:lnTo>
                  <a:lnTo>
                    <a:pt x="3413760" y="16891"/>
                  </a:lnTo>
                  <a:lnTo>
                    <a:pt x="3430651" y="16891"/>
                  </a:lnTo>
                  <a:lnTo>
                    <a:pt x="34306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8BDF8"/>
            </a:solidFill>
          </p:spPr>
        </p:sp>
      </p:grpSp>
      <p:grpSp>
        <p:nvGrpSpPr>
          <p:cNvPr id="44" name="Group 44"/>
          <p:cNvGrpSpPr/>
          <p:nvPr/>
        </p:nvGrpSpPr>
        <p:grpSpPr>
          <a:xfrm rot="0">
            <a:off x="14721840" y="2048256"/>
            <a:ext cx="2560320" cy="585216"/>
            <a:chOff x="0" y="0"/>
            <a:chExt cx="3413760" cy="780288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3413760" cy="780288"/>
            </a:xfrm>
            <a:custGeom>
              <a:avLst/>
              <a:gdLst/>
              <a:ahLst/>
              <a:cxnLst/>
              <a:rect l="l" t="t" r="r" b="b"/>
              <a:pathLst>
                <a:path w="3413760" h="780288">
                  <a:moveTo>
                    <a:pt x="0" y="0"/>
                  </a:moveTo>
                  <a:lnTo>
                    <a:pt x="3413760" y="0"/>
                  </a:lnTo>
                  <a:lnTo>
                    <a:pt x="341376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1">
                <a:alphaModFix amt="0"/>
              </a:blip>
              <a:stretch>
                <a:fillRect t="-35247" b="-35247"/>
              </a:stretch>
            </a:blipFill>
          </p:spPr>
        </p:sp>
        <p:sp>
          <p:nvSpPr>
            <p:cNvPr id="46" name="TextBox 46"/>
            <p:cNvSpPr txBox="1"/>
            <p:nvPr/>
          </p:nvSpPr>
          <p:spPr>
            <a:xfrm>
              <a:off x="0" y="-38100"/>
              <a:ext cx="3413760" cy="81838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 b="1">
                  <a:solidFill>
                    <a:srgbClr val="38BDF8"/>
                  </a:solidFill>
                  <a:latin typeface="Calibri (MS) Bold" panose="020F0702030404030204"/>
                  <a:ea typeface="Calibri (MS) Bold" panose="020F0702030404030204"/>
                  <a:cs typeface="Calibri (MS) Bold" panose="020F0702030404030204"/>
                  <a:sym typeface="Calibri (MS) Bold" panose="020F0702030404030204"/>
                </a:rPr>
                <a:t>History Page</a:t>
              </a:r>
              <a:endParaRPr lang="en-US" sz="1800" b="1">
                <a:solidFill>
                  <a:srgbClr val="38BDF8"/>
                </a:solidFill>
                <a:latin typeface="Calibri (MS) Bold" panose="020F0702030404030204"/>
                <a:ea typeface="Calibri (MS) Bold" panose="020F0702030404030204"/>
                <a:cs typeface="Calibri (MS) Bold" panose="020F0702030404030204"/>
                <a:sym typeface="Calibri (MS) Bold" panose="020F0702030404030204"/>
              </a:endParaRPr>
            </a:p>
          </p:txBody>
        </p:sp>
      </p:grpSp>
      <p:grpSp>
        <p:nvGrpSpPr>
          <p:cNvPr id="47" name="Group 47"/>
          <p:cNvGrpSpPr/>
          <p:nvPr/>
        </p:nvGrpSpPr>
        <p:grpSpPr>
          <a:xfrm rot="0">
            <a:off x="810263" y="2949959"/>
            <a:ext cx="16667483" cy="6097019"/>
            <a:chOff x="0" y="0"/>
            <a:chExt cx="22223311" cy="8129359"/>
          </a:xfrm>
        </p:grpSpPr>
        <p:sp>
          <p:nvSpPr>
            <p:cNvPr id="48" name="Freeform 48"/>
            <p:cNvSpPr/>
            <p:nvPr/>
          </p:nvSpPr>
          <p:spPr>
            <a:xfrm>
              <a:off x="16891" y="16891"/>
              <a:ext cx="22189439" cy="8095488"/>
            </a:xfrm>
            <a:custGeom>
              <a:avLst/>
              <a:gdLst/>
              <a:ahLst/>
              <a:cxnLst/>
              <a:rect l="l" t="t" r="r" b="b"/>
              <a:pathLst>
                <a:path w="22189439" h="8095488">
                  <a:moveTo>
                    <a:pt x="0" y="0"/>
                  </a:moveTo>
                  <a:lnTo>
                    <a:pt x="22189439" y="0"/>
                  </a:lnTo>
                  <a:lnTo>
                    <a:pt x="22189439" y="8095488"/>
                  </a:lnTo>
                  <a:lnTo>
                    <a:pt x="0" y="8095488"/>
                  </a:lnTo>
                  <a:close/>
                </a:path>
              </a:pathLst>
            </a:custGeom>
            <a:solidFill>
              <a:srgbClr val="060912"/>
            </a:solidFill>
          </p:spPr>
        </p:sp>
        <p:sp>
          <p:nvSpPr>
            <p:cNvPr id="49" name="Freeform 49"/>
            <p:cNvSpPr/>
            <p:nvPr/>
          </p:nvSpPr>
          <p:spPr>
            <a:xfrm>
              <a:off x="0" y="0"/>
              <a:ext cx="22223222" cy="8129270"/>
            </a:xfrm>
            <a:custGeom>
              <a:avLst/>
              <a:gdLst/>
              <a:ahLst/>
              <a:cxnLst/>
              <a:rect l="l" t="t" r="r" b="b"/>
              <a:pathLst>
                <a:path w="22223222" h="8129270">
                  <a:moveTo>
                    <a:pt x="16891" y="0"/>
                  </a:moveTo>
                  <a:lnTo>
                    <a:pt x="22206330" y="0"/>
                  </a:lnTo>
                  <a:cubicBezTo>
                    <a:pt x="22215729" y="0"/>
                    <a:pt x="22223222" y="7620"/>
                    <a:pt x="22223222" y="16891"/>
                  </a:cubicBezTo>
                  <a:lnTo>
                    <a:pt x="22223222" y="8112379"/>
                  </a:lnTo>
                  <a:cubicBezTo>
                    <a:pt x="22223222" y="8121777"/>
                    <a:pt x="22215602" y="8129270"/>
                    <a:pt x="22206330" y="8129270"/>
                  </a:cubicBezTo>
                  <a:lnTo>
                    <a:pt x="16891" y="8129270"/>
                  </a:lnTo>
                  <a:cubicBezTo>
                    <a:pt x="7493" y="8129270"/>
                    <a:pt x="0" y="8121650"/>
                    <a:pt x="0" y="81123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8112379"/>
                  </a:lnTo>
                  <a:lnTo>
                    <a:pt x="16891" y="8112379"/>
                  </a:lnTo>
                  <a:lnTo>
                    <a:pt x="16891" y="8095488"/>
                  </a:lnTo>
                  <a:lnTo>
                    <a:pt x="22206330" y="8095488"/>
                  </a:lnTo>
                  <a:lnTo>
                    <a:pt x="22206330" y="8112379"/>
                  </a:lnTo>
                  <a:lnTo>
                    <a:pt x="22189439" y="8112379"/>
                  </a:lnTo>
                  <a:lnTo>
                    <a:pt x="22189439" y="16891"/>
                  </a:lnTo>
                  <a:lnTo>
                    <a:pt x="22206330" y="16891"/>
                  </a:lnTo>
                  <a:lnTo>
                    <a:pt x="2220633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E2D45"/>
            </a:solidFill>
          </p:spPr>
        </p:sp>
      </p:grpSp>
      <p:grpSp>
        <p:nvGrpSpPr>
          <p:cNvPr id="50" name="Group 50"/>
          <p:cNvGrpSpPr/>
          <p:nvPr/>
        </p:nvGrpSpPr>
        <p:grpSpPr>
          <a:xfrm rot="0">
            <a:off x="1176023" y="3242567"/>
            <a:ext cx="15935963" cy="5292347"/>
            <a:chOff x="0" y="0"/>
            <a:chExt cx="21247951" cy="7056463"/>
          </a:xfrm>
        </p:grpSpPr>
        <p:sp>
          <p:nvSpPr>
            <p:cNvPr id="51" name="Freeform 51"/>
            <p:cNvSpPr/>
            <p:nvPr/>
          </p:nvSpPr>
          <p:spPr>
            <a:xfrm>
              <a:off x="16891" y="16891"/>
              <a:ext cx="21214080" cy="7022592"/>
            </a:xfrm>
            <a:custGeom>
              <a:avLst/>
              <a:gdLst/>
              <a:ahLst/>
              <a:cxnLst/>
              <a:rect l="l" t="t" r="r" b="b"/>
              <a:pathLst>
                <a:path w="21214080" h="7022592">
                  <a:moveTo>
                    <a:pt x="0" y="0"/>
                  </a:moveTo>
                  <a:lnTo>
                    <a:pt x="21214080" y="0"/>
                  </a:lnTo>
                  <a:lnTo>
                    <a:pt x="21214080" y="7022592"/>
                  </a:lnTo>
                  <a:lnTo>
                    <a:pt x="0" y="7022592"/>
                  </a:lnTo>
                  <a:close/>
                </a:path>
              </a:pathLst>
            </a:custGeom>
            <a:solidFill>
              <a:srgbClr val="1A2236"/>
            </a:solidFill>
          </p:spPr>
        </p:sp>
        <p:sp>
          <p:nvSpPr>
            <p:cNvPr id="52" name="Freeform 52"/>
            <p:cNvSpPr/>
            <p:nvPr/>
          </p:nvSpPr>
          <p:spPr>
            <a:xfrm>
              <a:off x="-964565" y="0"/>
              <a:ext cx="22212553" cy="7091553"/>
            </a:xfrm>
            <a:custGeom>
              <a:avLst/>
              <a:gdLst/>
              <a:ahLst/>
              <a:cxnLst/>
              <a:rect l="l" t="t" r="r" b="b"/>
              <a:pathLst>
                <a:path w="22212553" h="7091553">
                  <a:moveTo>
                    <a:pt x="1218565" y="0"/>
                  </a:moveTo>
                  <a:lnTo>
                    <a:pt x="1320165" y="0"/>
                  </a:lnTo>
                  <a:lnTo>
                    <a:pt x="1320165" y="33909"/>
                  </a:lnTo>
                  <a:lnTo>
                    <a:pt x="1218565" y="33909"/>
                  </a:lnTo>
                  <a:close/>
                  <a:moveTo>
                    <a:pt x="1455674" y="0"/>
                  </a:moveTo>
                  <a:lnTo>
                    <a:pt x="1557274" y="0"/>
                  </a:lnTo>
                  <a:lnTo>
                    <a:pt x="1557274" y="33909"/>
                  </a:lnTo>
                  <a:lnTo>
                    <a:pt x="1455674" y="33909"/>
                  </a:lnTo>
                  <a:close/>
                  <a:moveTo>
                    <a:pt x="1692656" y="0"/>
                  </a:moveTo>
                  <a:lnTo>
                    <a:pt x="1794256" y="0"/>
                  </a:lnTo>
                  <a:lnTo>
                    <a:pt x="1794256" y="33909"/>
                  </a:lnTo>
                  <a:lnTo>
                    <a:pt x="1692656" y="33909"/>
                  </a:lnTo>
                  <a:close/>
                  <a:moveTo>
                    <a:pt x="1929765" y="0"/>
                  </a:moveTo>
                  <a:lnTo>
                    <a:pt x="2031365" y="0"/>
                  </a:lnTo>
                  <a:lnTo>
                    <a:pt x="2031365" y="33909"/>
                  </a:lnTo>
                  <a:lnTo>
                    <a:pt x="1929765" y="33909"/>
                  </a:lnTo>
                  <a:close/>
                  <a:moveTo>
                    <a:pt x="2166874" y="0"/>
                  </a:moveTo>
                  <a:lnTo>
                    <a:pt x="2268474" y="0"/>
                  </a:lnTo>
                  <a:lnTo>
                    <a:pt x="2268474" y="33909"/>
                  </a:lnTo>
                  <a:lnTo>
                    <a:pt x="2166874" y="33909"/>
                  </a:lnTo>
                  <a:close/>
                  <a:moveTo>
                    <a:pt x="2403983" y="33909"/>
                  </a:moveTo>
                  <a:lnTo>
                    <a:pt x="2505583" y="33909"/>
                  </a:lnTo>
                  <a:lnTo>
                    <a:pt x="2403983" y="33909"/>
                  </a:lnTo>
                  <a:close/>
                  <a:moveTo>
                    <a:pt x="2640965" y="0"/>
                  </a:moveTo>
                  <a:lnTo>
                    <a:pt x="2742565" y="0"/>
                  </a:lnTo>
                  <a:lnTo>
                    <a:pt x="2742565" y="33909"/>
                  </a:lnTo>
                  <a:lnTo>
                    <a:pt x="2640965" y="33909"/>
                  </a:lnTo>
                  <a:close/>
                  <a:moveTo>
                    <a:pt x="2878074" y="33909"/>
                  </a:moveTo>
                  <a:lnTo>
                    <a:pt x="2979674" y="33909"/>
                  </a:lnTo>
                  <a:lnTo>
                    <a:pt x="2878074" y="33909"/>
                  </a:lnTo>
                  <a:close/>
                  <a:moveTo>
                    <a:pt x="3115183" y="33909"/>
                  </a:moveTo>
                  <a:lnTo>
                    <a:pt x="3216783" y="33909"/>
                  </a:lnTo>
                  <a:lnTo>
                    <a:pt x="3115183" y="33909"/>
                  </a:lnTo>
                  <a:close/>
                  <a:moveTo>
                    <a:pt x="3352165" y="0"/>
                  </a:moveTo>
                  <a:lnTo>
                    <a:pt x="3453765" y="0"/>
                  </a:lnTo>
                  <a:lnTo>
                    <a:pt x="3453765" y="33909"/>
                  </a:lnTo>
                  <a:lnTo>
                    <a:pt x="3352165" y="33909"/>
                  </a:lnTo>
                  <a:close/>
                  <a:moveTo>
                    <a:pt x="3589274" y="33909"/>
                  </a:moveTo>
                  <a:lnTo>
                    <a:pt x="3690874" y="33909"/>
                  </a:lnTo>
                  <a:lnTo>
                    <a:pt x="3589274" y="33909"/>
                  </a:lnTo>
                  <a:close/>
                  <a:moveTo>
                    <a:pt x="3826383" y="33909"/>
                  </a:moveTo>
                  <a:lnTo>
                    <a:pt x="3927983" y="33909"/>
                  </a:lnTo>
                  <a:lnTo>
                    <a:pt x="3826383" y="33909"/>
                  </a:lnTo>
                  <a:close/>
                  <a:moveTo>
                    <a:pt x="4063365" y="0"/>
                  </a:moveTo>
                  <a:lnTo>
                    <a:pt x="4164965" y="0"/>
                  </a:lnTo>
                  <a:lnTo>
                    <a:pt x="4164965" y="33909"/>
                  </a:lnTo>
                  <a:lnTo>
                    <a:pt x="4063365" y="33909"/>
                  </a:lnTo>
                  <a:close/>
                  <a:moveTo>
                    <a:pt x="4300474" y="33909"/>
                  </a:moveTo>
                  <a:lnTo>
                    <a:pt x="4402074" y="33909"/>
                  </a:lnTo>
                  <a:lnTo>
                    <a:pt x="4300474" y="33909"/>
                  </a:lnTo>
                  <a:close/>
                  <a:moveTo>
                    <a:pt x="4537583" y="33909"/>
                  </a:moveTo>
                  <a:lnTo>
                    <a:pt x="4639183" y="33909"/>
                  </a:lnTo>
                  <a:lnTo>
                    <a:pt x="4537583" y="33909"/>
                  </a:lnTo>
                  <a:close/>
                  <a:moveTo>
                    <a:pt x="4774565" y="0"/>
                  </a:moveTo>
                  <a:lnTo>
                    <a:pt x="4876165" y="0"/>
                  </a:lnTo>
                  <a:lnTo>
                    <a:pt x="4876165" y="33909"/>
                  </a:lnTo>
                  <a:lnTo>
                    <a:pt x="4774565" y="33909"/>
                  </a:lnTo>
                  <a:close/>
                  <a:moveTo>
                    <a:pt x="5011674" y="33909"/>
                  </a:moveTo>
                  <a:lnTo>
                    <a:pt x="5113274" y="33909"/>
                  </a:lnTo>
                  <a:lnTo>
                    <a:pt x="5011674" y="33909"/>
                  </a:lnTo>
                  <a:close/>
                  <a:moveTo>
                    <a:pt x="5248783" y="33909"/>
                  </a:moveTo>
                  <a:lnTo>
                    <a:pt x="5350383" y="33909"/>
                  </a:lnTo>
                  <a:lnTo>
                    <a:pt x="5248783" y="33909"/>
                  </a:lnTo>
                  <a:close/>
                  <a:moveTo>
                    <a:pt x="5485765" y="0"/>
                  </a:moveTo>
                  <a:lnTo>
                    <a:pt x="5587365" y="0"/>
                  </a:lnTo>
                  <a:lnTo>
                    <a:pt x="5587365" y="33909"/>
                  </a:lnTo>
                  <a:lnTo>
                    <a:pt x="5485765" y="33909"/>
                  </a:lnTo>
                  <a:close/>
                  <a:moveTo>
                    <a:pt x="5722874" y="33909"/>
                  </a:moveTo>
                  <a:lnTo>
                    <a:pt x="5824474" y="33909"/>
                  </a:lnTo>
                  <a:lnTo>
                    <a:pt x="5722874" y="33909"/>
                  </a:lnTo>
                  <a:close/>
                  <a:moveTo>
                    <a:pt x="5959983" y="33909"/>
                  </a:moveTo>
                  <a:lnTo>
                    <a:pt x="6061583" y="33909"/>
                  </a:lnTo>
                  <a:lnTo>
                    <a:pt x="5959983" y="33909"/>
                  </a:lnTo>
                  <a:close/>
                  <a:moveTo>
                    <a:pt x="6196965" y="0"/>
                  </a:moveTo>
                  <a:lnTo>
                    <a:pt x="6298565" y="0"/>
                  </a:lnTo>
                  <a:lnTo>
                    <a:pt x="6298565" y="33909"/>
                  </a:lnTo>
                  <a:lnTo>
                    <a:pt x="6196965" y="33909"/>
                  </a:lnTo>
                  <a:close/>
                  <a:moveTo>
                    <a:pt x="6434074" y="33909"/>
                  </a:moveTo>
                  <a:lnTo>
                    <a:pt x="6535674" y="33909"/>
                  </a:lnTo>
                  <a:lnTo>
                    <a:pt x="6434074" y="33909"/>
                  </a:lnTo>
                  <a:close/>
                  <a:moveTo>
                    <a:pt x="6671183" y="33909"/>
                  </a:moveTo>
                  <a:lnTo>
                    <a:pt x="6772783" y="33909"/>
                  </a:lnTo>
                  <a:lnTo>
                    <a:pt x="6671183" y="33909"/>
                  </a:lnTo>
                  <a:close/>
                  <a:moveTo>
                    <a:pt x="6908165" y="0"/>
                  </a:moveTo>
                  <a:lnTo>
                    <a:pt x="7009765" y="0"/>
                  </a:lnTo>
                  <a:lnTo>
                    <a:pt x="7009765" y="33909"/>
                  </a:lnTo>
                  <a:lnTo>
                    <a:pt x="6908165" y="33909"/>
                  </a:lnTo>
                  <a:close/>
                  <a:moveTo>
                    <a:pt x="7145274" y="33909"/>
                  </a:moveTo>
                  <a:lnTo>
                    <a:pt x="7246874" y="33909"/>
                  </a:lnTo>
                  <a:lnTo>
                    <a:pt x="7145274" y="33909"/>
                  </a:lnTo>
                  <a:close/>
                  <a:moveTo>
                    <a:pt x="7382383" y="33909"/>
                  </a:moveTo>
                  <a:lnTo>
                    <a:pt x="7483983" y="33909"/>
                  </a:lnTo>
                  <a:lnTo>
                    <a:pt x="7382383" y="33909"/>
                  </a:lnTo>
                  <a:close/>
                  <a:moveTo>
                    <a:pt x="7619365" y="0"/>
                  </a:moveTo>
                  <a:lnTo>
                    <a:pt x="7720965" y="0"/>
                  </a:lnTo>
                  <a:lnTo>
                    <a:pt x="7720965" y="33909"/>
                  </a:lnTo>
                  <a:lnTo>
                    <a:pt x="7619365" y="33909"/>
                  </a:lnTo>
                  <a:close/>
                  <a:moveTo>
                    <a:pt x="7856474" y="33909"/>
                  </a:moveTo>
                  <a:lnTo>
                    <a:pt x="7958074" y="33909"/>
                  </a:lnTo>
                  <a:lnTo>
                    <a:pt x="7856474" y="33909"/>
                  </a:lnTo>
                  <a:close/>
                  <a:moveTo>
                    <a:pt x="8093583" y="33909"/>
                  </a:moveTo>
                  <a:lnTo>
                    <a:pt x="8195183" y="33909"/>
                  </a:lnTo>
                  <a:lnTo>
                    <a:pt x="8093583" y="33909"/>
                  </a:lnTo>
                  <a:close/>
                  <a:moveTo>
                    <a:pt x="8330565" y="0"/>
                  </a:moveTo>
                  <a:lnTo>
                    <a:pt x="8432165" y="0"/>
                  </a:lnTo>
                  <a:lnTo>
                    <a:pt x="8432165" y="33909"/>
                  </a:lnTo>
                  <a:lnTo>
                    <a:pt x="8330565" y="33909"/>
                  </a:lnTo>
                  <a:close/>
                  <a:moveTo>
                    <a:pt x="8567674" y="33909"/>
                  </a:moveTo>
                  <a:lnTo>
                    <a:pt x="8669274" y="33909"/>
                  </a:lnTo>
                  <a:lnTo>
                    <a:pt x="8567674" y="33909"/>
                  </a:lnTo>
                  <a:close/>
                  <a:moveTo>
                    <a:pt x="8804783" y="33909"/>
                  </a:moveTo>
                  <a:lnTo>
                    <a:pt x="8906383" y="33909"/>
                  </a:lnTo>
                  <a:lnTo>
                    <a:pt x="8804783" y="33909"/>
                  </a:lnTo>
                  <a:close/>
                  <a:moveTo>
                    <a:pt x="9041765" y="0"/>
                  </a:moveTo>
                  <a:lnTo>
                    <a:pt x="9143365" y="0"/>
                  </a:lnTo>
                  <a:lnTo>
                    <a:pt x="9143365" y="33909"/>
                  </a:lnTo>
                  <a:lnTo>
                    <a:pt x="9041765" y="33909"/>
                  </a:lnTo>
                  <a:close/>
                  <a:moveTo>
                    <a:pt x="9278874" y="33909"/>
                  </a:moveTo>
                  <a:lnTo>
                    <a:pt x="9380474" y="33909"/>
                  </a:lnTo>
                  <a:lnTo>
                    <a:pt x="9278874" y="33909"/>
                  </a:lnTo>
                  <a:close/>
                  <a:moveTo>
                    <a:pt x="9515983" y="33909"/>
                  </a:moveTo>
                  <a:lnTo>
                    <a:pt x="9617583" y="33909"/>
                  </a:lnTo>
                  <a:lnTo>
                    <a:pt x="9515983" y="33909"/>
                  </a:lnTo>
                  <a:close/>
                  <a:moveTo>
                    <a:pt x="9752965" y="0"/>
                  </a:moveTo>
                  <a:lnTo>
                    <a:pt x="9854565" y="0"/>
                  </a:lnTo>
                  <a:lnTo>
                    <a:pt x="9854565" y="33909"/>
                  </a:lnTo>
                  <a:lnTo>
                    <a:pt x="9752965" y="33909"/>
                  </a:lnTo>
                  <a:close/>
                  <a:moveTo>
                    <a:pt x="9990074" y="33909"/>
                  </a:moveTo>
                  <a:lnTo>
                    <a:pt x="10091674" y="33909"/>
                  </a:lnTo>
                  <a:lnTo>
                    <a:pt x="9990074" y="33909"/>
                  </a:lnTo>
                  <a:close/>
                  <a:moveTo>
                    <a:pt x="10227183" y="33909"/>
                  </a:moveTo>
                  <a:lnTo>
                    <a:pt x="10328783" y="33909"/>
                  </a:lnTo>
                  <a:lnTo>
                    <a:pt x="10227183" y="33909"/>
                  </a:lnTo>
                  <a:close/>
                  <a:moveTo>
                    <a:pt x="10464165" y="0"/>
                  </a:moveTo>
                  <a:lnTo>
                    <a:pt x="10565765" y="0"/>
                  </a:lnTo>
                  <a:lnTo>
                    <a:pt x="10565765" y="33909"/>
                  </a:lnTo>
                  <a:lnTo>
                    <a:pt x="10464165" y="33909"/>
                  </a:lnTo>
                  <a:close/>
                  <a:moveTo>
                    <a:pt x="10701274" y="33909"/>
                  </a:moveTo>
                  <a:lnTo>
                    <a:pt x="10802874" y="33909"/>
                  </a:lnTo>
                  <a:lnTo>
                    <a:pt x="10701274" y="33909"/>
                  </a:lnTo>
                  <a:close/>
                  <a:moveTo>
                    <a:pt x="10938383" y="33909"/>
                  </a:moveTo>
                  <a:lnTo>
                    <a:pt x="11039983" y="33909"/>
                  </a:lnTo>
                  <a:lnTo>
                    <a:pt x="10938383" y="33909"/>
                  </a:lnTo>
                  <a:close/>
                  <a:moveTo>
                    <a:pt x="11175365" y="0"/>
                  </a:moveTo>
                  <a:lnTo>
                    <a:pt x="11276965" y="0"/>
                  </a:lnTo>
                  <a:lnTo>
                    <a:pt x="11276965" y="33909"/>
                  </a:lnTo>
                  <a:lnTo>
                    <a:pt x="11175365" y="33909"/>
                  </a:lnTo>
                  <a:close/>
                  <a:moveTo>
                    <a:pt x="11412474" y="33909"/>
                  </a:moveTo>
                  <a:lnTo>
                    <a:pt x="11514074" y="33909"/>
                  </a:lnTo>
                  <a:lnTo>
                    <a:pt x="11412474" y="33909"/>
                  </a:lnTo>
                  <a:close/>
                  <a:moveTo>
                    <a:pt x="11649583" y="33909"/>
                  </a:moveTo>
                  <a:lnTo>
                    <a:pt x="11751183" y="33909"/>
                  </a:lnTo>
                  <a:lnTo>
                    <a:pt x="11649583" y="33909"/>
                  </a:lnTo>
                  <a:close/>
                  <a:moveTo>
                    <a:pt x="11886565" y="0"/>
                  </a:moveTo>
                  <a:lnTo>
                    <a:pt x="11988165" y="0"/>
                  </a:lnTo>
                  <a:lnTo>
                    <a:pt x="11988165" y="33909"/>
                  </a:lnTo>
                  <a:lnTo>
                    <a:pt x="11886565" y="33909"/>
                  </a:lnTo>
                  <a:close/>
                  <a:moveTo>
                    <a:pt x="12123674" y="33909"/>
                  </a:moveTo>
                  <a:lnTo>
                    <a:pt x="12225274" y="33909"/>
                  </a:lnTo>
                  <a:lnTo>
                    <a:pt x="12123674" y="33909"/>
                  </a:lnTo>
                  <a:close/>
                  <a:moveTo>
                    <a:pt x="12360783" y="33909"/>
                  </a:moveTo>
                  <a:lnTo>
                    <a:pt x="12462383" y="33909"/>
                  </a:lnTo>
                  <a:lnTo>
                    <a:pt x="12360783" y="33909"/>
                  </a:lnTo>
                  <a:close/>
                  <a:moveTo>
                    <a:pt x="12597765" y="0"/>
                  </a:moveTo>
                  <a:lnTo>
                    <a:pt x="12699365" y="0"/>
                  </a:lnTo>
                  <a:lnTo>
                    <a:pt x="12699365" y="33909"/>
                  </a:lnTo>
                  <a:lnTo>
                    <a:pt x="12597765" y="33909"/>
                  </a:lnTo>
                  <a:close/>
                  <a:moveTo>
                    <a:pt x="12834874" y="33909"/>
                  </a:moveTo>
                  <a:lnTo>
                    <a:pt x="12936474" y="33909"/>
                  </a:lnTo>
                  <a:lnTo>
                    <a:pt x="12834874" y="33909"/>
                  </a:lnTo>
                  <a:close/>
                  <a:moveTo>
                    <a:pt x="13071983" y="33909"/>
                  </a:moveTo>
                  <a:lnTo>
                    <a:pt x="13173583" y="33909"/>
                  </a:lnTo>
                  <a:lnTo>
                    <a:pt x="13071983" y="33909"/>
                  </a:lnTo>
                  <a:close/>
                  <a:moveTo>
                    <a:pt x="13308965" y="0"/>
                  </a:moveTo>
                  <a:lnTo>
                    <a:pt x="13410565" y="0"/>
                  </a:lnTo>
                  <a:lnTo>
                    <a:pt x="13410565" y="33909"/>
                  </a:lnTo>
                  <a:lnTo>
                    <a:pt x="13308965" y="33909"/>
                  </a:lnTo>
                  <a:close/>
                  <a:moveTo>
                    <a:pt x="13546074" y="33909"/>
                  </a:moveTo>
                  <a:lnTo>
                    <a:pt x="13647674" y="33909"/>
                  </a:lnTo>
                  <a:lnTo>
                    <a:pt x="13546074" y="33909"/>
                  </a:lnTo>
                  <a:close/>
                  <a:moveTo>
                    <a:pt x="13783183" y="33909"/>
                  </a:moveTo>
                  <a:lnTo>
                    <a:pt x="13884783" y="33909"/>
                  </a:lnTo>
                  <a:lnTo>
                    <a:pt x="13783183" y="33909"/>
                  </a:lnTo>
                  <a:close/>
                  <a:moveTo>
                    <a:pt x="14020165" y="0"/>
                  </a:moveTo>
                  <a:lnTo>
                    <a:pt x="14121765" y="0"/>
                  </a:lnTo>
                  <a:lnTo>
                    <a:pt x="14121765" y="33909"/>
                  </a:lnTo>
                  <a:lnTo>
                    <a:pt x="14020165" y="33909"/>
                  </a:lnTo>
                  <a:close/>
                  <a:moveTo>
                    <a:pt x="14257275" y="33909"/>
                  </a:moveTo>
                  <a:lnTo>
                    <a:pt x="14358875" y="33909"/>
                  </a:lnTo>
                  <a:lnTo>
                    <a:pt x="14257275" y="33909"/>
                  </a:lnTo>
                  <a:close/>
                  <a:moveTo>
                    <a:pt x="14494383" y="33909"/>
                  </a:moveTo>
                  <a:lnTo>
                    <a:pt x="14595983" y="33909"/>
                  </a:lnTo>
                  <a:lnTo>
                    <a:pt x="14494383" y="33909"/>
                  </a:lnTo>
                  <a:close/>
                  <a:moveTo>
                    <a:pt x="14731365" y="0"/>
                  </a:moveTo>
                  <a:lnTo>
                    <a:pt x="14832965" y="0"/>
                  </a:lnTo>
                  <a:lnTo>
                    <a:pt x="14832965" y="33909"/>
                  </a:lnTo>
                  <a:lnTo>
                    <a:pt x="14731365" y="33909"/>
                  </a:lnTo>
                  <a:close/>
                  <a:moveTo>
                    <a:pt x="14968475" y="33909"/>
                  </a:moveTo>
                  <a:lnTo>
                    <a:pt x="15070075" y="33909"/>
                  </a:lnTo>
                  <a:lnTo>
                    <a:pt x="14968475" y="33909"/>
                  </a:lnTo>
                  <a:close/>
                  <a:moveTo>
                    <a:pt x="15205583" y="33909"/>
                  </a:moveTo>
                  <a:lnTo>
                    <a:pt x="15307183" y="33909"/>
                  </a:lnTo>
                  <a:lnTo>
                    <a:pt x="15205583" y="33909"/>
                  </a:lnTo>
                  <a:close/>
                  <a:moveTo>
                    <a:pt x="15442565" y="0"/>
                  </a:moveTo>
                  <a:lnTo>
                    <a:pt x="15544165" y="0"/>
                  </a:lnTo>
                  <a:lnTo>
                    <a:pt x="15544165" y="33909"/>
                  </a:lnTo>
                  <a:lnTo>
                    <a:pt x="15442565" y="33909"/>
                  </a:lnTo>
                  <a:close/>
                  <a:moveTo>
                    <a:pt x="15679675" y="33909"/>
                  </a:moveTo>
                  <a:lnTo>
                    <a:pt x="15781275" y="33909"/>
                  </a:lnTo>
                  <a:lnTo>
                    <a:pt x="15679675" y="33909"/>
                  </a:lnTo>
                  <a:close/>
                  <a:moveTo>
                    <a:pt x="15916783" y="33909"/>
                  </a:moveTo>
                  <a:lnTo>
                    <a:pt x="16018383" y="33909"/>
                  </a:lnTo>
                  <a:lnTo>
                    <a:pt x="15916783" y="33909"/>
                  </a:lnTo>
                  <a:close/>
                  <a:moveTo>
                    <a:pt x="16153765" y="0"/>
                  </a:moveTo>
                  <a:lnTo>
                    <a:pt x="16255365" y="0"/>
                  </a:lnTo>
                  <a:lnTo>
                    <a:pt x="16255365" y="33909"/>
                  </a:lnTo>
                  <a:lnTo>
                    <a:pt x="16153765" y="33909"/>
                  </a:lnTo>
                  <a:close/>
                  <a:moveTo>
                    <a:pt x="16390875" y="33909"/>
                  </a:moveTo>
                  <a:lnTo>
                    <a:pt x="16492475" y="33909"/>
                  </a:lnTo>
                  <a:lnTo>
                    <a:pt x="16390875" y="33909"/>
                  </a:lnTo>
                  <a:close/>
                  <a:moveTo>
                    <a:pt x="16627983" y="33909"/>
                  </a:moveTo>
                  <a:lnTo>
                    <a:pt x="16729583" y="33909"/>
                  </a:lnTo>
                  <a:lnTo>
                    <a:pt x="16627983" y="33909"/>
                  </a:lnTo>
                  <a:close/>
                  <a:moveTo>
                    <a:pt x="16864965" y="0"/>
                  </a:moveTo>
                  <a:lnTo>
                    <a:pt x="16966565" y="0"/>
                  </a:lnTo>
                  <a:lnTo>
                    <a:pt x="16966565" y="33909"/>
                  </a:lnTo>
                  <a:lnTo>
                    <a:pt x="16864965" y="33909"/>
                  </a:lnTo>
                  <a:close/>
                  <a:moveTo>
                    <a:pt x="17102075" y="33909"/>
                  </a:moveTo>
                  <a:lnTo>
                    <a:pt x="17203675" y="33909"/>
                  </a:lnTo>
                  <a:lnTo>
                    <a:pt x="17102075" y="33909"/>
                  </a:lnTo>
                  <a:close/>
                  <a:moveTo>
                    <a:pt x="17339183" y="33909"/>
                  </a:moveTo>
                  <a:lnTo>
                    <a:pt x="17440783" y="33909"/>
                  </a:lnTo>
                  <a:lnTo>
                    <a:pt x="17339183" y="33909"/>
                  </a:lnTo>
                  <a:close/>
                  <a:moveTo>
                    <a:pt x="17576165" y="0"/>
                  </a:moveTo>
                  <a:lnTo>
                    <a:pt x="17677765" y="0"/>
                  </a:lnTo>
                  <a:lnTo>
                    <a:pt x="17677765" y="33909"/>
                  </a:lnTo>
                  <a:lnTo>
                    <a:pt x="17576165" y="33909"/>
                  </a:lnTo>
                  <a:close/>
                  <a:moveTo>
                    <a:pt x="17813275" y="33909"/>
                  </a:moveTo>
                  <a:lnTo>
                    <a:pt x="17914875" y="33909"/>
                  </a:lnTo>
                  <a:lnTo>
                    <a:pt x="17813275" y="33909"/>
                  </a:lnTo>
                  <a:close/>
                  <a:moveTo>
                    <a:pt x="18050383" y="33909"/>
                  </a:moveTo>
                  <a:lnTo>
                    <a:pt x="18151983" y="33909"/>
                  </a:lnTo>
                  <a:lnTo>
                    <a:pt x="18050383" y="33909"/>
                  </a:lnTo>
                  <a:close/>
                  <a:moveTo>
                    <a:pt x="18287365" y="0"/>
                  </a:moveTo>
                  <a:lnTo>
                    <a:pt x="18388965" y="0"/>
                  </a:lnTo>
                  <a:lnTo>
                    <a:pt x="18388965" y="33909"/>
                  </a:lnTo>
                  <a:lnTo>
                    <a:pt x="18287365" y="33909"/>
                  </a:lnTo>
                  <a:close/>
                  <a:moveTo>
                    <a:pt x="18524475" y="33909"/>
                  </a:moveTo>
                  <a:lnTo>
                    <a:pt x="18626075" y="33909"/>
                  </a:lnTo>
                  <a:lnTo>
                    <a:pt x="18524475" y="33909"/>
                  </a:lnTo>
                  <a:close/>
                  <a:moveTo>
                    <a:pt x="18761583" y="33909"/>
                  </a:moveTo>
                  <a:lnTo>
                    <a:pt x="18863183" y="33909"/>
                  </a:lnTo>
                  <a:lnTo>
                    <a:pt x="18761583" y="33909"/>
                  </a:lnTo>
                  <a:close/>
                  <a:moveTo>
                    <a:pt x="18998565" y="0"/>
                  </a:moveTo>
                  <a:lnTo>
                    <a:pt x="19100165" y="0"/>
                  </a:lnTo>
                  <a:lnTo>
                    <a:pt x="19100165" y="33909"/>
                  </a:lnTo>
                  <a:lnTo>
                    <a:pt x="18998565" y="33909"/>
                  </a:lnTo>
                  <a:close/>
                  <a:moveTo>
                    <a:pt x="19235675" y="33909"/>
                  </a:moveTo>
                  <a:lnTo>
                    <a:pt x="19337275" y="33909"/>
                  </a:lnTo>
                  <a:lnTo>
                    <a:pt x="19235675" y="33909"/>
                  </a:lnTo>
                  <a:close/>
                  <a:moveTo>
                    <a:pt x="19472783" y="33909"/>
                  </a:moveTo>
                  <a:lnTo>
                    <a:pt x="19574383" y="33909"/>
                  </a:lnTo>
                  <a:lnTo>
                    <a:pt x="19472783" y="33909"/>
                  </a:lnTo>
                  <a:close/>
                  <a:moveTo>
                    <a:pt x="19709765" y="0"/>
                  </a:moveTo>
                  <a:lnTo>
                    <a:pt x="19811365" y="0"/>
                  </a:lnTo>
                  <a:lnTo>
                    <a:pt x="19811365" y="33909"/>
                  </a:lnTo>
                  <a:lnTo>
                    <a:pt x="19709765" y="33909"/>
                  </a:lnTo>
                  <a:close/>
                  <a:moveTo>
                    <a:pt x="19946875" y="33909"/>
                  </a:moveTo>
                  <a:lnTo>
                    <a:pt x="20048475" y="33909"/>
                  </a:lnTo>
                  <a:lnTo>
                    <a:pt x="19946875" y="33909"/>
                  </a:lnTo>
                  <a:close/>
                  <a:moveTo>
                    <a:pt x="20183983" y="33909"/>
                  </a:moveTo>
                  <a:lnTo>
                    <a:pt x="20285583" y="33909"/>
                  </a:lnTo>
                  <a:lnTo>
                    <a:pt x="20183983" y="33909"/>
                  </a:lnTo>
                  <a:close/>
                  <a:moveTo>
                    <a:pt x="20420965" y="0"/>
                  </a:moveTo>
                  <a:lnTo>
                    <a:pt x="20522565" y="0"/>
                  </a:lnTo>
                  <a:lnTo>
                    <a:pt x="20522565" y="33909"/>
                  </a:lnTo>
                  <a:lnTo>
                    <a:pt x="20420965" y="33909"/>
                  </a:lnTo>
                  <a:close/>
                  <a:moveTo>
                    <a:pt x="20658075" y="33909"/>
                  </a:moveTo>
                  <a:lnTo>
                    <a:pt x="20759675" y="33909"/>
                  </a:lnTo>
                  <a:lnTo>
                    <a:pt x="20658075" y="33909"/>
                  </a:lnTo>
                  <a:close/>
                  <a:moveTo>
                    <a:pt x="20895183" y="33909"/>
                  </a:moveTo>
                  <a:lnTo>
                    <a:pt x="20996783" y="33909"/>
                  </a:lnTo>
                  <a:lnTo>
                    <a:pt x="20895183" y="33909"/>
                  </a:lnTo>
                  <a:close/>
                  <a:moveTo>
                    <a:pt x="21132165" y="0"/>
                  </a:moveTo>
                  <a:lnTo>
                    <a:pt x="21233765" y="0"/>
                  </a:lnTo>
                  <a:lnTo>
                    <a:pt x="21233765" y="33909"/>
                  </a:lnTo>
                  <a:lnTo>
                    <a:pt x="21132165" y="33909"/>
                  </a:lnTo>
                  <a:close/>
                  <a:moveTo>
                    <a:pt x="21369275" y="33909"/>
                  </a:moveTo>
                  <a:lnTo>
                    <a:pt x="21470875" y="33909"/>
                  </a:lnTo>
                  <a:lnTo>
                    <a:pt x="21369275" y="33909"/>
                  </a:lnTo>
                  <a:close/>
                  <a:moveTo>
                    <a:pt x="21606383" y="33909"/>
                  </a:moveTo>
                  <a:lnTo>
                    <a:pt x="21707983" y="33909"/>
                  </a:lnTo>
                  <a:lnTo>
                    <a:pt x="21606383" y="33909"/>
                  </a:lnTo>
                  <a:close/>
                  <a:moveTo>
                    <a:pt x="21843365" y="0"/>
                  </a:moveTo>
                  <a:lnTo>
                    <a:pt x="21944965" y="0"/>
                  </a:lnTo>
                  <a:lnTo>
                    <a:pt x="21944965" y="33909"/>
                  </a:lnTo>
                  <a:lnTo>
                    <a:pt x="21843365" y="33909"/>
                  </a:lnTo>
                  <a:close/>
                  <a:moveTo>
                    <a:pt x="22080475" y="33909"/>
                  </a:moveTo>
                  <a:lnTo>
                    <a:pt x="22182075" y="33909"/>
                  </a:lnTo>
                  <a:lnTo>
                    <a:pt x="22080475" y="33909"/>
                  </a:lnTo>
                  <a:close/>
                  <a:moveTo>
                    <a:pt x="22212553" y="172720"/>
                  </a:moveTo>
                  <a:lnTo>
                    <a:pt x="22212553" y="274320"/>
                  </a:lnTo>
                  <a:lnTo>
                    <a:pt x="22178645" y="274320"/>
                  </a:lnTo>
                  <a:lnTo>
                    <a:pt x="22178645" y="172720"/>
                  </a:lnTo>
                  <a:close/>
                  <a:moveTo>
                    <a:pt x="22178645" y="409829"/>
                  </a:moveTo>
                  <a:lnTo>
                    <a:pt x="22178645" y="511429"/>
                  </a:lnTo>
                  <a:lnTo>
                    <a:pt x="22144736" y="511429"/>
                  </a:lnTo>
                  <a:lnTo>
                    <a:pt x="22144736" y="409829"/>
                  </a:lnTo>
                  <a:close/>
                  <a:moveTo>
                    <a:pt x="22144736" y="646938"/>
                  </a:moveTo>
                  <a:lnTo>
                    <a:pt x="22144736" y="748538"/>
                  </a:lnTo>
                  <a:lnTo>
                    <a:pt x="22110828" y="748538"/>
                  </a:lnTo>
                  <a:lnTo>
                    <a:pt x="22110828" y="646938"/>
                  </a:lnTo>
                  <a:close/>
                  <a:moveTo>
                    <a:pt x="22110828" y="884047"/>
                  </a:moveTo>
                  <a:lnTo>
                    <a:pt x="22110828" y="985647"/>
                  </a:lnTo>
                  <a:lnTo>
                    <a:pt x="22076918" y="985647"/>
                  </a:lnTo>
                  <a:lnTo>
                    <a:pt x="22076918" y="884047"/>
                  </a:lnTo>
                  <a:close/>
                  <a:moveTo>
                    <a:pt x="22076918" y="1121156"/>
                  </a:moveTo>
                  <a:lnTo>
                    <a:pt x="22076918" y="1222756"/>
                  </a:lnTo>
                  <a:lnTo>
                    <a:pt x="22043009" y="1222756"/>
                  </a:lnTo>
                  <a:lnTo>
                    <a:pt x="22043009" y="1121156"/>
                  </a:lnTo>
                  <a:close/>
                  <a:moveTo>
                    <a:pt x="22043009" y="1358265"/>
                  </a:moveTo>
                  <a:lnTo>
                    <a:pt x="22043009" y="1459865"/>
                  </a:lnTo>
                  <a:lnTo>
                    <a:pt x="22009101" y="1459865"/>
                  </a:lnTo>
                  <a:lnTo>
                    <a:pt x="22009101" y="1358265"/>
                  </a:lnTo>
                  <a:close/>
                  <a:moveTo>
                    <a:pt x="22009101" y="1595374"/>
                  </a:moveTo>
                  <a:lnTo>
                    <a:pt x="22009101" y="1696974"/>
                  </a:lnTo>
                  <a:lnTo>
                    <a:pt x="21975191" y="1696974"/>
                  </a:lnTo>
                  <a:lnTo>
                    <a:pt x="21975191" y="1595374"/>
                  </a:lnTo>
                  <a:close/>
                  <a:moveTo>
                    <a:pt x="21975191" y="1832483"/>
                  </a:moveTo>
                  <a:lnTo>
                    <a:pt x="21975191" y="1934083"/>
                  </a:lnTo>
                  <a:lnTo>
                    <a:pt x="21941282" y="1934083"/>
                  </a:lnTo>
                  <a:lnTo>
                    <a:pt x="21941282" y="1832483"/>
                  </a:lnTo>
                  <a:close/>
                  <a:moveTo>
                    <a:pt x="21941282" y="2069592"/>
                  </a:moveTo>
                  <a:lnTo>
                    <a:pt x="21941282" y="2171192"/>
                  </a:lnTo>
                  <a:lnTo>
                    <a:pt x="21907373" y="2171192"/>
                  </a:lnTo>
                  <a:lnTo>
                    <a:pt x="21907373" y="2069592"/>
                  </a:lnTo>
                  <a:close/>
                  <a:moveTo>
                    <a:pt x="21907373" y="2306701"/>
                  </a:moveTo>
                  <a:lnTo>
                    <a:pt x="21907373" y="2408301"/>
                  </a:lnTo>
                  <a:lnTo>
                    <a:pt x="21873464" y="2408301"/>
                  </a:lnTo>
                  <a:lnTo>
                    <a:pt x="21873464" y="2306701"/>
                  </a:lnTo>
                  <a:close/>
                  <a:moveTo>
                    <a:pt x="21873464" y="2543810"/>
                  </a:moveTo>
                  <a:lnTo>
                    <a:pt x="21873464" y="2645410"/>
                  </a:lnTo>
                  <a:lnTo>
                    <a:pt x="21839554" y="2645410"/>
                  </a:lnTo>
                  <a:lnTo>
                    <a:pt x="21839554" y="2543810"/>
                  </a:lnTo>
                  <a:close/>
                  <a:moveTo>
                    <a:pt x="21839554" y="2780919"/>
                  </a:moveTo>
                  <a:lnTo>
                    <a:pt x="21839554" y="2882519"/>
                  </a:lnTo>
                  <a:lnTo>
                    <a:pt x="21805646" y="2882519"/>
                  </a:lnTo>
                  <a:lnTo>
                    <a:pt x="21805646" y="2780919"/>
                  </a:lnTo>
                  <a:close/>
                  <a:moveTo>
                    <a:pt x="21805646" y="3018028"/>
                  </a:moveTo>
                  <a:lnTo>
                    <a:pt x="21805646" y="3119628"/>
                  </a:lnTo>
                  <a:lnTo>
                    <a:pt x="21771737" y="3119628"/>
                  </a:lnTo>
                  <a:lnTo>
                    <a:pt x="21771737" y="3018028"/>
                  </a:lnTo>
                  <a:close/>
                  <a:moveTo>
                    <a:pt x="21771737" y="3255137"/>
                  </a:moveTo>
                  <a:lnTo>
                    <a:pt x="21771737" y="3356737"/>
                  </a:lnTo>
                  <a:lnTo>
                    <a:pt x="21737827" y="3356737"/>
                  </a:lnTo>
                  <a:lnTo>
                    <a:pt x="21737827" y="3255137"/>
                  </a:lnTo>
                  <a:close/>
                  <a:moveTo>
                    <a:pt x="21737827" y="3492246"/>
                  </a:moveTo>
                  <a:lnTo>
                    <a:pt x="21737827" y="3593846"/>
                  </a:lnTo>
                  <a:lnTo>
                    <a:pt x="21703919" y="3593846"/>
                  </a:lnTo>
                  <a:lnTo>
                    <a:pt x="21703919" y="3492246"/>
                  </a:lnTo>
                  <a:close/>
                  <a:moveTo>
                    <a:pt x="21703919" y="3729355"/>
                  </a:moveTo>
                  <a:lnTo>
                    <a:pt x="21703919" y="3830955"/>
                  </a:lnTo>
                  <a:lnTo>
                    <a:pt x="21670010" y="3830955"/>
                  </a:lnTo>
                  <a:lnTo>
                    <a:pt x="21670010" y="3729355"/>
                  </a:lnTo>
                  <a:close/>
                  <a:moveTo>
                    <a:pt x="21670010" y="3966464"/>
                  </a:moveTo>
                  <a:lnTo>
                    <a:pt x="21670010" y="4068064"/>
                  </a:lnTo>
                  <a:lnTo>
                    <a:pt x="21636102" y="4068064"/>
                  </a:lnTo>
                  <a:lnTo>
                    <a:pt x="21636102" y="3966464"/>
                  </a:lnTo>
                  <a:close/>
                  <a:moveTo>
                    <a:pt x="21636102" y="4203573"/>
                  </a:moveTo>
                  <a:lnTo>
                    <a:pt x="21636102" y="4305173"/>
                  </a:lnTo>
                  <a:lnTo>
                    <a:pt x="21602192" y="4305173"/>
                  </a:lnTo>
                  <a:lnTo>
                    <a:pt x="21602192" y="4203573"/>
                  </a:lnTo>
                  <a:close/>
                  <a:moveTo>
                    <a:pt x="21602192" y="4440682"/>
                  </a:moveTo>
                  <a:lnTo>
                    <a:pt x="21602192" y="4542282"/>
                  </a:lnTo>
                  <a:lnTo>
                    <a:pt x="21568283" y="4542282"/>
                  </a:lnTo>
                  <a:lnTo>
                    <a:pt x="21568283" y="4440682"/>
                  </a:lnTo>
                  <a:close/>
                  <a:moveTo>
                    <a:pt x="21568283" y="4677791"/>
                  </a:moveTo>
                  <a:lnTo>
                    <a:pt x="21568283" y="4779391"/>
                  </a:lnTo>
                  <a:lnTo>
                    <a:pt x="21534375" y="4779391"/>
                  </a:lnTo>
                  <a:lnTo>
                    <a:pt x="21534375" y="4677791"/>
                  </a:lnTo>
                  <a:close/>
                  <a:moveTo>
                    <a:pt x="21534375" y="4914900"/>
                  </a:moveTo>
                  <a:lnTo>
                    <a:pt x="21534375" y="5016500"/>
                  </a:lnTo>
                  <a:lnTo>
                    <a:pt x="21500465" y="5016500"/>
                  </a:lnTo>
                  <a:lnTo>
                    <a:pt x="21500465" y="4914900"/>
                  </a:lnTo>
                  <a:close/>
                  <a:moveTo>
                    <a:pt x="21500465" y="5152009"/>
                  </a:moveTo>
                  <a:lnTo>
                    <a:pt x="21500465" y="5253609"/>
                  </a:lnTo>
                  <a:lnTo>
                    <a:pt x="21466555" y="5253609"/>
                  </a:lnTo>
                  <a:lnTo>
                    <a:pt x="21466555" y="5152009"/>
                  </a:lnTo>
                  <a:close/>
                  <a:moveTo>
                    <a:pt x="21466555" y="5389118"/>
                  </a:moveTo>
                  <a:lnTo>
                    <a:pt x="21466555" y="5490718"/>
                  </a:lnTo>
                  <a:lnTo>
                    <a:pt x="21432647" y="5490718"/>
                  </a:lnTo>
                  <a:lnTo>
                    <a:pt x="21432647" y="5389118"/>
                  </a:lnTo>
                  <a:close/>
                  <a:moveTo>
                    <a:pt x="21432647" y="5626227"/>
                  </a:moveTo>
                  <a:lnTo>
                    <a:pt x="21432647" y="5727827"/>
                  </a:lnTo>
                  <a:lnTo>
                    <a:pt x="21398738" y="5727827"/>
                  </a:lnTo>
                  <a:lnTo>
                    <a:pt x="21398738" y="5626227"/>
                  </a:lnTo>
                  <a:close/>
                  <a:moveTo>
                    <a:pt x="21398738" y="5863336"/>
                  </a:moveTo>
                  <a:lnTo>
                    <a:pt x="21398738" y="5964936"/>
                  </a:lnTo>
                  <a:lnTo>
                    <a:pt x="21364828" y="5964936"/>
                  </a:lnTo>
                  <a:lnTo>
                    <a:pt x="21364828" y="5863336"/>
                  </a:lnTo>
                  <a:close/>
                  <a:moveTo>
                    <a:pt x="21364828" y="6100445"/>
                  </a:moveTo>
                  <a:lnTo>
                    <a:pt x="21364828" y="6202045"/>
                  </a:lnTo>
                  <a:lnTo>
                    <a:pt x="21330920" y="6202045"/>
                  </a:lnTo>
                  <a:lnTo>
                    <a:pt x="21330920" y="6100445"/>
                  </a:lnTo>
                  <a:close/>
                  <a:moveTo>
                    <a:pt x="21330920" y="6337554"/>
                  </a:moveTo>
                  <a:lnTo>
                    <a:pt x="21330920" y="6439154"/>
                  </a:lnTo>
                  <a:lnTo>
                    <a:pt x="21297011" y="6439154"/>
                  </a:lnTo>
                  <a:lnTo>
                    <a:pt x="21297011" y="6337554"/>
                  </a:lnTo>
                  <a:close/>
                  <a:moveTo>
                    <a:pt x="21297011" y="6574663"/>
                  </a:moveTo>
                  <a:lnTo>
                    <a:pt x="21297011" y="6676263"/>
                  </a:lnTo>
                  <a:lnTo>
                    <a:pt x="21263103" y="6676263"/>
                  </a:lnTo>
                  <a:lnTo>
                    <a:pt x="21263103" y="6574663"/>
                  </a:lnTo>
                  <a:close/>
                  <a:moveTo>
                    <a:pt x="21263103" y="6811772"/>
                  </a:moveTo>
                  <a:lnTo>
                    <a:pt x="21263103" y="6913372"/>
                  </a:lnTo>
                  <a:lnTo>
                    <a:pt x="21229193" y="6913372"/>
                  </a:lnTo>
                  <a:lnTo>
                    <a:pt x="21229193" y="6811772"/>
                  </a:lnTo>
                  <a:close/>
                  <a:moveTo>
                    <a:pt x="21229193" y="7048881"/>
                  </a:moveTo>
                  <a:lnTo>
                    <a:pt x="21229193" y="7074662"/>
                  </a:lnTo>
                  <a:cubicBezTo>
                    <a:pt x="21229193" y="7084060"/>
                    <a:pt x="21221573" y="7091553"/>
                    <a:pt x="21212303" y="7091553"/>
                  </a:cubicBezTo>
                  <a:lnTo>
                    <a:pt x="21136483" y="7091553"/>
                  </a:lnTo>
                  <a:lnTo>
                    <a:pt x="21136483" y="7057644"/>
                  </a:lnTo>
                  <a:lnTo>
                    <a:pt x="21212303" y="7057644"/>
                  </a:lnTo>
                  <a:lnTo>
                    <a:pt x="21212303" y="7074535"/>
                  </a:lnTo>
                  <a:lnTo>
                    <a:pt x="21195411" y="7074535"/>
                  </a:lnTo>
                  <a:lnTo>
                    <a:pt x="21195411" y="7048754"/>
                  </a:lnTo>
                  <a:close/>
                  <a:moveTo>
                    <a:pt x="20967192" y="7091426"/>
                  </a:moveTo>
                  <a:lnTo>
                    <a:pt x="20865592" y="7091426"/>
                  </a:lnTo>
                  <a:lnTo>
                    <a:pt x="20865592" y="7057517"/>
                  </a:lnTo>
                  <a:lnTo>
                    <a:pt x="20967192" y="7057517"/>
                  </a:lnTo>
                  <a:close/>
                  <a:moveTo>
                    <a:pt x="20730083" y="7057517"/>
                  </a:moveTo>
                  <a:lnTo>
                    <a:pt x="20628483" y="7057517"/>
                  </a:lnTo>
                  <a:lnTo>
                    <a:pt x="20628483" y="7023608"/>
                  </a:lnTo>
                  <a:lnTo>
                    <a:pt x="20730083" y="7023608"/>
                  </a:lnTo>
                  <a:close/>
                  <a:moveTo>
                    <a:pt x="20492975" y="7023608"/>
                  </a:moveTo>
                  <a:lnTo>
                    <a:pt x="20391375" y="7023608"/>
                  </a:lnTo>
                  <a:lnTo>
                    <a:pt x="20391375" y="6989699"/>
                  </a:lnTo>
                  <a:lnTo>
                    <a:pt x="20492975" y="6989699"/>
                  </a:lnTo>
                  <a:close/>
                  <a:moveTo>
                    <a:pt x="20255865" y="6989699"/>
                  </a:moveTo>
                  <a:lnTo>
                    <a:pt x="20154265" y="6989699"/>
                  </a:lnTo>
                  <a:lnTo>
                    <a:pt x="20154265" y="6955790"/>
                  </a:lnTo>
                  <a:lnTo>
                    <a:pt x="20255865" y="6955790"/>
                  </a:lnTo>
                  <a:close/>
                  <a:moveTo>
                    <a:pt x="20018755" y="6955790"/>
                  </a:moveTo>
                  <a:lnTo>
                    <a:pt x="19917155" y="6955790"/>
                  </a:lnTo>
                  <a:lnTo>
                    <a:pt x="19917155" y="6921881"/>
                  </a:lnTo>
                  <a:lnTo>
                    <a:pt x="20018755" y="6921881"/>
                  </a:lnTo>
                  <a:close/>
                  <a:moveTo>
                    <a:pt x="19781647" y="6921881"/>
                  </a:moveTo>
                  <a:lnTo>
                    <a:pt x="19680047" y="6921881"/>
                  </a:lnTo>
                  <a:lnTo>
                    <a:pt x="19680047" y="6887972"/>
                  </a:lnTo>
                  <a:lnTo>
                    <a:pt x="19781647" y="6887972"/>
                  </a:lnTo>
                  <a:close/>
                  <a:moveTo>
                    <a:pt x="19544538" y="6887972"/>
                  </a:moveTo>
                  <a:lnTo>
                    <a:pt x="19442938" y="6887972"/>
                  </a:lnTo>
                  <a:lnTo>
                    <a:pt x="19442938" y="6854063"/>
                  </a:lnTo>
                  <a:lnTo>
                    <a:pt x="19544538" y="6854063"/>
                  </a:lnTo>
                  <a:close/>
                  <a:moveTo>
                    <a:pt x="19307428" y="6854063"/>
                  </a:moveTo>
                  <a:lnTo>
                    <a:pt x="19205828" y="6854063"/>
                  </a:lnTo>
                  <a:lnTo>
                    <a:pt x="19205828" y="6820154"/>
                  </a:lnTo>
                  <a:lnTo>
                    <a:pt x="19307428" y="6820154"/>
                  </a:lnTo>
                  <a:close/>
                  <a:moveTo>
                    <a:pt x="19070320" y="6820154"/>
                  </a:moveTo>
                  <a:lnTo>
                    <a:pt x="18968720" y="6820154"/>
                  </a:lnTo>
                  <a:lnTo>
                    <a:pt x="18968720" y="6786245"/>
                  </a:lnTo>
                  <a:lnTo>
                    <a:pt x="19070320" y="6786245"/>
                  </a:lnTo>
                  <a:close/>
                  <a:moveTo>
                    <a:pt x="18833211" y="6786245"/>
                  </a:moveTo>
                  <a:lnTo>
                    <a:pt x="18731611" y="6786245"/>
                  </a:lnTo>
                  <a:lnTo>
                    <a:pt x="18731611" y="6752336"/>
                  </a:lnTo>
                  <a:lnTo>
                    <a:pt x="18833211" y="6752336"/>
                  </a:lnTo>
                  <a:close/>
                  <a:moveTo>
                    <a:pt x="18596103" y="6752336"/>
                  </a:moveTo>
                  <a:lnTo>
                    <a:pt x="18494503" y="6752336"/>
                  </a:lnTo>
                  <a:lnTo>
                    <a:pt x="18494503" y="6718427"/>
                  </a:lnTo>
                  <a:lnTo>
                    <a:pt x="18596103" y="6718427"/>
                  </a:lnTo>
                  <a:close/>
                  <a:moveTo>
                    <a:pt x="18358993" y="6718427"/>
                  </a:moveTo>
                  <a:lnTo>
                    <a:pt x="18257393" y="6718427"/>
                  </a:lnTo>
                  <a:lnTo>
                    <a:pt x="18257393" y="6684518"/>
                  </a:lnTo>
                  <a:lnTo>
                    <a:pt x="18358993" y="6684518"/>
                  </a:lnTo>
                  <a:close/>
                  <a:moveTo>
                    <a:pt x="18121884" y="6684518"/>
                  </a:moveTo>
                  <a:lnTo>
                    <a:pt x="18020284" y="6684518"/>
                  </a:lnTo>
                  <a:lnTo>
                    <a:pt x="18020284" y="6650609"/>
                  </a:lnTo>
                  <a:lnTo>
                    <a:pt x="18121884" y="6650609"/>
                  </a:lnTo>
                  <a:close/>
                  <a:moveTo>
                    <a:pt x="17884776" y="6650609"/>
                  </a:moveTo>
                  <a:lnTo>
                    <a:pt x="17783176" y="6650609"/>
                  </a:lnTo>
                  <a:lnTo>
                    <a:pt x="17783176" y="6616700"/>
                  </a:lnTo>
                  <a:lnTo>
                    <a:pt x="17884776" y="6616700"/>
                  </a:lnTo>
                  <a:close/>
                  <a:moveTo>
                    <a:pt x="17647666" y="6616700"/>
                  </a:moveTo>
                  <a:lnTo>
                    <a:pt x="17546066" y="6616700"/>
                  </a:lnTo>
                  <a:lnTo>
                    <a:pt x="17546066" y="6582791"/>
                  </a:lnTo>
                  <a:lnTo>
                    <a:pt x="17647666" y="6582791"/>
                  </a:lnTo>
                  <a:close/>
                  <a:moveTo>
                    <a:pt x="17410557" y="6582791"/>
                  </a:moveTo>
                  <a:lnTo>
                    <a:pt x="17308957" y="6582791"/>
                  </a:lnTo>
                  <a:lnTo>
                    <a:pt x="17308957" y="6548882"/>
                  </a:lnTo>
                  <a:lnTo>
                    <a:pt x="17410557" y="6548882"/>
                  </a:lnTo>
                  <a:close/>
                  <a:moveTo>
                    <a:pt x="17173448" y="6548882"/>
                  </a:moveTo>
                  <a:lnTo>
                    <a:pt x="17071848" y="6548882"/>
                  </a:lnTo>
                  <a:lnTo>
                    <a:pt x="17071848" y="6514973"/>
                  </a:lnTo>
                  <a:lnTo>
                    <a:pt x="17173448" y="6514973"/>
                  </a:lnTo>
                  <a:close/>
                  <a:moveTo>
                    <a:pt x="16936339" y="6514973"/>
                  </a:moveTo>
                  <a:lnTo>
                    <a:pt x="16834739" y="6514973"/>
                  </a:lnTo>
                  <a:lnTo>
                    <a:pt x="16834739" y="6481064"/>
                  </a:lnTo>
                  <a:lnTo>
                    <a:pt x="16936339" y="6481064"/>
                  </a:lnTo>
                  <a:close/>
                  <a:moveTo>
                    <a:pt x="16699229" y="6481064"/>
                  </a:moveTo>
                  <a:lnTo>
                    <a:pt x="16597629" y="6481064"/>
                  </a:lnTo>
                  <a:lnTo>
                    <a:pt x="16597629" y="6447155"/>
                  </a:lnTo>
                  <a:lnTo>
                    <a:pt x="16699229" y="6447155"/>
                  </a:lnTo>
                  <a:close/>
                  <a:moveTo>
                    <a:pt x="16462121" y="6447155"/>
                  </a:moveTo>
                  <a:lnTo>
                    <a:pt x="16360521" y="6447155"/>
                  </a:lnTo>
                  <a:lnTo>
                    <a:pt x="16360521" y="6413246"/>
                  </a:lnTo>
                  <a:lnTo>
                    <a:pt x="16462121" y="6413246"/>
                  </a:lnTo>
                  <a:close/>
                  <a:moveTo>
                    <a:pt x="16225012" y="6413246"/>
                  </a:moveTo>
                  <a:lnTo>
                    <a:pt x="16123412" y="6413246"/>
                  </a:lnTo>
                  <a:lnTo>
                    <a:pt x="16123412" y="6379337"/>
                  </a:lnTo>
                  <a:lnTo>
                    <a:pt x="16225012" y="6379337"/>
                  </a:lnTo>
                  <a:close/>
                  <a:moveTo>
                    <a:pt x="15987902" y="6379337"/>
                  </a:moveTo>
                  <a:lnTo>
                    <a:pt x="15886302" y="6379337"/>
                  </a:lnTo>
                  <a:lnTo>
                    <a:pt x="15886302" y="6345428"/>
                  </a:lnTo>
                  <a:lnTo>
                    <a:pt x="15987902" y="6345428"/>
                  </a:lnTo>
                  <a:close/>
                  <a:moveTo>
                    <a:pt x="15750794" y="6345428"/>
                  </a:moveTo>
                  <a:lnTo>
                    <a:pt x="15649194" y="6345428"/>
                  </a:lnTo>
                  <a:lnTo>
                    <a:pt x="15649194" y="6311519"/>
                  </a:lnTo>
                  <a:lnTo>
                    <a:pt x="15750794" y="6311519"/>
                  </a:lnTo>
                  <a:close/>
                  <a:moveTo>
                    <a:pt x="15513685" y="6311519"/>
                  </a:moveTo>
                  <a:lnTo>
                    <a:pt x="15412085" y="6311519"/>
                  </a:lnTo>
                  <a:lnTo>
                    <a:pt x="15412085" y="6277610"/>
                  </a:lnTo>
                  <a:lnTo>
                    <a:pt x="15513685" y="6277610"/>
                  </a:lnTo>
                  <a:close/>
                  <a:moveTo>
                    <a:pt x="15276577" y="6277610"/>
                  </a:moveTo>
                  <a:lnTo>
                    <a:pt x="15174977" y="6277610"/>
                  </a:lnTo>
                  <a:lnTo>
                    <a:pt x="15174977" y="6243701"/>
                  </a:lnTo>
                  <a:lnTo>
                    <a:pt x="15276577" y="6243701"/>
                  </a:lnTo>
                  <a:close/>
                  <a:moveTo>
                    <a:pt x="15039467" y="6243701"/>
                  </a:moveTo>
                  <a:lnTo>
                    <a:pt x="14937867" y="6243701"/>
                  </a:lnTo>
                  <a:lnTo>
                    <a:pt x="14937867" y="6209792"/>
                  </a:lnTo>
                  <a:lnTo>
                    <a:pt x="15039467" y="6209792"/>
                  </a:lnTo>
                  <a:close/>
                  <a:moveTo>
                    <a:pt x="14802358" y="6209792"/>
                  </a:moveTo>
                  <a:lnTo>
                    <a:pt x="14700758" y="6209792"/>
                  </a:lnTo>
                  <a:lnTo>
                    <a:pt x="14700758" y="6175883"/>
                  </a:lnTo>
                  <a:lnTo>
                    <a:pt x="14802358" y="6175883"/>
                  </a:lnTo>
                  <a:close/>
                  <a:moveTo>
                    <a:pt x="14565250" y="6175883"/>
                  </a:moveTo>
                  <a:lnTo>
                    <a:pt x="14463650" y="6175883"/>
                  </a:lnTo>
                  <a:lnTo>
                    <a:pt x="14463650" y="6141974"/>
                  </a:lnTo>
                  <a:lnTo>
                    <a:pt x="14565250" y="6141974"/>
                  </a:lnTo>
                  <a:close/>
                  <a:moveTo>
                    <a:pt x="14328140" y="6141974"/>
                  </a:moveTo>
                  <a:lnTo>
                    <a:pt x="14226540" y="6141974"/>
                  </a:lnTo>
                  <a:lnTo>
                    <a:pt x="14226540" y="6108065"/>
                  </a:lnTo>
                  <a:lnTo>
                    <a:pt x="14328140" y="6108065"/>
                  </a:lnTo>
                  <a:close/>
                  <a:moveTo>
                    <a:pt x="14091030" y="6108065"/>
                  </a:moveTo>
                  <a:lnTo>
                    <a:pt x="13989430" y="6108065"/>
                  </a:lnTo>
                  <a:lnTo>
                    <a:pt x="13989430" y="6074156"/>
                  </a:lnTo>
                  <a:lnTo>
                    <a:pt x="14091030" y="6074156"/>
                  </a:lnTo>
                  <a:close/>
                  <a:moveTo>
                    <a:pt x="13853922" y="6074156"/>
                  </a:moveTo>
                  <a:lnTo>
                    <a:pt x="13752322" y="6074156"/>
                  </a:lnTo>
                  <a:lnTo>
                    <a:pt x="13752322" y="6040247"/>
                  </a:lnTo>
                  <a:lnTo>
                    <a:pt x="13853922" y="6040247"/>
                  </a:lnTo>
                  <a:close/>
                  <a:moveTo>
                    <a:pt x="13616813" y="6040247"/>
                  </a:moveTo>
                  <a:lnTo>
                    <a:pt x="13515213" y="6040247"/>
                  </a:lnTo>
                  <a:lnTo>
                    <a:pt x="13515213" y="6006338"/>
                  </a:lnTo>
                  <a:lnTo>
                    <a:pt x="13616813" y="6006338"/>
                  </a:lnTo>
                  <a:close/>
                  <a:moveTo>
                    <a:pt x="13379704" y="6006338"/>
                  </a:moveTo>
                  <a:lnTo>
                    <a:pt x="13278104" y="6006338"/>
                  </a:lnTo>
                  <a:lnTo>
                    <a:pt x="13278104" y="5972429"/>
                  </a:lnTo>
                  <a:lnTo>
                    <a:pt x="13379704" y="5972429"/>
                  </a:lnTo>
                  <a:close/>
                  <a:moveTo>
                    <a:pt x="13142595" y="5972429"/>
                  </a:moveTo>
                  <a:lnTo>
                    <a:pt x="13040995" y="5972429"/>
                  </a:lnTo>
                  <a:lnTo>
                    <a:pt x="13040995" y="5938520"/>
                  </a:lnTo>
                  <a:lnTo>
                    <a:pt x="13142595" y="5938520"/>
                  </a:lnTo>
                  <a:close/>
                  <a:moveTo>
                    <a:pt x="12905486" y="5938520"/>
                  </a:moveTo>
                  <a:lnTo>
                    <a:pt x="12803886" y="5938520"/>
                  </a:lnTo>
                  <a:lnTo>
                    <a:pt x="12803886" y="5904611"/>
                  </a:lnTo>
                  <a:lnTo>
                    <a:pt x="12905486" y="5904611"/>
                  </a:lnTo>
                  <a:close/>
                  <a:moveTo>
                    <a:pt x="12668377" y="5904611"/>
                  </a:moveTo>
                  <a:lnTo>
                    <a:pt x="12566777" y="5904611"/>
                  </a:lnTo>
                  <a:lnTo>
                    <a:pt x="12566777" y="5870702"/>
                  </a:lnTo>
                  <a:lnTo>
                    <a:pt x="12668377" y="5870702"/>
                  </a:lnTo>
                  <a:close/>
                  <a:moveTo>
                    <a:pt x="12431268" y="5870702"/>
                  </a:moveTo>
                  <a:lnTo>
                    <a:pt x="12329668" y="5870702"/>
                  </a:lnTo>
                  <a:lnTo>
                    <a:pt x="12329668" y="5836793"/>
                  </a:lnTo>
                  <a:lnTo>
                    <a:pt x="12431268" y="5836793"/>
                  </a:lnTo>
                  <a:close/>
                  <a:moveTo>
                    <a:pt x="12194159" y="5836793"/>
                  </a:moveTo>
                  <a:lnTo>
                    <a:pt x="12092559" y="5836793"/>
                  </a:lnTo>
                  <a:lnTo>
                    <a:pt x="12092559" y="5802884"/>
                  </a:lnTo>
                  <a:lnTo>
                    <a:pt x="12194159" y="5802884"/>
                  </a:lnTo>
                  <a:close/>
                  <a:moveTo>
                    <a:pt x="11957050" y="5802884"/>
                  </a:moveTo>
                  <a:lnTo>
                    <a:pt x="11855450" y="5802884"/>
                  </a:lnTo>
                  <a:lnTo>
                    <a:pt x="11855450" y="5768975"/>
                  </a:lnTo>
                  <a:lnTo>
                    <a:pt x="11957050" y="5768975"/>
                  </a:lnTo>
                  <a:close/>
                  <a:moveTo>
                    <a:pt x="11719941" y="5768975"/>
                  </a:moveTo>
                  <a:lnTo>
                    <a:pt x="11618341" y="5768975"/>
                  </a:lnTo>
                  <a:lnTo>
                    <a:pt x="11618341" y="5735066"/>
                  </a:lnTo>
                  <a:lnTo>
                    <a:pt x="11719941" y="5735066"/>
                  </a:lnTo>
                  <a:close/>
                  <a:moveTo>
                    <a:pt x="11482832" y="5735066"/>
                  </a:moveTo>
                  <a:lnTo>
                    <a:pt x="11381232" y="5735066"/>
                  </a:lnTo>
                  <a:lnTo>
                    <a:pt x="11381232" y="5701157"/>
                  </a:lnTo>
                  <a:lnTo>
                    <a:pt x="11482832" y="5701157"/>
                  </a:lnTo>
                  <a:close/>
                  <a:moveTo>
                    <a:pt x="11245723" y="5701157"/>
                  </a:moveTo>
                  <a:lnTo>
                    <a:pt x="11144123" y="5701157"/>
                  </a:lnTo>
                  <a:lnTo>
                    <a:pt x="11144123" y="5667248"/>
                  </a:lnTo>
                  <a:lnTo>
                    <a:pt x="11245723" y="5667248"/>
                  </a:lnTo>
                  <a:close/>
                  <a:moveTo>
                    <a:pt x="11008614" y="5667248"/>
                  </a:moveTo>
                  <a:lnTo>
                    <a:pt x="10907014" y="5667248"/>
                  </a:lnTo>
                  <a:lnTo>
                    <a:pt x="10907014" y="5633339"/>
                  </a:lnTo>
                  <a:lnTo>
                    <a:pt x="11008614" y="5633339"/>
                  </a:lnTo>
                  <a:close/>
                  <a:moveTo>
                    <a:pt x="10771505" y="5633339"/>
                  </a:moveTo>
                  <a:lnTo>
                    <a:pt x="10669905" y="5633339"/>
                  </a:lnTo>
                  <a:lnTo>
                    <a:pt x="10669905" y="5599430"/>
                  </a:lnTo>
                  <a:lnTo>
                    <a:pt x="10771505" y="5599430"/>
                  </a:lnTo>
                  <a:close/>
                  <a:moveTo>
                    <a:pt x="10534396" y="5599430"/>
                  </a:moveTo>
                  <a:lnTo>
                    <a:pt x="10432796" y="5599430"/>
                  </a:lnTo>
                  <a:lnTo>
                    <a:pt x="10432796" y="5565521"/>
                  </a:lnTo>
                  <a:lnTo>
                    <a:pt x="10534396" y="5565521"/>
                  </a:lnTo>
                  <a:close/>
                  <a:moveTo>
                    <a:pt x="10297287" y="5565521"/>
                  </a:moveTo>
                  <a:lnTo>
                    <a:pt x="10195687" y="5565521"/>
                  </a:lnTo>
                  <a:lnTo>
                    <a:pt x="10195687" y="5531612"/>
                  </a:lnTo>
                  <a:lnTo>
                    <a:pt x="10297287" y="5531612"/>
                  </a:lnTo>
                  <a:close/>
                  <a:moveTo>
                    <a:pt x="10060178" y="5531612"/>
                  </a:moveTo>
                  <a:lnTo>
                    <a:pt x="9958578" y="5531612"/>
                  </a:lnTo>
                  <a:lnTo>
                    <a:pt x="9958578" y="5497703"/>
                  </a:lnTo>
                  <a:lnTo>
                    <a:pt x="10060178" y="5497703"/>
                  </a:lnTo>
                  <a:close/>
                  <a:moveTo>
                    <a:pt x="9823069" y="5497703"/>
                  </a:moveTo>
                  <a:lnTo>
                    <a:pt x="9721469" y="5497703"/>
                  </a:lnTo>
                  <a:lnTo>
                    <a:pt x="9721469" y="5463794"/>
                  </a:lnTo>
                  <a:lnTo>
                    <a:pt x="9823069" y="5463794"/>
                  </a:lnTo>
                  <a:close/>
                  <a:moveTo>
                    <a:pt x="9585960" y="5463794"/>
                  </a:moveTo>
                  <a:lnTo>
                    <a:pt x="9484360" y="5463794"/>
                  </a:lnTo>
                  <a:lnTo>
                    <a:pt x="9484360" y="5429885"/>
                  </a:lnTo>
                  <a:lnTo>
                    <a:pt x="9585960" y="5429885"/>
                  </a:lnTo>
                  <a:close/>
                  <a:moveTo>
                    <a:pt x="9348851" y="5429885"/>
                  </a:moveTo>
                  <a:lnTo>
                    <a:pt x="9247251" y="5429885"/>
                  </a:lnTo>
                  <a:lnTo>
                    <a:pt x="9247251" y="5395976"/>
                  </a:lnTo>
                  <a:lnTo>
                    <a:pt x="9348851" y="5395976"/>
                  </a:lnTo>
                  <a:close/>
                  <a:moveTo>
                    <a:pt x="9111742" y="5395976"/>
                  </a:moveTo>
                  <a:lnTo>
                    <a:pt x="9010142" y="5395976"/>
                  </a:lnTo>
                  <a:lnTo>
                    <a:pt x="9010142" y="5362067"/>
                  </a:lnTo>
                  <a:lnTo>
                    <a:pt x="9111742" y="5362067"/>
                  </a:lnTo>
                  <a:close/>
                  <a:moveTo>
                    <a:pt x="8874633" y="5362067"/>
                  </a:moveTo>
                  <a:lnTo>
                    <a:pt x="8773033" y="5362067"/>
                  </a:lnTo>
                  <a:lnTo>
                    <a:pt x="8773033" y="5328158"/>
                  </a:lnTo>
                  <a:lnTo>
                    <a:pt x="8874633" y="5328158"/>
                  </a:lnTo>
                  <a:close/>
                  <a:moveTo>
                    <a:pt x="8637524" y="5328158"/>
                  </a:moveTo>
                  <a:lnTo>
                    <a:pt x="8535924" y="5328158"/>
                  </a:lnTo>
                  <a:lnTo>
                    <a:pt x="8535924" y="5294249"/>
                  </a:lnTo>
                  <a:lnTo>
                    <a:pt x="8637524" y="5294249"/>
                  </a:lnTo>
                  <a:close/>
                  <a:moveTo>
                    <a:pt x="8400415" y="5294249"/>
                  </a:moveTo>
                  <a:lnTo>
                    <a:pt x="8298815" y="5294249"/>
                  </a:lnTo>
                  <a:lnTo>
                    <a:pt x="8298815" y="5260340"/>
                  </a:lnTo>
                  <a:lnTo>
                    <a:pt x="8400415" y="5260340"/>
                  </a:lnTo>
                  <a:close/>
                  <a:moveTo>
                    <a:pt x="8163306" y="5260340"/>
                  </a:moveTo>
                  <a:lnTo>
                    <a:pt x="8061706" y="5260340"/>
                  </a:lnTo>
                  <a:lnTo>
                    <a:pt x="8061706" y="5226431"/>
                  </a:lnTo>
                  <a:lnTo>
                    <a:pt x="8163306" y="5226431"/>
                  </a:lnTo>
                  <a:close/>
                  <a:moveTo>
                    <a:pt x="7926197" y="5226431"/>
                  </a:moveTo>
                  <a:lnTo>
                    <a:pt x="7824597" y="5226431"/>
                  </a:lnTo>
                  <a:lnTo>
                    <a:pt x="7824597" y="5192522"/>
                  </a:lnTo>
                  <a:lnTo>
                    <a:pt x="7926197" y="5192522"/>
                  </a:lnTo>
                  <a:close/>
                  <a:moveTo>
                    <a:pt x="7689088" y="5192522"/>
                  </a:moveTo>
                  <a:lnTo>
                    <a:pt x="7587488" y="5192522"/>
                  </a:lnTo>
                  <a:lnTo>
                    <a:pt x="7587488" y="5158613"/>
                  </a:lnTo>
                  <a:lnTo>
                    <a:pt x="7689088" y="5158613"/>
                  </a:lnTo>
                  <a:close/>
                  <a:moveTo>
                    <a:pt x="7451979" y="5158613"/>
                  </a:moveTo>
                  <a:lnTo>
                    <a:pt x="7350379" y="5158613"/>
                  </a:lnTo>
                  <a:lnTo>
                    <a:pt x="7350379" y="5124704"/>
                  </a:lnTo>
                  <a:lnTo>
                    <a:pt x="7451979" y="5124704"/>
                  </a:lnTo>
                  <a:close/>
                  <a:moveTo>
                    <a:pt x="7214870" y="5124704"/>
                  </a:moveTo>
                  <a:lnTo>
                    <a:pt x="7113270" y="5124704"/>
                  </a:lnTo>
                  <a:lnTo>
                    <a:pt x="7113270" y="5090795"/>
                  </a:lnTo>
                  <a:lnTo>
                    <a:pt x="7214870" y="5090795"/>
                  </a:lnTo>
                  <a:close/>
                  <a:moveTo>
                    <a:pt x="6977761" y="5090795"/>
                  </a:moveTo>
                  <a:lnTo>
                    <a:pt x="6876161" y="5090795"/>
                  </a:lnTo>
                  <a:lnTo>
                    <a:pt x="6876161" y="5056886"/>
                  </a:lnTo>
                  <a:lnTo>
                    <a:pt x="6977761" y="5056886"/>
                  </a:lnTo>
                  <a:close/>
                  <a:moveTo>
                    <a:pt x="6740652" y="5056886"/>
                  </a:moveTo>
                  <a:lnTo>
                    <a:pt x="6639052" y="5056886"/>
                  </a:lnTo>
                  <a:lnTo>
                    <a:pt x="6639052" y="5022977"/>
                  </a:lnTo>
                  <a:lnTo>
                    <a:pt x="6740652" y="5022977"/>
                  </a:lnTo>
                  <a:close/>
                  <a:moveTo>
                    <a:pt x="6503543" y="5022977"/>
                  </a:moveTo>
                  <a:lnTo>
                    <a:pt x="6401943" y="5022977"/>
                  </a:lnTo>
                  <a:lnTo>
                    <a:pt x="6401943" y="4989068"/>
                  </a:lnTo>
                  <a:lnTo>
                    <a:pt x="6503543" y="4989068"/>
                  </a:lnTo>
                  <a:close/>
                  <a:moveTo>
                    <a:pt x="6266434" y="4989068"/>
                  </a:moveTo>
                  <a:lnTo>
                    <a:pt x="6164834" y="4989068"/>
                  </a:lnTo>
                  <a:lnTo>
                    <a:pt x="6164834" y="4955159"/>
                  </a:lnTo>
                  <a:lnTo>
                    <a:pt x="6266434" y="4955159"/>
                  </a:lnTo>
                  <a:close/>
                  <a:moveTo>
                    <a:pt x="6029325" y="4955159"/>
                  </a:moveTo>
                  <a:lnTo>
                    <a:pt x="5927725" y="4955159"/>
                  </a:lnTo>
                  <a:lnTo>
                    <a:pt x="5927725" y="4921250"/>
                  </a:lnTo>
                  <a:lnTo>
                    <a:pt x="6029325" y="4921250"/>
                  </a:lnTo>
                  <a:close/>
                  <a:moveTo>
                    <a:pt x="5792216" y="4921250"/>
                  </a:moveTo>
                  <a:lnTo>
                    <a:pt x="5690616" y="4921250"/>
                  </a:lnTo>
                  <a:lnTo>
                    <a:pt x="5690616" y="4887341"/>
                  </a:lnTo>
                  <a:lnTo>
                    <a:pt x="5792216" y="4887341"/>
                  </a:lnTo>
                  <a:close/>
                  <a:moveTo>
                    <a:pt x="5555107" y="4887341"/>
                  </a:moveTo>
                  <a:lnTo>
                    <a:pt x="5453507" y="4887341"/>
                  </a:lnTo>
                  <a:lnTo>
                    <a:pt x="5453507" y="4853432"/>
                  </a:lnTo>
                  <a:lnTo>
                    <a:pt x="5555107" y="4853432"/>
                  </a:lnTo>
                  <a:close/>
                  <a:moveTo>
                    <a:pt x="5317998" y="4853432"/>
                  </a:moveTo>
                  <a:lnTo>
                    <a:pt x="5216398" y="4853432"/>
                  </a:lnTo>
                  <a:lnTo>
                    <a:pt x="5216398" y="4819523"/>
                  </a:lnTo>
                  <a:lnTo>
                    <a:pt x="5317998" y="4819523"/>
                  </a:lnTo>
                  <a:close/>
                  <a:moveTo>
                    <a:pt x="5080889" y="4819523"/>
                  </a:moveTo>
                  <a:lnTo>
                    <a:pt x="4979289" y="4819523"/>
                  </a:lnTo>
                  <a:lnTo>
                    <a:pt x="4979289" y="4785614"/>
                  </a:lnTo>
                  <a:lnTo>
                    <a:pt x="5080889" y="4785614"/>
                  </a:lnTo>
                  <a:close/>
                  <a:moveTo>
                    <a:pt x="4843780" y="4785614"/>
                  </a:moveTo>
                  <a:lnTo>
                    <a:pt x="4742180" y="4785614"/>
                  </a:lnTo>
                  <a:lnTo>
                    <a:pt x="4742180" y="4751705"/>
                  </a:lnTo>
                  <a:lnTo>
                    <a:pt x="4843780" y="4751705"/>
                  </a:lnTo>
                  <a:close/>
                  <a:moveTo>
                    <a:pt x="4606671" y="4751705"/>
                  </a:moveTo>
                  <a:lnTo>
                    <a:pt x="4505071" y="4751705"/>
                  </a:lnTo>
                  <a:lnTo>
                    <a:pt x="4505071" y="4717796"/>
                  </a:lnTo>
                  <a:lnTo>
                    <a:pt x="4606671" y="4717796"/>
                  </a:lnTo>
                  <a:close/>
                  <a:moveTo>
                    <a:pt x="4369562" y="4717796"/>
                  </a:moveTo>
                  <a:lnTo>
                    <a:pt x="4267962" y="4717796"/>
                  </a:lnTo>
                  <a:lnTo>
                    <a:pt x="4267962" y="4683887"/>
                  </a:lnTo>
                  <a:lnTo>
                    <a:pt x="4369562" y="4683887"/>
                  </a:lnTo>
                  <a:close/>
                  <a:moveTo>
                    <a:pt x="4132453" y="4683887"/>
                  </a:moveTo>
                  <a:lnTo>
                    <a:pt x="4030853" y="4683887"/>
                  </a:lnTo>
                  <a:lnTo>
                    <a:pt x="4030853" y="4649978"/>
                  </a:lnTo>
                  <a:lnTo>
                    <a:pt x="4132453" y="4649978"/>
                  </a:lnTo>
                  <a:close/>
                  <a:moveTo>
                    <a:pt x="3895344" y="4649978"/>
                  </a:moveTo>
                  <a:lnTo>
                    <a:pt x="3793744" y="4649978"/>
                  </a:lnTo>
                  <a:lnTo>
                    <a:pt x="3793744" y="4616069"/>
                  </a:lnTo>
                  <a:lnTo>
                    <a:pt x="3895344" y="4616069"/>
                  </a:lnTo>
                  <a:close/>
                  <a:moveTo>
                    <a:pt x="3658235" y="4616069"/>
                  </a:moveTo>
                  <a:lnTo>
                    <a:pt x="3556635" y="4616069"/>
                  </a:lnTo>
                  <a:lnTo>
                    <a:pt x="3556635" y="4582160"/>
                  </a:lnTo>
                  <a:lnTo>
                    <a:pt x="3658235" y="4582160"/>
                  </a:lnTo>
                  <a:close/>
                  <a:moveTo>
                    <a:pt x="3421126" y="4582160"/>
                  </a:moveTo>
                  <a:lnTo>
                    <a:pt x="3319526" y="4582160"/>
                  </a:lnTo>
                  <a:lnTo>
                    <a:pt x="3319526" y="4548251"/>
                  </a:lnTo>
                  <a:lnTo>
                    <a:pt x="3421126" y="4548251"/>
                  </a:lnTo>
                  <a:close/>
                  <a:moveTo>
                    <a:pt x="3184017" y="4548251"/>
                  </a:moveTo>
                  <a:lnTo>
                    <a:pt x="3082417" y="4548251"/>
                  </a:lnTo>
                  <a:lnTo>
                    <a:pt x="3082417" y="4514342"/>
                  </a:lnTo>
                  <a:lnTo>
                    <a:pt x="3184017" y="4514342"/>
                  </a:lnTo>
                  <a:close/>
                  <a:moveTo>
                    <a:pt x="2946908" y="4514342"/>
                  </a:moveTo>
                  <a:lnTo>
                    <a:pt x="2845308" y="4514342"/>
                  </a:lnTo>
                  <a:lnTo>
                    <a:pt x="2845308" y="4480433"/>
                  </a:lnTo>
                  <a:lnTo>
                    <a:pt x="2946908" y="4480433"/>
                  </a:lnTo>
                  <a:close/>
                  <a:moveTo>
                    <a:pt x="2709799" y="4480433"/>
                  </a:moveTo>
                  <a:lnTo>
                    <a:pt x="2608199" y="4480433"/>
                  </a:lnTo>
                  <a:lnTo>
                    <a:pt x="2608199" y="4446524"/>
                  </a:lnTo>
                  <a:lnTo>
                    <a:pt x="2709799" y="4446524"/>
                  </a:lnTo>
                  <a:close/>
                  <a:moveTo>
                    <a:pt x="2472690" y="4446524"/>
                  </a:moveTo>
                  <a:lnTo>
                    <a:pt x="2371090" y="4446524"/>
                  </a:lnTo>
                  <a:lnTo>
                    <a:pt x="2371090" y="4412615"/>
                  </a:lnTo>
                  <a:lnTo>
                    <a:pt x="2472690" y="4412615"/>
                  </a:lnTo>
                  <a:close/>
                  <a:moveTo>
                    <a:pt x="2235581" y="4412615"/>
                  </a:moveTo>
                  <a:lnTo>
                    <a:pt x="2133981" y="4412615"/>
                  </a:lnTo>
                  <a:lnTo>
                    <a:pt x="2133981" y="4378706"/>
                  </a:lnTo>
                  <a:lnTo>
                    <a:pt x="2235581" y="4378706"/>
                  </a:lnTo>
                  <a:close/>
                  <a:moveTo>
                    <a:pt x="1998472" y="4378706"/>
                  </a:moveTo>
                  <a:lnTo>
                    <a:pt x="1896872" y="4378706"/>
                  </a:lnTo>
                  <a:lnTo>
                    <a:pt x="1896872" y="4344797"/>
                  </a:lnTo>
                  <a:lnTo>
                    <a:pt x="1998472" y="4344797"/>
                  </a:lnTo>
                  <a:close/>
                  <a:moveTo>
                    <a:pt x="1761363" y="4344797"/>
                  </a:moveTo>
                  <a:lnTo>
                    <a:pt x="1659763" y="4344797"/>
                  </a:lnTo>
                  <a:lnTo>
                    <a:pt x="1659763" y="4310888"/>
                  </a:lnTo>
                  <a:lnTo>
                    <a:pt x="1761363" y="4310888"/>
                  </a:lnTo>
                  <a:close/>
                  <a:moveTo>
                    <a:pt x="1524254" y="4310888"/>
                  </a:moveTo>
                  <a:lnTo>
                    <a:pt x="1422654" y="4310888"/>
                  </a:lnTo>
                  <a:lnTo>
                    <a:pt x="1422654" y="4276979"/>
                  </a:lnTo>
                  <a:lnTo>
                    <a:pt x="1524254" y="4276979"/>
                  </a:lnTo>
                  <a:close/>
                  <a:moveTo>
                    <a:pt x="1287145" y="4276979"/>
                  </a:moveTo>
                  <a:lnTo>
                    <a:pt x="1185545" y="4276979"/>
                  </a:lnTo>
                  <a:lnTo>
                    <a:pt x="1185545" y="4243070"/>
                  </a:lnTo>
                  <a:lnTo>
                    <a:pt x="1287145" y="4243070"/>
                  </a:lnTo>
                  <a:close/>
                  <a:moveTo>
                    <a:pt x="1050036" y="4243070"/>
                  </a:moveTo>
                  <a:lnTo>
                    <a:pt x="948436" y="4243070"/>
                  </a:lnTo>
                  <a:lnTo>
                    <a:pt x="948436" y="4209161"/>
                  </a:lnTo>
                  <a:lnTo>
                    <a:pt x="1050036" y="4209161"/>
                  </a:lnTo>
                  <a:close/>
                  <a:moveTo>
                    <a:pt x="812927" y="4209161"/>
                  </a:moveTo>
                  <a:lnTo>
                    <a:pt x="711327" y="4209161"/>
                  </a:lnTo>
                  <a:lnTo>
                    <a:pt x="711327" y="4175252"/>
                  </a:lnTo>
                  <a:lnTo>
                    <a:pt x="812927" y="4175252"/>
                  </a:lnTo>
                  <a:close/>
                  <a:moveTo>
                    <a:pt x="575818" y="4175252"/>
                  </a:moveTo>
                  <a:lnTo>
                    <a:pt x="474218" y="4175252"/>
                  </a:lnTo>
                  <a:lnTo>
                    <a:pt x="474218" y="4141343"/>
                  </a:lnTo>
                  <a:lnTo>
                    <a:pt x="575818" y="4141343"/>
                  </a:lnTo>
                  <a:close/>
                  <a:moveTo>
                    <a:pt x="338709" y="4141343"/>
                  </a:moveTo>
                  <a:lnTo>
                    <a:pt x="237109" y="4141343"/>
                  </a:lnTo>
                  <a:lnTo>
                    <a:pt x="237109" y="4107434"/>
                  </a:lnTo>
                  <a:lnTo>
                    <a:pt x="338709" y="4107434"/>
                  </a:lnTo>
                  <a:close/>
                  <a:moveTo>
                    <a:pt x="101600" y="4107434"/>
                  </a:moveTo>
                  <a:lnTo>
                    <a:pt x="0" y="4107434"/>
                  </a:lnTo>
                  <a:lnTo>
                    <a:pt x="0" y="4073525"/>
                  </a:lnTo>
                  <a:lnTo>
                    <a:pt x="101600" y="4073525"/>
                  </a:lnTo>
                  <a:close/>
                  <a:moveTo>
                    <a:pt x="964565" y="6943344"/>
                  </a:moveTo>
                  <a:lnTo>
                    <a:pt x="964565" y="6841744"/>
                  </a:lnTo>
                  <a:lnTo>
                    <a:pt x="998474" y="6841744"/>
                  </a:lnTo>
                  <a:lnTo>
                    <a:pt x="998474" y="6943344"/>
                  </a:lnTo>
                  <a:close/>
                  <a:moveTo>
                    <a:pt x="998474" y="6706235"/>
                  </a:moveTo>
                  <a:lnTo>
                    <a:pt x="998474" y="6604635"/>
                  </a:lnTo>
                  <a:lnTo>
                    <a:pt x="998474" y="6706235"/>
                  </a:lnTo>
                  <a:close/>
                  <a:moveTo>
                    <a:pt x="998474" y="6469126"/>
                  </a:moveTo>
                  <a:lnTo>
                    <a:pt x="998474" y="6367526"/>
                  </a:lnTo>
                  <a:lnTo>
                    <a:pt x="998474" y="6469126"/>
                  </a:lnTo>
                  <a:close/>
                  <a:moveTo>
                    <a:pt x="998474" y="6232017"/>
                  </a:moveTo>
                  <a:lnTo>
                    <a:pt x="998474" y="6130417"/>
                  </a:lnTo>
                  <a:lnTo>
                    <a:pt x="998474" y="6232017"/>
                  </a:lnTo>
                  <a:close/>
                  <a:moveTo>
                    <a:pt x="998474" y="5994908"/>
                  </a:moveTo>
                  <a:lnTo>
                    <a:pt x="998474" y="5893308"/>
                  </a:lnTo>
                  <a:lnTo>
                    <a:pt x="998474" y="5994908"/>
                  </a:lnTo>
                  <a:close/>
                  <a:moveTo>
                    <a:pt x="998474" y="5757799"/>
                  </a:moveTo>
                  <a:lnTo>
                    <a:pt x="998474" y="5656199"/>
                  </a:lnTo>
                  <a:lnTo>
                    <a:pt x="998474" y="5757799"/>
                  </a:lnTo>
                  <a:close/>
                  <a:moveTo>
                    <a:pt x="998474" y="5520690"/>
                  </a:moveTo>
                  <a:lnTo>
                    <a:pt x="998474" y="5419090"/>
                  </a:lnTo>
                  <a:lnTo>
                    <a:pt x="998474" y="5520690"/>
                  </a:lnTo>
                  <a:close/>
                  <a:moveTo>
                    <a:pt x="998474" y="5283581"/>
                  </a:moveTo>
                  <a:lnTo>
                    <a:pt x="998474" y="5181981"/>
                  </a:lnTo>
                  <a:lnTo>
                    <a:pt x="998474" y="5283581"/>
                  </a:lnTo>
                  <a:close/>
                  <a:moveTo>
                    <a:pt x="998474" y="5046472"/>
                  </a:moveTo>
                  <a:lnTo>
                    <a:pt x="998474" y="4944872"/>
                  </a:lnTo>
                  <a:lnTo>
                    <a:pt x="998474" y="5046472"/>
                  </a:lnTo>
                  <a:close/>
                  <a:moveTo>
                    <a:pt x="998474" y="4809363"/>
                  </a:moveTo>
                  <a:lnTo>
                    <a:pt x="998474" y="4707763"/>
                  </a:lnTo>
                  <a:lnTo>
                    <a:pt x="998474" y="4809363"/>
                  </a:lnTo>
                  <a:close/>
                  <a:moveTo>
                    <a:pt x="998474" y="4572253"/>
                  </a:moveTo>
                  <a:lnTo>
                    <a:pt x="998474" y="4470653"/>
                  </a:lnTo>
                  <a:lnTo>
                    <a:pt x="998474" y="4572253"/>
                  </a:lnTo>
                  <a:close/>
                  <a:moveTo>
                    <a:pt x="998474" y="4335145"/>
                  </a:moveTo>
                  <a:lnTo>
                    <a:pt x="998474" y="4233545"/>
                  </a:lnTo>
                  <a:lnTo>
                    <a:pt x="998474" y="4335145"/>
                  </a:lnTo>
                  <a:close/>
                  <a:moveTo>
                    <a:pt x="998474" y="4098036"/>
                  </a:moveTo>
                  <a:lnTo>
                    <a:pt x="998474" y="3996436"/>
                  </a:lnTo>
                  <a:lnTo>
                    <a:pt x="998474" y="4098036"/>
                  </a:lnTo>
                  <a:close/>
                  <a:moveTo>
                    <a:pt x="998474" y="3860927"/>
                  </a:moveTo>
                  <a:lnTo>
                    <a:pt x="998474" y="3759327"/>
                  </a:lnTo>
                  <a:lnTo>
                    <a:pt x="998474" y="3860927"/>
                  </a:lnTo>
                  <a:close/>
                  <a:moveTo>
                    <a:pt x="998474" y="3623818"/>
                  </a:moveTo>
                  <a:lnTo>
                    <a:pt x="998474" y="3522218"/>
                  </a:lnTo>
                  <a:lnTo>
                    <a:pt x="998474" y="3623818"/>
                  </a:lnTo>
                  <a:close/>
                  <a:moveTo>
                    <a:pt x="998474" y="3386709"/>
                  </a:moveTo>
                  <a:lnTo>
                    <a:pt x="998474" y="3285109"/>
                  </a:lnTo>
                  <a:lnTo>
                    <a:pt x="998474" y="3386709"/>
                  </a:lnTo>
                  <a:close/>
                  <a:moveTo>
                    <a:pt x="998474" y="3149600"/>
                  </a:moveTo>
                  <a:lnTo>
                    <a:pt x="998474" y="3048000"/>
                  </a:lnTo>
                  <a:lnTo>
                    <a:pt x="998474" y="3149600"/>
                  </a:lnTo>
                  <a:close/>
                  <a:moveTo>
                    <a:pt x="998474" y="2912491"/>
                  </a:moveTo>
                  <a:lnTo>
                    <a:pt x="998474" y="2810891"/>
                  </a:lnTo>
                  <a:lnTo>
                    <a:pt x="998474" y="2912491"/>
                  </a:lnTo>
                  <a:close/>
                  <a:moveTo>
                    <a:pt x="998474" y="2675382"/>
                  </a:moveTo>
                  <a:lnTo>
                    <a:pt x="998474" y="2573782"/>
                  </a:lnTo>
                  <a:lnTo>
                    <a:pt x="998474" y="2675382"/>
                  </a:lnTo>
                  <a:close/>
                  <a:moveTo>
                    <a:pt x="998474" y="2438273"/>
                  </a:moveTo>
                  <a:lnTo>
                    <a:pt x="998474" y="2336673"/>
                  </a:lnTo>
                  <a:lnTo>
                    <a:pt x="998474" y="2438273"/>
                  </a:lnTo>
                  <a:close/>
                  <a:moveTo>
                    <a:pt x="998474" y="2201164"/>
                  </a:moveTo>
                  <a:lnTo>
                    <a:pt x="998474" y="2099564"/>
                  </a:lnTo>
                  <a:lnTo>
                    <a:pt x="998474" y="2201164"/>
                  </a:lnTo>
                  <a:close/>
                  <a:moveTo>
                    <a:pt x="998474" y="1964055"/>
                  </a:moveTo>
                  <a:lnTo>
                    <a:pt x="998474" y="1862455"/>
                  </a:lnTo>
                  <a:lnTo>
                    <a:pt x="998474" y="1964055"/>
                  </a:lnTo>
                  <a:close/>
                  <a:moveTo>
                    <a:pt x="998474" y="1726946"/>
                  </a:moveTo>
                  <a:lnTo>
                    <a:pt x="998474" y="1625346"/>
                  </a:lnTo>
                  <a:lnTo>
                    <a:pt x="998474" y="1726946"/>
                  </a:lnTo>
                  <a:close/>
                  <a:moveTo>
                    <a:pt x="998474" y="1489837"/>
                  </a:moveTo>
                  <a:lnTo>
                    <a:pt x="998474" y="1388237"/>
                  </a:lnTo>
                  <a:lnTo>
                    <a:pt x="998474" y="1489837"/>
                  </a:lnTo>
                  <a:close/>
                  <a:moveTo>
                    <a:pt x="964565" y="1253744"/>
                  </a:moveTo>
                  <a:lnTo>
                    <a:pt x="964565" y="1152144"/>
                  </a:lnTo>
                  <a:lnTo>
                    <a:pt x="998474" y="1152144"/>
                  </a:lnTo>
                  <a:lnTo>
                    <a:pt x="998474" y="1253744"/>
                  </a:lnTo>
                  <a:close/>
                  <a:moveTo>
                    <a:pt x="964565" y="1016635"/>
                  </a:moveTo>
                  <a:lnTo>
                    <a:pt x="964565" y="915035"/>
                  </a:lnTo>
                  <a:lnTo>
                    <a:pt x="998474" y="915035"/>
                  </a:lnTo>
                  <a:lnTo>
                    <a:pt x="998474" y="1016635"/>
                  </a:lnTo>
                  <a:close/>
                  <a:moveTo>
                    <a:pt x="964565" y="779653"/>
                  </a:moveTo>
                  <a:lnTo>
                    <a:pt x="964565" y="678053"/>
                  </a:lnTo>
                  <a:lnTo>
                    <a:pt x="998474" y="678053"/>
                  </a:lnTo>
                  <a:lnTo>
                    <a:pt x="998474" y="779653"/>
                  </a:lnTo>
                  <a:close/>
                  <a:moveTo>
                    <a:pt x="964565" y="542544"/>
                  </a:moveTo>
                  <a:lnTo>
                    <a:pt x="964565" y="440944"/>
                  </a:lnTo>
                  <a:lnTo>
                    <a:pt x="998474" y="440944"/>
                  </a:lnTo>
                  <a:lnTo>
                    <a:pt x="998474" y="542544"/>
                  </a:lnTo>
                  <a:close/>
                  <a:moveTo>
                    <a:pt x="964565" y="305435"/>
                  </a:moveTo>
                  <a:lnTo>
                    <a:pt x="964565" y="203835"/>
                  </a:lnTo>
                  <a:lnTo>
                    <a:pt x="998474" y="203835"/>
                  </a:lnTo>
                  <a:lnTo>
                    <a:pt x="998474" y="305435"/>
                  </a:lnTo>
                  <a:close/>
                  <a:moveTo>
                    <a:pt x="964565" y="68453"/>
                  </a:moveTo>
                  <a:lnTo>
                    <a:pt x="964565" y="16891"/>
                  </a:lnTo>
                  <a:cubicBezTo>
                    <a:pt x="964565" y="7620"/>
                    <a:pt x="972185" y="0"/>
                    <a:pt x="981456" y="0"/>
                  </a:cubicBezTo>
                  <a:lnTo>
                    <a:pt x="1083056" y="0"/>
                  </a:lnTo>
                  <a:lnTo>
                    <a:pt x="1083056" y="33909"/>
                  </a:lnTo>
                  <a:lnTo>
                    <a:pt x="981456" y="33909"/>
                  </a:lnTo>
                  <a:lnTo>
                    <a:pt x="981456" y="16891"/>
                  </a:lnTo>
                  <a:lnTo>
                    <a:pt x="998474" y="16891"/>
                  </a:lnTo>
                  <a:lnTo>
                    <a:pt x="998474" y="68453"/>
                  </a:lnTo>
                  <a:close/>
                </a:path>
              </a:pathLst>
            </a:custGeom>
            <a:solidFill>
              <a:srgbClr val="1E2D45"/>
            </a:solidFill>
          </p:spPr>
        </p:sp>
      </p:grpSp>
      <p:grpSp>
        <p:nvGrpSpPr>
          <p:cNvPr id="53" name="Group 53"/>
          <p:cNvGrpSpPr/>
          <p:nvPr/>
        </p:nvGrpSpPr>
        <p:grpSpPr>
          <a:xfrm rot="0">
            <a:off x="1188720" y="3255264"/>
            <a:ext cx="15910560" cy="3657600"/>
            <a:chOff x="0" y="0"/>
            <a:chExt cx="21214080" cy="4876800"/>
          </a:xfrm>
        </p:grpSpPr>
        <p:sp>
          <p:nvSpPr>
            <p:cNvPr id="54" name="Freeform 54"/>
            <p:cNvSpPr/>
            <p:nvPr/>
          </p:nvSpPr>
          <p:spPr>
            <a:xfrm>
              <a:off x="0" y="0"/>
              <a:ext cx="21214080" cy="4876800"/>
            </a:xfrm>
            <a:custGeom>
              <a:avLst/>
              <a:gdLst/>
              <a:ahLst/>
              <a:cxnLst/>
              <a:rect l="l" t="t" r="r" b="b"/>
              <a:pathLst>
                <a:path w="21214080" h="4876800">
                  <a:moveTo>
                    <a:pt x="0" y="0"/>
                  </a:moveTo>
                  <a:lnTo>
                    <a:pt x="21214080" y="0"/>
                  </a:lnTo>
                  <a:lnTo>
                    <a:pt x="21214080" y="4876800"/>
                  </a:lnTo>
                  <a:lnTo>
                    <a:pt x="0" y="4876800"/>
                  </a:lnTo>
                  <a:close/>
                </a:path>
              </a:pathLst>
            </a:custGeom>
            <a:blipFill>
              <a:blip r:embed="rId1">
                <a:alphaModFix amt="0"/>
              </a:blip>
              <a:stretch>
                <a:fillRect t="-34759" b="-34759"/>
              </a:stretch>
            </a:blipFill>
          </p:spPr>
        </p:sp>
        <p:sp>
          <p:nvSpPr>
            <p:cNvPr id="55" name="TextBox 55"/>
            <p:cNvSpPr txBox="1"/>
            <p:nvPr/>
          </p:nvSpPr>
          <p:spPr>
            <a:xfrm>
              <a:off x="0" y="-66675"/>
              <a:ext cx="21214080" cy="49434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4320"/>
                </a:lnSpc>
              </a:pPr>
              <a:r>
                <a:rPr lang="zh-CN" sz="3600" b="1">
                  <a:solidFill>
                    <a:srgbClr val="94A3B8"/>
                  </a:solidFill>
                  <a:latin typeface="Calibri (MS) Bold" panose="020F0702030404030204"/>
                  <a:ea typeface="宋体" panose="02010600030101010101" pitchFamily="2" charset="-122"/>
                  <a:cs typeface="Calibri (MS) Bold" panose="020F0702030404030204"/>
                  <a:sym typeface="Calibri (MS) Bold" panose="020F0702030404030204"/>
                  <a:hlinkClick r:id="rId2" tooltip="" action="ppaction://hlinkfile"/>
                </a:rPr>
                <a:t>▶</a:t>
              </a:r>
              <a:r>
                <a:rPr lang="en-US" altLang="zh-CN" sz="3600" b="1">
                  <a:solidFill>
                    <a:srgbClr val="94A3B8"/>
                  </a:solidFill>
                  <a:latin typeface="Calibri (MS) Bold" panose="020F0702030404030204"/>
                  <a:ea typeface="宋体" panose="02010600030101010101" pitchFamily="2" charset="-122"/>
                  <a:cs typeface="Calibri (MS) Bold" panose="020F0702030404030204"/>
                  <a:sym typeface="Calibri (MS) Bold" panose="020F0702030404030204"/>
                  <a:hlinkClick r:id="rId2" tooltip="" action="ppaction://hlinkfile"/>
                </a:rPr>
                <a:t>  Prototype Demo Video</a:t>
              </a:r>
              <a:endParaRPr lang="en-US" altLang="zh-CN" sz="3600" b="1">
                <a:solidFill>
                  <a:srgbClr val="94A3B8"/>
                </a:solidFill>
                <a:latin typeface="Calibri (MS) Bold" panose="020F0702030404030204"/>
                <a:ea typeface="宋体" panose="02010600030101010101" pitchFamily="2" charset="-122"/>
                <a:cs typeface="Calibri (MS) Bold" panose="020F0702030404030204"/>
                <a:sym typeface="Calibri (MS) Bold" panose="020F0702030404030204"/>
                <a:hlinkClick r:id="rId2" tooltip="" action="ppaction://hlinkfile"/>
              </a:endParaRPr>
            </a:p>
            <a:p>
              <a:pPr algn="ctr">
                <a:lnSpc>
                  <a:spcPts val="4320"/>
                </a:lnSpc>
              </a:pPr>
              <a:endParaRPr lang="en-US" altLang="zh-CN" sz="3600" b="1">
                <a:solidFill>
                  <a:srgbClr val="94A3B8"/>
                </a:solidFill>
                <a:latin typeface="Calibri (MS) Bold" panose="020F0702030404030204"/>
                <a:ea typeface="宋体" panose="02010600030101010101" pitchFamily="2" charset="-122"/>
                <a:cs typeface="Calibri (MS) Bold" panose="020F0702030404030204"/>
                <a:sym typeface="Calibri (MS) Bold" panose="020F0702030404030204"/>
              </a:endParaRPr>
            </a:p>
          </p:txBody>
        </p:sp>
      </p:grpSp>
      <p:grpSp>
        <p:nvGrpSpPr>
          <p:cNvPr id="56" name="Group 56"/>
          <p:cNvGrpSpPr/>
          <p:nvPr/>
        </p:nvGrpSpPr>
        <p:grpSpPr>
          <a:xfrm rot="0">
            <a:off x="1188720" y="7717536"/>
            <a:ext cx="15910560" cy="640080"/>
            <a:chOff x="0" y="0"/>
            <a:chExt cx="21214080" cy="853440"/>
          </a:xfrm>
        </p:grpSpPr>
        <p:sp>
          <p:nvSpPr>
            <p:cNvPr id="57" name="Freeform 57"/>
            <p:cNvSpPr/>
            <p:nvPr/>
          </p:nvSpPr>
          <p:spPr>
            <a:xfrm>
              <a:off x="0" y="0"/>
              <a:ext cx="21214080" cy="853440"/>
            </a:xfrm>
            <a:custGeom>
              <a:avLst/>
              <a:gdLst/>
              <a:ahLst/>
              <a:cxnLst/>
              <a:rect l="l" t="t" r="r" b="b"/>
              <a:pathLst>
                <a:path w="21214080" h="853440">
                  <a:moveTo>
                    <a:pt x="0" y="0"/>
                  </a:moveTo>
                  <a:lnTo>
                    <a:pt x="21214080" y="0"/>
                  </a:lnTo>
                  <a:lnTo>
                    <a:pt x="212140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1">
                <a:alphaModFix amt="0"/>
              </a:blip>
              <a:stretch>
                <a:fillRect t="-434342" b="-434342"/>
              </a:stretch>
            </a:blipFill>
          </p:spPr>
        </p:sp>
        <p:sp>
          <p:nvSpPr>
            <p:cNvPr id="58" name="TextBox 58"/>
            <p:cNvSpPr txBox="1"/>
            <p:nvPr/>
          </p:nvSpPr>
          <p:spPr>
            <a:xfrm>
              <a:off x="0" y="-28575"/>
              <a:ext cx="21214080" cy="88201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94A3B8"/>
                  </a:solidFill>
                  <a:latin typeface="Calibri (MS)" panose="020F0502020204030204"/>
                  <a:ea typeface="Calibri (MS)" panose="020F0502020204030204"/>
                  <a:cs typeface="Calibri (MS)" panose="020F0502020204030204"/>
                  <a:sym typeface="Calibri (MS)" panose="020F0502020204030204"/>
                </a:rPr>
                <a:t>diogopinhel.github.io/DSD2026_TeamM1/2026/04/29/M1_APP_Prototype_Introduction.html</a:t>
              </a:r>
              <a:endParaRPr lang="en-US" sz="1600">
                <a:solidFill>
                  <a:srgbClr val="94A3B8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822960" y="402336"/>
            <a:ext cx="16642080" cy="402336"/>
            <a:chOff x="0" y="0"/>
            <a:chExt cx="22189440" cy="53644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2189439" cy="536448"/>
            </a:xfrm>
            <a:custGeom>
              <a:avLst/>
              <a:gdLst/>
              <a:ahLst/>
              <a:cxnLst/>
              <a:rect l="l" t="t" r="r" b="b"/>
              <a:pathLst>
                <a:path w="22189439" h="536448">
                  <a:moveTo>
                    <a:pt x="0" y="0"/>
                  </a:moveTo>
                  <a:lnTo>
                    <a:pt x="22189439" y="0"/>
                  </a:lnTo>
                  <a:lnTo>
                    <a:pt x="22189439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1">
                <a:alphaModFix amt="0"/>
              </a:blip>
              <a:stretch>
                <a:fillRect t="-755972" b="-755972"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2189440" cy="57454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800"/>
                </a:lnSpc>
              </a:pPr>
              <a:r>
                <a:rPr lang="en-US" sz="1500" b="1" spc="600">
                  <a:solidFill>
                    <a:srgbClr val="34D399"/>
                  </a:solidFill>
                  <a:latin typeface="Calibri (MS) Bold" panose="020F0702030404030204"/>
                  <a:ea typeface="Calibri (MS) Bold" panose="020F0702030404030204"/>
                  <a:cs typeface="Calibri (MS) Bold" panose="020F0702030404030204"/>
                  <a:sym typeface="Calibri (MS) Bold" panose="020F0702030404030204"/>
                </a:rPr>
                <a:t>SYSTEM ARCHITECTURE</a:t>
              </a:r>
              <a:endParaRPr lang="en-US" sz="1500" b="1" spc="600">
                <a:solidFill>
                  <a:srgbClr val="34D399"/>
                </a:solidFill>
                <a:latin typeface="Calibri (MS) Bold" panose="020F0702030404030204"/>
                <a:ea typeface="Calibri (MS) Bold" panose="020F0702030404030204"/>
                <a:cs typeface="Calibri (MS) Bold" panose="020F0702030404030204"/>
                <a:sym typeface="Calibri (MS) Bold" panose="020F0702030404030204"/>
              </a:endParaRPr>
            </a:p>
          </p:txBody>
        </p:sp>
      </p:grpSp>
      <p:grpSp>
        <p:nvGrpSpPr>
          <p:cNvPr id="5" name="Group 5"/>
          <p:cNvGrpSpPr/>
          <p:nvPr/>
        </p:nvGrpSpPr>
        <p:grpSpPr>
          <a:xfrm rot="0">
            <a:off x="822960" y="804672"/>
            <a:ext cx="16642080" cy="1005840"/>
            <a:chOff x="0" y="0"/>
            <a:chExt cx="22189440" cy="134112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2189439" cy="1341120"/>
            </a:xfrm>
            <a:custGeom>
              <a:avLst/>
              <a:gdLst/>
              <a:ahLst/>
              <a:cxnLst/>
              <a:rect l="l" t="t" r="r" b="b"/>
              <a:pathLst>
                <a:path w="22189439" h="1341120">
                  <a:moveTo>
                    <a:pt x="0" y="0"/>
                  </a:moveTo>
                  <a:lnTo>
                    <a:pt x="22189439" y="0"/>
                  </a:lnTo>
                  <a:lnTo>
                    <a:pt x="22189439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1">
                <a:alphaModFix amt="0"/>
              </a:blip>
              <a:stretch>
                <a:fillRect t="-272388" b="-272388"/>
              </a:stretch>
            </a:blipFill>
          </p:spPr>
        </p:sp>
        <p:sp>
          <p:nvSpPr>
            <p:cNvPr id="7" name="TextBox 7"/>
            <p:cNvSpPr txBox="1"/>
            <p:nvPr/>
          </p:nvSpPr>
          <p:spPr>
            <a:xfrm>
              <a:off x="0" y="-85725"/>
              <a:ext cx="22189440" cy="14268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760"/>
                </a:lnSpc>
              </a:pPr>
              <a:r>
                <a:rPr lang="en-US" sz="4800" b="1">
                  <a:solidFill>
                    <a:srgbClr val="E2E8F0"/>
                  </a:solidFill>
                  <a:latin typeface="Calibri (MS) Bold" panose="020F0702030404030204"/>
                  <a:ea typeface="Calibri (MS) Bold" panose="020F0702030404030204"/>
                  <a:cs typeface="Calibri (MS) Bold" panose="020F0702030404030204"/>
                  <a:sym typeface="Calibri (MS) Bold" panose="020F0702030404030204"/>
                </a:rPr>
                <a:t>Internal Data Flow — M1 Modules</a:t>
              </a:r>
              <a:endParaRPr lang="en-US" sz="4800" b="1">
                <a:solidFill>
                  <a:srgbClr val="E2E8F0"/>
                </a:solidFill>
                <a:latin typeface="Calibri (MS) Bold" panose="020F0702030404030204"/>
                <a:ea typeface="Calibri (MS) Bold" panose="020F0702030404030204"/>
                <a:cs typeface="Calibri (MS) Bold" panose="020F0702030404030204"/>
                <a:sym typeface="Calibri (MS) Bold" panose="020F0702030404030204"/>
              </a:endParaRPr>
            </a:p>
          </p:txBody>
        </p:sp>
      </p:grpSp>
      <p:grpSp>
        <p:nvGrpSpPr>
          <p:cNvPr id="8" name="Group 8"/>
          <p:cNvGrpSpPr/>
          <p:nvPr/>
        </p:nvGrpSpPr>
        <p:grpSpPr>
          <a:xfrm rot="0">
            <a:off x="810263" y="1834391"/>
            <a:ext cx="16667483" cy="71123"/>
            <a:chOff x="0" y="0"/>
            <a:chExt cx="22223311" cy="94831"/>
          </a:xfrm>
        </p:grpSpPr>
        <p:sp>
          <p:nvSpPr>
            <p:cNvPr id="9" name="Freeform 9"/>
            <p:cNvSpPr/>
            <p:nvPr/>
          </p:nvSpPr>
          <p:spPr>
            <a:xfrm>
              <a:off x="16891" y="16891"/>
              <a:ext cx="22189439" cy="60960"/>
            </a:xfrm>
            <a:custGeom>
              <a:avLst/>
              <a:gdLst/>
              <a:ahLst/>
              <a:cxnLst/>
              <a:rect l="l" t="t" r="r" b="b"/>
              <a:pathLst>
                <a:path w="22189439" h="60960">
                  <a:moveTo>
                    <a:pt x="0" y="0"/>
                  </a:moveTo>
                  <a:lnTo>
                    <a:pt x="22189439" y="0"/>
                  </a:lnTo>
                  <a:lnTo>
                    <a:pt x="22189439" y="60960"/>
                  </a:lnTo>
                  <a:lnTo>
                    <a:pt x="0" y="60960"/>
                  </a:lnTo>
                  <a:close/>
                </a:path>
              </a:pathLst>
            </a:custGeom>
            <a:solidFill>
              <a:srgbClr val="1E2D45"/>
            </a:solidFill>
          </p:spPr>
        </p:sp>
        <p:sp>
          <p:nvSpPr>
            <p:cNvPr id="10" name="Freeform 10"/>
            <p:cNvSpPr/>
            <p:nvPr/>
          </p:nvSpPr>
          <p:spPr>
            <a:xfrm>
              <a:off x="0" y="0"/>
              <a:ext cx="22223222" cy="94744"/>
            </a:xfrm>
            <a:custGeom>
              <a:avLst/>
              <a:gdLst/>
              <a:ahLst/>
              <a:cxnLst/>
              <a:rect l="l" t="t" r="r" b="b"/>
              <a:pathLst>
                <a:path w="22223222" h="94744">
                  <a:moveTo>
                    <a:pt x="16891" y="0"/>
                  </a:moveTo>
                  <a:lnTo>
                    <a:pt x="22206330" y="0"/>
                  </a:lnTo>
                  <a:cubicBezTo>
                    <a:pt x="22215729" y="0"/>
                    <a:pt x="22223222" y="7620"/>
                    <a:pt x="22223222" y="16891"/>
                  </a:cubicBezTo>
                  <a:lnTo>
                    <a:pt x="22223222" y="77851"/>
                  </a:lnTo>
                  <a:cubicBezTo>
                    <a:pt x="22223222" y="87249"/>
                    <a:pt x="22215602" y="94742"/>
                    <a:pt x="22206330" y="94742"/>
                  </a:cubicBezTo>
                  <a:lnTo>
                    <a:pt x="16891" y="94742"/>
                  </a:lnTo>
                  <a:cubicBezTo>
                    <a:pt x="7620" y="94869"/>
                    <a:pt x="0" y="87249"/>
                    <a:pt x="0" y="778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77851"/>
                  </a:lnTo>
                  <a:lnTo>
                    <a:pt x="16891" y="77851"/>
                  </a:lnTo>
                  <a:lnTo>
                    <a:pt x="16891" y="60960"/>
                  </a:lnTo>
                  <a:lnTo>
                    <a:pt x="22206330" y="60960"/>
                  </a:lnTo>
                  <a:lnTo>
                    <a:pt x="22206330" y="77851"/>
                  </a:lnTo>
                  <a:lnTo>
                    <a:pt x="22189439" y="77851"/>
                  </a:lnTo>
                  <a:lnTo>
                    <a:pt x="22189439" y="16891"/>
                  </a:lnTo>
                  <a:lnTo>
                    <a:pt x="22206330" y="16891"/>
                  </a:lnTo>
                  <a:lnTo>
                    <a:pt x="2220633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E2D45"/>
            </a:solidFill>
          </p:spPr>
        </p:sp>
      </p:grpSp>
      <p:grpSp>
        <p:nvGrpSpPr>
          <p:cNvPr id="11" name="Group 11"/>
          <p:cNvGrpSpPr/>
          <p:nvPr/>
        </p:nvGrpSpPr>
        <p:grpSpPr>
          <a:xfrm rot="0">
            <a:off x="810263" y="2090423"/>
            <a:ext cx="11800256" cy="7323049"/>
            <a:chOff x="0" y="0"/>
            <a:chExt cx="15733674" cy="9764065"/>
          </a:xfrm>
        </p:grpSpPr>
        <p:sp>
          <p:nvSpPr>
            <p:cNvPr id="12" name="Freeform 12"/>
            <p:cNvSpPr/>
            <p:nvPr/>
          </p:nvSpPr>
          <p:spPr>
            <a:xfrm>
              <a:off x="16891" y="16891"/>
              <a:ext cx="15699867" cy="9730232"/>
            </a:xfrm>
            <a:custGeom>
              <a:avLst/>
              <a:gdLst/>
              <a:ahLst/>
              <a:cxnLst/>
              <a:rect l="l" t="t" r="r" b="b"/>
              <a:pathLst>
                <a:path w="15699867" h="9730232">
                  <a:moveTo>
                    <a:pt x="0" y="0"/>
                  </a:moveTo>
                  <a:lnTo>
                    <a:pt x="15699867" y="0"/>
                  </a:lnTo>
                  <a:lnTo>
                    <a:pt x="15699867" y="9730232"/>
                  </a:lnTo>
                  <a:lnTo>
                    <a:pt x="0" y="9730232"/>
                  </a:lnTo>
                  <a:close/>
                </a:path>
              </a:pathLst>
            </a:custGeom>
            <a:solidFill>
              <a:srgbClr val="060912"/>
            </a:solidFill>
          </p:spPr>
        </p:sp>
        <p:sp>
          <p:nvSpPr>
            <p:cNvPr id="13" name="Freeform 13"/>
            <p:cNvSpPr/>
            <p:nvPr/>
          </p:nvSpPr>
          <p:spPr>
            <a:xfrm>
              <a:off x="0" y="0"/>
              <a:ext cx="15733649" cy="9764014"/>
            </a:xfrm>
            <a:custGeom>
              <a:avLst/>
              <a:gdLst/>
              <a:ahLst/>
              <a:cxnLst/>
              <a:rect l="l" t="t" r="r" b="b"/>
              <a:pathLst>
                <a:path w="15733649" h="9764014">
                  <a:moveTo>
                    <a:pt x="16891" y="0"/>
                  </a:moveTo>
                  <a:lnTo>
                    <a:pt x="15716758" y="0"/>
                  </a:lnTo>
                  <a:cubicBezTo>
                    <a:pt x="15726156" y="0"/>
                    <a:pt x="15733649" y="7620"/>
                    <a:pt x="15733649" y="16891"/>
                  </a:cubicBezTo>
                  <a:lnTo>
                    <a:pt x="15733649" y="9747123"/>
                  </a:lnTo>
                  <a:cubicBezTo>
                    <a:pt x="15733649" y="9756521"/>
                    <a:pt x="15726029" y="9764014"/>
                    <a:pt x="15716758" y="9764014"/>
                  </a:cubicBezTo>
                  <a:lnTo>
                    <a:pt x="16891" y="9764014"/>
                  </a:lnTo>
                  <a:cubicBezTo>
                    <a:pt x="7493" y="9764014"/>
                    <a:pt x="0" y="9756394"/>
                    <a:pt x="0" y="974712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747123"/>
                  </a:lnTo>
                  <a:lnTo>
                    <a:pt x="16891" y="9747123"/>
                  </a:lnTo>
                  <a:lnTo>
                    <a:pt x="16891" y="9730232"/>
                  </a:lnTo>
                  <a:lnTo>
                    <a:pt x="15716758" y="9730232"/>
                  </a:lnTo>
                  <a:lnTo>
                    <a:pt x="15716758" y="9747123"/>
                  </a:lnTo>
                  <a:lnTo>
                    <a:pt x="15699868" y="9747123"/>
                  </a:lnTo>
                  <a:lnTo>
                    <a:pt x="15699868" y="16891"/>
                  </a:lnTo>
                  <a:lnTo>
                    <a:pt x="15716758" y="16891"/>
                  </a:lnTo>
                  <a:lnTo>
                    <a:pt x="15716758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E2D45"/>
            </a:solidFill>
          </p:spPr>
        </p:sp>
      </p:grpSp>
      <p:grpSp>
        <p:nvGrpSpPr>
          <p:cNvPr id="14" name="Group 14"/>
          <p:cNvGrpSpPr/>
          <p:nvPr/>
        </p:nvGrpSpPr>
        <p:grpSpPr>
          <a:xfrm rot="0">
            <a:off x="810263" y="2090423"/>
            <a:ext cx="11800256" cy="7323049"/>
            <a:chOff x="0" y="0"/>
            <a:chExt cx="15733674" cy="9764065"/>
          </a:xfrm>
        </p:grpSpPr>
        <p:sp>
          <p:nvSpPr>
            <p:cNvPr id="15" name="Freeform 15"/>
            <p:cNvSpPr/>
            <p:nvPr/>
          </p:nvSpPr>
          <p:spPr>
            <a:xfrm>
              <a:off x="16891" y="16891"/>
              <a:ext cx="15699867" cy="9730232"/>
            </a:xfrm>
            <a:custGeom>
              <a:avLst/>
              <a:gdLst/>
              <a:ahLst/>
              <a:cxnLst/>
              <a:rect l="l" t="t" r="r" b="b"/>
              <a:pathLst>
                <a:path w="15699867" h="9730232">
                  <a:moveTo>
                    <a:pt x="0" y="0"/>
                  </a:moveTo>
                  <a:lnTo>
                    <a:pt x="15699867" y="0"/>
                  </a:lnTo>
                  <a:lnTo>
                    <a:pt x="15699867" y="9730232"/>
                  </a:lnTo>
                  <a:lnTo>
                    <a:pt x="0" y="9730232"/>
                  </a:lnTo>
                  <a:close/>
                </a:path>
              </a:pathLst>
            </a:custGeom>
            <a:solidFill>
              <a:srgbClr val="1A2236"/>
            </a:solidFill>
          </p:spPr>
        </p:sp>
        <p:sp>
          <p:nvSpPr>
            <p:cNvPr id="16" name="Freeform 16"/>
            <p:cNvSpPr/>
            <p:nvPr/>
          </p:nvSpPr>
          <p:spPr>
            <a:xfrm>
              <a:off x="-1360297" y="0"/>
              <a:ext cx="17094073" cy="9799574"/>
            </a:xfrm>
            <a:custGeom>
              <a:avLst/>
              <a:gdLst/>
              <a:ahLst/>
              <a:cxnLst/>
              <a:rect l="l" t="t" r="r" b="b"/>
              <a:pathLst>
                <a:path w="17094073" h="9799574">
                  <a:moveTo>
                    <a:pt x="1614297" y="0"/>
                  </a:moveTo>
                  <a:lnTo>
                    <a:pt x="1715897" y="0"/>
                  </a:lnTo>
                  <a:lnTo>
                    <a:pt x="1715897" y="33909"/>
                  </a:lnTo>
                  <a:lnTo>
                    <a:pt x="1614297" y="33909"/>
                  </a:lnTo>
                  <a:close/>
                  <a:moveTo>
                    <a:pt x="1851406" y="0"/>
                  </a:moveTo>
                  <a:lnTo>
                    <a:pt x="1953006" y="0"/>
                  </a:lnTo>
                  <a:lnTo>
                    <a:pt x="1953006" y="33909"/>
                  </a:lnTo>
                  <a:lnTo>
                    <a:pt x="1851406" y="33909"/>
                  </a:lnTo>
                  <a:close/>
                  <a:moveTo>
                    <a:pt x="2088388" y="0"/>
                  </a:moveTo>
                  <a:lnTo>
                    <a:pt x="2189988" y="0"/>
                  </a:lnTo>
                  <a:lnTo>
                    <a:pt x="2189988" y="33909"/>
                  </a:lnTo>
                  <a:lnTo>
                    <a:pt x="2088388" y="33909"/>
                  </a:lnTo>
                  <a:close/>
                  <a:moveTo>
                    <a:pt x="2325497" y="0"/>
                  </a:moveTo>
                  <a:lnTo>
                    <a:pt x="2427097" y="0"/>
                  </a:lnTo>
                  <a:lnTo>
                    <a:pt x="2427097" y="33909"/>
                  </a:lnTo>
                  <a:lnTo>
                    <a:pt x="2325497" y="33909"/>
                  </a:lnTo>
                  <a:close/>
                  <a:moveTo>
                    <a:pt x="2562606" y="0"/>
                  </a:moveTo>
                  <a:lnTo>
                    <a:pt x="2664206" y="0"/>
                  </a:lnTo>
                  <a:lnTo>
                    <a:pt x="2664206" y="33909"/>
                  </a:lnTo>
                  <a:lnTo>
                    <a:pt x="2562606" y="33909"/>
                  </a:lnTo>
                  <a:close/>
                  <a:moveTo>
                    <a:pt x="2799715" y="33909"/>
                  </a:moveTo>
                  <a:lnTo>
                    <a:pt x="2901315" y="33909"/>
                  </a:lnTo>
                  <a:lnTo>
                    <a:pt x="2799715" y="33909"/>
                  </a:lnTo>
                  <a:close/>
                  <a:moveTo>
                    <a:pt x="3036697" y="0"/>
                  </a:moveTo>
                  <a:lnTo>
                    <a:pt x="3138297" y="0"/>
                  </a:lnTo>
                  <a:lnTo>
                    <a:pt x="3138297" y="33909"/>
                  </a:lnTo>
                  <a:lnTo>
                    <a:pt x="3036697" y="33909"/>
                  </a:lnTo>
                  <a:close/>
                  <a:moveTo>
                    <a:pt x="3273806" y="33909"/>
                  </a:moveTo>
                  <a:lnTo>
                    <a:pt x="3375406" y="33909"/>
                  </a:lnTo>
                  <a:lnTo>
                    <a:pt x="3273806" y="33909"/>
                  </a:lnTo>
                  <a:close/>
                  <a:moveTo>
                    <a:pt x="3510915" y="33909"/>
                  </a:moveTo>
                  <a:lnTo>
                    <a:pt x="3612515" y="33909"/>
                  </a:lnTo>
                  <a:lnTo>
                    <a:pt x="3510915" y="33909"/>
                  </a:lnTo>
                  <a:close/>
                  <a:moveTo>
                    <a:pt x="3747897" y="0"/>
                  </a:moveTo>
                  <a:lnTo>
                    <a:pt x="3849497" y="0"/>
                  </a:lnTo>
                  <a:lnTo>
                    <a:pt x="3849497" y="33909"/>
                  </a:lnTo>
                  <a:lnTo>
                    <a:pt x="3747897" y="33909"/>
                  </a:lnTo>
                  <a:close/>
                  <a:moveTo>
                    <a:pt x="3985006" y="33909"/>
                  </a:moveTo>
                  <a:lnTo>
                    <a:pt x="4086606" y="33909"/>
                  </a:lnTo>
                  <a:lnTo>
                    <a:pt x="3985006" y="33909"/>
                  </a:lnTo>
                  <a:close/>
                  <a:moveTo>
                    <a:pt x="4222115" y="33909"/>
                  </a:moveTo>
                  <a:lnTo>
                    <a:pt x="4323715" y="33909"/>
                  </a:lnTo>
                  <a:lnTo>
                    <a:pt x="4222115" y="33909"/>
                  </a:lnTo>
                  <a:close/>
                  <a:moveTo>
                    <a:pt x="4459097" y="0"/>
                  </a:moveTo>
                  <a:lnTo>
                    <a:pt x="4560697" y="0"/>
                  </a:lnTo>
                  <a:lnTo>
                    <a:pt x="4560697" y="33909"/>
                  </a:lnTo>
                  <a:lnTo>
                    <a:pt x="4459097" y="33909"/>
                  </a:lnTo>
                  <a:close/>
                  <a:moveTo>
                    <a:pt x="4696206" y="33909"/>
                  </a:moveTo>
                  <a:lnTo>
                    <a:pt x="4797806" y="33909"/>
                  </a:lnTo>
                  <a:lnTo>
                    <a:pt x="4696206" y="33909"/>
                  </a:lnTo>
                  <a:close/>
                  <a:moveTo>
                    <a:pt x="4933315" y="33909"/>
                  </a:moveTo>
                  <a:lnTo>
                    <a:pt x="5034915" y="33909"/>
                  </a:lnTo>
                  <a:lnTo>
                    <a:pt x="4933315" y="33909"/>
                  </a:lnTo>
                  <a:close/>
                  <a:moveTo>
                    <a:pt x="5170297" y="0"/>
                  </a:moveTo>
                  <a:lnTo>
                    <a:pt x="5271897" y="0"/>
                  </a:lnTo>
                  <a:lnTo>
                    <a:pt x="5271897" y="33909"/>
                  </a:lnTo>
                  <a:lnTo>
                    <a:pt x="5170297" y="33909"/>
                  </a:lnTo>
                  <a:close/>
                  <a:moveTo>
                    <a:pt x="5407406" y="33909"/>
                  </a:moveTo>
                  <a:lnTo>
                    <a:pt x="5509006" y="33909"/>
                  </a:lnTo>
                  <a:lnTo>
                    <a:pt x="5407406" y="33909"/>
                  </a:lnTo>
                  <a:close/>
                  <a:moveTo>
                    <a:pt x="5644515" y="33909"/>
                  </a:moveTo>
                  <a:lnTo>
                    <a:pt x="5746115" y="33909"/>
                  </a:lnTo>
                  <a:lnTo>
                    <a:pt x="5644515" y="33909"/>
                  </a:lnTo>
                  <a:close/>
                  <a:moveTo>
                    <a:pt x="5881497" y="0"/>
                  </a:moveTo>
                  <a:lnTo>
                    <a:pt x="5983097" y="0"/>
                  </a:lnTo>
                  <a:lnTo>
                    <a:pt x="5983097" y="33909"/>
                  </a:lnTo>
                  <a:lnTo>
                    <a:pt x="5881497" y="33909"/>
                  </a:lnTo>
                  <a:close/>
                  <a:moveTo>
                    <a:pt x="6118606" y="33909"/>
                  </a:moveTo>
                  <a:lnTo>
                    <a:pt x="6220206" y="33909"/>
                  </a:lnTo>
                  <a:lnTo>
                    <a:pt x="6118606" y="33909"/>
                  </a:lnTo>
                  <a:close/>
                  <a:moveTo>
                    <a:pt x="6355715" y="33909"/>
                  </a:moveTo>
                  <a:lnTo>
                    <a:pt x="6457315" y="33909"/>
                  </a:lnTo>
                  <a:lnTo>
                    <a:pt x="6355715" y="33909"/>
                  </a:lnTo>
                  <a:close/>
                  <a:moveTo>
                    <a:pt x="6592697" y="0"/>
                  </a:moveTo>
                  <a:lnTo>
                    <a:pt x="6694297" y="0"/>
                  </a:lnTo>
                  <a:lnTo>
                    <a:pt x="6694297" y="33909"/>
                  </a:lnTo>
                  <a:lnTo>
                    <a:pt x="6592697" y="33909"/>
                  </a:lnTo>
                  <a:close/>
                  <a:moveTo>
                    <a:pt x="6829806" y="33909"/>
                  </a:moveTo>
                  <a:lnTo>
                    <a:pt x="6931406" y="33909"/>
                  </a:lnTo>
                  <a:lnTo>
                    <a:pt x="6829806" y="33909"/>
                  </a:lnTo>
                  <a:close/>
                  <a:moveTo>
                    <a:pt x="7066915" y="33909"/>
                  </a:moveTo>
                  <a:lnTo>
                    <a:pt x="7168515" y="33909"/>
                  </a:lnTo>
                  <a:lnTo>
                    <a:pt x="7066915" y="33909"/>
                  </a:lnTo>
                  <a:close/>
                  <a:moveTo>
                    <a:pt x="7303897" y="0"/>
                  </a:moveTo>
                  <a:lnTo>
                    <a:pt x="7405497" y="0"/>
                  </a:lnTo>
                  <a:lnTo>
                    <a:pt x="7405497" y="33909"/>
                  </a:lnTo>
                  <a:lnTo>
                    <a:pt x="7303897" y="33909"/>
                  </a:lnTo>
                  <a:close/>
                  <a:moveTo>
                    <a:pt x="7541006" y="33909"/>
                  </a:moveTo>
                  <a:lnTo>
                    <a:pt x="7642606" y="33909"/>
                  </a:lnTo>
                  <a:lnTo>
                    <a:pt x="7541006" y="33909"/>
                  </a:lnTo>
                  <a:close/>
                  <a:moveTo>
                    <a:pt x="7778115" y="33909"/>
                  </a:moveTo>
                  <a:lnTo>
                    <a:pt x="7879715" y="33909"/>
                  </a:lnTo>
                  <a:lnTo>
                    <a:pt x="7778115" y="33909"/>
                  </a:lnTo>
                  <a:close/>
                  <a:moveTo>
                    <a:pt x="8015097" y="0"/>
                  </a:moveTo>
                  <a:lnTo>
                    <a:pt x="8116697" y="0"/>
                  </a:lnTo>
                  <a:lnTo>
                    <a:pt x="8116697" y="33909"/>
                  </a:lnTo>
                  <a:lnTo>
                    <a:pt x="8015097" y="33909"/>
                  </a:lnTo>
                  <a:close/>
                  <a:moveTo>
                    <a:pt x="8252206" y="33909"/>
                  </a:moveTo>
                  <a:lnTo>
                    <a:pt x="8353806" y="33909"/>
                  </a:lnTo>
                  <a:lnTo>
                    <a:pt x="8252206" y="33909"/>
                  </a:lnTo>
                  <a:close/>
                  <a:moveTo>
                    <a:pt x="8489315" y="33909"/>
                  </a:moveTo>
                  <a:lnTo>
                    <a:pt x="8590915" y="33909"/>
                  </a:lnTo>
                  <a:lnTo>
                    <a:pt x="8489315" y="33909"/>
                  </a:lnTo>
                  <a:close/>
                  <a:moveTo>
                    <a:pt x="8726297" y="0"/>
                  </a:moveTo>
                  <a:lnTo>
                    <a:pt x="8827897" y="0"/>
                  </a:lnTo>
                  <a:lnTo>
                    <a:pt x="8827897" y="33909"/>
                  </a:lnTo>
                  <a:lnTo>
                    <a:pt x="8726297" y="33909"/>
                  </a:lnTo>
                  <a:close/>
                  <a:moveTo>
                    <a:pt x="8963406" y="33909"/>
                  </a:moveTo>
                  <a:lnTo>
                    <a:pt x="9065006" y="33909"/>
                  </a:lnTo>
                  <a:lnTo>
                    <a:pt x="8963406" y="33909"/>
                  </a:lnTo>
                  <a:close/>
                  <a:moveTo>
                    <a:pt x="9200515" y="33909"/>
                  </a:moveTo>
                  <a:lnTo>
                    <a:pt x="9302115" y="33909"/>
                  </a:lnTo>
                  <a:lnTo>
                    <a:pt x="9200515" y="33909"/>
                  </a:lnTo>
                  <a:close/>
                  <a:moveTo>
                    <a:pt x="9437497" y="0"/>
                  </a:moveTo>
                  <a:lnTo>
                    <a:pt x="9539097" y="0"/>
                  </a:lnTo>
                  <a:lnTo>
                    <a:pt x="9539097" y="33909"/>
                  </a:lnTo>
                  <a:lnTo>
                    <a:pt x="9437497" y="33909"/>
                  </a:lnTo>
                  <a:close/>
                  <a:moveTo>
                    <a:pt x="9674606" y="33909"/>
                  </a:moveTo>
                  <a:lnTo>
                    <a:pt x="9776206" y="33909"/>
                  </a:lnTo>
                  <a:lnTo>
                    <a:pt x="9674606" y="33909"/>
                  </a:lnTo>
                  <a:close/>
                  <a:moveTo>
                    <a:pt x="9911715" y="33909"/>
                  </a:moveTo>
                  <a:lnTo>
                    <a:pt x="10013315" y="33909"/>
                  </a:lnTo>
                  <a:lnTo>
                    <a:pt x="9911715" y="33909"/>
                  </a:lnTo>
                  <a:close/>
                  <a:moveTo>
                    <a:pt x="10148697" y="0"/>
                  </a:moveTo>
                  <a:lnTo>
                    <a:pt x="10250297" y="0"/>
                  </a:lnTo>
                  <a:lnTo>
                    <a:pt x="10250297" y="33909"/>
                  </a:lnTo>
                  <a:lnTo>
                    <a:pt x="10148697" y="33909"/>
                  </a:lnTo>
                  <a:close/>
                  <a:moveTo>
                    <a:pt x="10385806" y="33909"/>
                  </a:moveTo>
                  <a:lnTo>
                    <a:pt x="10487406" y="33909"/>
                  </a:lnTo>
                  <a:lnTo>
                    <a:pt x="10385806" y="33909"/>
                  </a:lnTo>
                  <a:close/>
                  <a:moveTo>
                    <a:pt x="10622915" y="33909"/>
                  </a:moveTo>
                  <a:lnTo>
                    <a:pt x="10724515" y="33909"/>
                  </a:lnTo>
                  <a:lnTo>
                    <a:pt x="10622915" y="33909"/>
                  </a:lnTo>
                  <a:close/>
                  <a:moveTo>
                    <a:pt x="10859897" y="0"/>
                  </a:moveTo>
                  <a:lnTo>
                    <a:pt x="10961497" y="0"/>
                  </a:lnTo>
                  <a:lnTo>
                    <a:pt x="10961497" y="33909"/>
                  </a:lnTo>
                  <a:lnTo>
                    <a:pt x="10859897" y="33909"/>
                  </a:lnTo>
                  <a:close/>
                  <a:moveTo>
                    <a:pt x="11097006" y="33909"/>
                  </a:moveTo>
                  <a:lnTo>
                    <a:pt x="11198606" y="33909"/>
                  </a:lnTo>
                  <a:lnTo>
                    <a:pt x="11097006" y="33909"/>
                  </a:lnTo>
                  <a:close/>
                  <a:moveTo>
                    <a:pt x="11334115" y="33909"/>
                  </a:moveTo>
                  <a:lnTo>
                    <a:pt x="11435715" y="33909"/>
                  </a:lnTo>
                  <a:lnTo>
                    <a:pt x="11334115" y="33909"/>
                  </a:lnTo>
                  <a:close/>
                  <a:moveTo>
                    <a:pt x="11571097" y="0"/>
                  </a:moveTo>
                  <a:lnTo>
                    <a:pt x="11672697" y="0"/>
                  </a:lnTo>
                  <a:lnTo>
                    <a:pt x="11672697" y="33909"/>
                  </a:lnTo>
                  <a:lnTo>
                    <a:pt x="11571097" y="33909"/>
                  </a:lnTo>
                  <a:close/>
                  <a:moveTo>
                    <a:pt x="11808206" y="33909"/>
                  </a:moveTo>
                  <a:lnTo>
                    <a:pt x="11909806" y="33909"/>
                  </a:lnTo>
                  <a:lnTo>
                    <a:pt x="11808206" y="33909"/>
                  </a:lnTo>
                  <a:close/>
                  <a:moveTo>
                    <a:pt x="12045315" y="33909"/>
                  </a:moveTo>
                  <a:lnTo>
                    <a:pt x="12146915" y="33909"/>
                  </a:lnTo>
                  <a:lnTo>
                    <a:pt x="12045315" y="33909"/>
                  </a:lnTo>
                  <a:close/>
                  <a:moveTo>
                    <a:pt x="12282297" y="0"/>
                  </a:moveTo>
                  <a:lnTo>
                    <a:pt x="12383897" y="0"/>
                  </a:lnTo>
                  <a:lnTo>
                    <a:pt x="12383897" y="33909"/>
                  </a:lnTo>
                  <a:lnTo>
                    <a:pt x="12282297" y="33909"/>
                  </a:lnTo>
                  <a:close/>
                  <a:moveTo>
                    <a:pt x="12519406" y="33909"/>
                  </a:moveTo>
                  <a:lnTo>
                    <a:pt x="12621006" y="33909"/>
                  </a:lnTo>
                  <a:lnTo>
                    <a:pt x="12519406" y="33909"/>
                  </a:lnTo>
                  <a:close/>
                  <a:moveTo>
                    <a:pt x="12756515" y="33909"/>
                  </a:moveTo>
                  <a:lnTo>
                    <a:pt x="12858115" y="33909"/>
                  </a:lnTo>
                  <a:lnTo>
                    <a:pt x="12756515" y="33909"/>
                  </a:lnTo>
                  <a:close/>
                  <a:moveTo>
                    <a:pt x="12993497" y="0"/>
                  </a:moveTo>
                  <a:lnTo>
                    <a:pt x="13095097" y="0"/>
                  </a:lnTo>
                  <a:lnTo>
                    <a:pt x="13095097" y="33909"/>
                  </a:lnTo>
                  <a:lnTo>
                    <a:pt x="12993497" y="33909"/>
                  </a:lnTo>
                  <a:close/>
                  <a:moveTo>
                    <a:pt x="13230606" y="33909"/>
                  </a:moveTo>
                  <a:lnTo>
                    <a:pt x="13332206" y="33909"/>
                  </a:lnTo>
                  <a:lnTo>
                    <a:pt x="13230606" y="33909"/>
                  </a:lnTo>
                  <a:close/>
                  <a:moveTo>
                    <a:pt x="13467715" y="33909"/>
                  </a:moveTo>
                  <a:lnTo>
                    <a:pt x="13569315" y="33909"/>
                  </a:lnTo>
                  <a:lnTo>
                    <a:pt x="13467715" y="33909"/>
                  </a:lnTo>
                  <a:close/>
                  <a:moveTo>
                    <a:pt x="13704697" y="0"/>
                  </a:moveTo>
                  <a:lnTo>
                    <a:pt x="13806297" y="0"/>
                  </a:lnTo>
                  <a:lnTo>
                    <a:pt x="13806297" y="33909"/>
                  </a:lnTo>
                  <a:lnTo>
                    <a:pt x="13704697" y="33909"/>
                  </a:lnTo>
                  <a:close/>
                  <a:moveTo>
                    <a:pt x="13941806" y="33909"/>
                  </a:moveTo>
                  <a:lnTo>
                    <a:pt x="14043406" y="33909"/>
                  </a:lnTo>
                  <a:lnTo>
                    <a:pt x="13941806" y="33909"/>
                  </a:lnTo>
                  <a:close/>
                  <a:moveTo>
                    <a:pt x="14178915" y="33909"/>
                  </a:moveTo>
                  <a:lnTo>
                    <a:pt x="14280515" y="33909"/>
                  </a:lnTo>
                  <a:lnTo>
                    <a:pt x="14178915" y="33909"/>
                  </a:lnTo>
                  <a:close/>
                  <a:moveTo>
                    <a:pt x="14415897" y="0"/>
                  </a:moveTo>
                  <a:lnTo>
                    <a:pt x="14517497" y="0"/>
                  </a:lnTo>
                  <a:lnTo>
                    <a:pt x="14517497" y="33909"/>
                  </a:lnTo>
                  <a:lnTo>
                    <a:pt x="14415897" y="33909"/>
                  </a:lnTo>
                  <a:close/>
                  <a:moveTo>
                    <a:pt x="14653007" y="33909"/>
                  </a:moveTo>
                  <a:lnTo>
                    <a:pt x="14754607" y="33909"/>
                  </a:lnTo>
                  <a:lnTo>
                    <a:pt x="14653007" y="33909"/>
                  </a:lnTo>
                  <a:close/>
                  <a:moveTo>
                    <a:pt x="14890115" y="33909"/>
                  </a:moveTo>
                  <a:lnTo>
                    <a:pt x="14991715" y="33909"/>
                  </a:lnTo>
                  <a:lnTo>
                    <a:pt x="14890115" y="33909"/>
                  </a:lnTo>
                  <a:close/>
                  <a:moveTo>
                    <a:pt x="15127097" y="0"/>
                  </a:moveTo>
                  <a:lnTo>
                    <a:pt x="15228697" y="0"/>
                  </a:lnTo>
                  <a:lnTo>
                    <a:pt x="15228697" y="33909"/>
                  </a:lnTo>
                  <a:lnTo>
                    <a:pt x="15127097" y="33909"/>
                  </a:lnTo>
                  <a:close/>
                  <a:moveTo>
                    <a:pt x="15364207" y="33909"/>
                  </a:moveTo>
                  <a:lnTo>
                    <a:pt x="15465807" y="33909"/>
                  </a:lnTo>
                  <a:lnTo>
                    <a:pt x="15364207" y="33909"/>
                  </a:lnTo>
                  <a:close/>
                  <a:moveTo>
                    <a:pt x="15601315" y="33909"/>
                  </a:moveTo>
                  <a:lnTo>
                    <a:pt x="15702915" y="33909"/>
                  </a:lnTo>
                  <a:lnTo>
                    <a:pt x="15601315" y="33909"/>
                  </a:lnTo>
                  <a:close/>
                  <a:moveTo>
                    <a:pt x="15838297" y="0"/>
                  </a:moveTo>
                  <a:lnTo>
                    <a:pt x="15939897" y="0"/>
                  </a:lnTo>
                  <a:lnTo>
                    <a:pt x="15939897" y="33909"/>
                  </a:lnTo>
                  <a:lnTo>
                    <a:pt x="15838297" y="33909"/>
                  </a:lnTo>
                  <a:close/>
                  <a:moveTo>
                    <a:pt x="16075407" y="33909"/>
                  </a:moveTo>
                  <a:lnTo>
                    <a:pt x="16177007" y="33909"/>
                  </a:lnTo>
                  <a:lnTo>
                    <a:pt x="16075407" y="33909"/>
                  </a:lnTo>
                  <a:close/>
                  <a:moveTo>
                    <a:pt x="16312515" y="33909"/>
                  </a:moveTo>
                  <a:lnTo>
                    <a:pt x="16414115" y="33909"/>
                  </a:lnTo>
                  <a:lnTo>
                    <a:pt x="16312515" y="33909"/>
                  </a:lnTo>
                  <a:close/>
                  <a:moveTo>
                    <a:pt x="16549497" y="0"/>
                  </a:moveTo>
                  <a:lnTo>
                    <a:pt x="16651097" y="0"/>
                  </a:lnTo>
                  <a:lnTo>
                    <a:pt x="16651097" y="33909"/>
                  </a:lnTo>
                  <a:lnTo>
                    <a:pt x="16549497" y="33909"/>
                  </a:lnTo>
                  <a:close/>
                  <a:moveTo>
                    <a:pt x="16786607" y="33909"/>
                  </a:moveTo>
                  <a:lnTo>
                    <a:pt x="16888207" y="33909"/>
                  </a:lnTo>
                  <a:lnTo>
                    <a:pt x="16786607" y="33909"/>
                  </a:lnTo>
                  <a:close/>
                  <a:moveTo>
                    <a:pt x="17023715" y="33909"/>
                  </a:moveTo>
                  <a:lnTo>
                    <a:pt x="17077183" y="33909"/>
                  </a:lnTo>
                  <a:cubicBezTo>
                    <a:pt x="17086580" y="33909"/>
                    <a:pt x="17094073" y="41529"/>
                    <a:pt x="17094073" y="50800"/>
                  </a:cubicBezTo>
                  <a:lnTo>
                    <a:pt x="17094073" y="65151"/>
                  </a:lnTo>
                  <a:lnTo>
                    <a:pt x="17060164" y="65151"/>
                  </a:lnTo>
                  <a:lnTo>
                    <a:pt x="17060164" y="16891"/>
                  </a:lnTo>
                  <a:lnTo>
                    <a:pt x="17077055" y="16891"/>
                  </a:lnTo>
                  <a:lnTo>
                    <a:pt x="17077055" y="33909"/>
                  </a:lnTo>
                  <a:lnTo>
                    <a:pt x="17023587" y="33909"/>
                  </a:lnTo>
                  <a:close/>
                  <a:moveTo>
                    <a:pt x="17093946" y="234442"/>
                  </a:moveTo>
                  <a:lnTo>
                    <a:pt x="17093946" y="336042"/>
                  </a:lnTo>
                  <a:lnTo>
                    <a:pt x="17060036" y="336042"/>
                  </a:lnTo>
                  <a:lnTo>
                    <a:pt x="17060036" y="234442"/>
                  </a:lnTo>
                  <a:close/>
                  <a:moveTo>
                    <a:pt x="17060036" y="471551"/>
                  </a:moveTo>
                  <a:lnTo>
                    <a:pt x="17060036" y="573151"/>
                  </a:lnTo>
                  <a:lnTo>
                    <a:pt x="17026128" y="573151"/>
                  </a:lnTo>
                  <a:lnTo>
                    <a:pt x="17026128" y="471551"/>
                  </a:lnTo>
                  <a:close/>
                  <a:moveTo>
                    <a:pt x="17026128" y="708660"/>
                  </a:moveTo>
                  <a:lnTo>
                    <a:pt x="17026128" y="810260"/>
                  </a:lnTo>
                  <a:lnTo>
                    <a:pt x="16992219" y="810260"/>
                  </a:lnTo>
                  <a:lnTo>
                    <a:pt x="16992219" y="708660"/>
                  </a:lnTo>
                  <a:close/>
                  <a:moveTo>
                    <a:pt x="16992219" y="945769"/>
                  </a:moveTo>
                  <a:lnTo>
                    <a:pt x="16992219" y="1047369"/>
                  </a:lnTo>
                  <a:lnTo>
                    <a:pt x="16958309" y="1047369"/>
                  </a:lnTo>
                  <a:lnTo>
                    <a:pt x="16958309" y="945769"/>
                  </a:lnTo>
                  <a:close/>
                  <a:moveTo>
                    <a:pt x="16958309" y="1182878"/>
                  </a:moveTo>
                  <a:lnTo>
                    <a:pt x="16958309" y="1284478"/>
                  </a:lnTo>
                  <a:lnTo>
                    <a:pt x="16924401" y="1284478"/>
                  </a:lnTo>
                  <a:lnTo>
                    <a:pt x="16924401" y="1182878"/>
                  </a:lnTo>
                  <a:close/>
                  <a:moveTo>
                    <a:pt x="16924401" y="1419987"/>
                  </a:moveTo>
                  <a:lnTo>
                    <a:pt x="16924401" y="1521587"/>
                  </a:lnTo>
                  <a:lnTo>
                    <a:pt x="16890492" y="1521587"/>
                  </a:lnTo>
                  <a:lnTo>
                    <a:pt x="16890492" y="1419987"/>
                  </a:lnTo>
                  <a:close/>
                  <a:moveTo>
                    <a:pt x="16890492" y="1657096"/>
                  </a:moveTo>
                  <a:lnTo>
                    <a:pt x="16890492" y="1758696"/>
                  </a:lnTo>
                  <a:lnTo>
                    <a:pt x="16856584" y="1758696"/>
                  </a:lnTo>
                  <a:lnTo>
                    <a:pt x="16856584" y="1657096"/>
                  </a:lnTo>
                  <a:close/>
                  <a:moveTo>
                    <a:pt x="16856584" y="1894205"/>
                  </a:moveTo>
                  <a:lnTo>
                    <a:pt x="16856584" y="1995805"/>
                  </a:lnTo>
                  <a:lnTo>
                    <a:pt x="16822674" y="1995805"/>
                  </a:lnTo>
                  <a:lnTo>
                    <a:pt x="16822674" y="1894205"/>
                  </a:lnTo>
                  <a:close/>
                  <a:moveTo>
                    <a:pt x="16822674" y="2131314"/>
                  </a:moveTo>
                  <a:lnTo>
                    <a:pt x="16822674" y="2232914"/>
                  </a:lnTo>
                  <a:lnTo>
                    <a:pt x="16788765" y="2232914"/>
                  </a:lnTo>
                  <a:lnTo>
                    <a:pt x="16788765" y="2131314"/>
                  </a:lnTo>
                  <a:close/>
                  <a:moveTo>
                    <a:pt x="16788765" y="2368423"/>
                  </a:moveTo>
                  <a:lnTo>
                    <a:pt x="16788765" y="2470023"/>
                  </a:lnTo>
                  <a:lnTo>
                    <a:pt x="16754857" y="2470023"/>
                  </a:lnTo>
                  <a:lnTo>
                    <a:pt x="16754857" y="2368423"/>
                  </a:lnTo>
                  <a:close/>
                  <a:moveTo>
                    <a:pt x="16754857" y="2605532"/>
                  </a:moveTo>
                  <a:lnTo>
                    <a:pt x="16754857" y="2707132"/>
                  </a:lnTo>
                  <a:lnTo>
                    <a:pt x="16720947" y="2707132"/>
                  </a:lnTo>
                  <a:lnTo>
                    <a:pt x="16720947" y="2605532"/>
                  </a:lnTo>
                  <a:close/>
                  <a:moveTo>
                    <a:pt x="16720947" y="2842641"/>
                  </a:moveTo>
                  <a:lnTo>
                    <a:pt x="16720947" y="2944241"/>
                  </a:lnTo>
                  <a:lnTo>
                    <a:pt x="16687037" y="2944241"/>
                  </a:lnTo>
                  <a:lnTo>
                    <a:pt x="16687037" y="2842641"/>
                  </a:lnTo>
                  <a:close/>
                  <a:moveTo>
                    <a:pt x="16687037" y="3079750"/>
                  </a:moveTo>
                  <a:lnTo>
                    <a:pt x="16687037" y="3181350"/>
                  </a:lnTo>
                  <a:lnTo>
                    <a:pt x="16653129" y="3181350"/>
                  </a:lnTo>
                  <a:lnTo>
                    <a:pt x="16653129" y="3079750"/>
                  </a:lnTo>
                  <a:close/>
                  <a:moveTo>
                    <a:pt x="16653129" y="3316859"/>
                  </a:moveTo>
                  <a:lnTo>
                    <a:pt x="16653129" y="3418459"/>
                  </a:lnTo>
                  <a:lnTo>
                    <a:pt x="16619220" y="3418459"/>
                  </a:lnTo>
                  <a:lnTo>
                    <a:pt x="16619220" y="3316859"/>
                  </a:lnTo>
                  <a:close/>
                  <a:moveTo>
                    <a:pt x="16619220" y="3553968"/>
                  </a:moveTo>
                  <a:lnTo>
                    <a:pt x="16619220" y="3655568"/>
                  </a:lnTo>
                  <a:lnTo>
                    <a:pt x="16585310" y="3655568"/>
                  </a:lnTo>
                  <a:lnTo>
                    <a:pt x="16585310" y="3553968"/>
                  </a:lnTo>
                  <a:close/>
                  <a:moveTo>
                    <a:pt x="16585310" y="3791077"/>
                  </a:moveTo>
                  <a:lnTo>
                    <a:pt x="16585310" y="3892677"/>
                  </a:lnTo>
                  <a:lnTo>
                    <a:pt x="16551402" y="3892677"/>
                  </a:lnTo>
                  <a:lnTo>
                    <a:pt x="16551402" y="3791077"/>
                  </a:lnTo>
                  <a:close/>
                  <a:moveTo>
                    <a:pt x="16551402" y="4028186"/>
                  </a:moveTo>
                  <a:lnTo>
                    <a:pt x="16551402" y="4129786"/>
                  </a:lnTo>
                  <a:lnTo>
                    <a:pt x="16517493" y="4129786"/>
                  </a:lnTo>
                  <a:lnTo>
                    <a:pt x="16517493" y="4028186"/>
                  </a:lnTo>
                  <a:close/>
                  <a:moveTo>
                    <a:pt x="16517493" y="4265295"/>
                  </a:moveTo>
                  <a:lnTo>
                    <a:pt x="16517493" y="4366895"/>
                  </a:lnTo>
                  <a:lnTo>
                    <a:pt x="16483585" y="4366895"/>
                  </a:lnTo>
                  <a:lnTo>
                    <a:pt x="16483585" y="4265295"/>
                  </a:lnTo>
                  <a:close/>
                  <a:moveTo>
                    <a:pt x="16483585" y="4502404"/>
                  </a:moveTo>
                  <a:lnTo>
                    <a:pt x="16483585" y="4604004"/>
                  </a:lnTo>
                  <a:lnTo>
                    <a:pt x="16449675" y="4604004"/>
                  </a:lnTo>
                  <a:lnTo>
                    <a:pt x="16449675" y="4502404"/>
                  </a:lnTo>
                  <a:close/>
                  <a:moveTo>
                    <a:pt x="16449675" y="4739513"/>
                  </a:moveTo>
                  <a:lnTo>
                    <a:pt x="16449675" y="4841113"/>
                  </a:lnTo>
                  <a:lnTo>
                    <a:pt x="16415766" y="4841113"/>
                  </a:lnTo>
                  <a:lnTo>
                    <a:pt x="16415766" y="4739513"/>
                  </a:lnTo>
                  <a:close/>
                  <a:moveTo>
                    <a:pt x="16415766" y="4976622"/>
                  </a:moveTo>
                  <a:lnTo>
                    <a:pt x="16415766" y="5078222"/>
                  </a:lnTo>
                  <a:lnTo>
                    <a:pt x="16381858" y="5078222"/>
                  </a:lnTo>
                  <a:lnTo>
                    <a:pt x="16381858" y="4976622"/>
                  </a:lnTo>
                  <a:close/>
                  <a:moveTo>
                    <a:pt x="16381858" y="5213731"/>
                  </a:moveTo>
                  <a:lnTo>
                    <a:pt x="16381858" y="5315331"/>
                  </a:lnTo>
                  <a:lnTo>
                    <a:pt x="16347948" y="5315331"/>
                  </a:lnTo>
                  <a:lnTo>
                    <a:pt x="16347948" y="5213731"/>
                  </a:lnTo>
                  <a:close/>
                  <a:moveTo>
                    <a:pt x="16347948" y="5450840"/>
                  </a:moveTo>
                  <a:lnTo>
                    <a:pt x="16347948" y="5552440"/>
                  </a:lnTo>
                  <a:lnTo>
                    <a:pt x="16314039" y="5552440"/>
                  </a:lnTo>
                  <a:lnTo>
                    <a:pt x="16314039" y="5450840"/>
                  </a:lnTo>
                  <a:close/>
                  <a:moveTo>
                    <a:pt x="16314039" y="5687949"/>
                  </a:moveTo>
                  <a:lnTo>
                    <a:pt x="16314039" y="5789549"/>
                  </a:lnTo>
                  <a:lnTo>
                    <a:pt x="16280130" y="5789549"/>
                  </a:lnTo>
                  <a:lnTo>
                    <a:pt x="16280130" y="5687949"/>
                  </a:lnTo>
                  <a:close/>
                  <a:moveTo>
                    <a:pt x="16280130" y="5925058"/>
                  </a:moveTo>
                  <a:lnTo>
                    <a:pt x="16280130" y="6026658"/>
                  </a:lnTo>
                  <a:lnTo>
                    <a:pt x="16246221" y="6026658"/>
                  </a:lnTo>
                  <a:lnTo>
                    <a:pt x="16246221" y="5925058"/>
                  </a:lnTo>
                  <a:close/>
                  <a:moveTo>
                    <a:pt x="16246221" y="6162167"/>
                  </a:moveTo>
                  <a:lnTo>
                    <a:pt x="16246221" y="6263767"/>
                  </a:lnTo>
                  <a:lnTo>
                    <a:pt x="16212311" y="6263767"/>
                  </a:lnTo>
                  <a:lnTo>
                    <a:pt x="16212311" y="6162167"/>
                  </a:lnTo>
                  <a:close/>
                  <a:moveTo>
                    <a:pt x="16212311" y="6399276"/>
                  </a:moveTo>
                  <a:lnTo>
                    <a:pt x="16212311" y="6500876"/>
                  </a:lnTo>
                  <a:lnTo>
                    <a:pt x="16178403" y="6500876"/>
                  </a:lnTo>
                  <a:lnTo>
                    <a:pt x="16178403" y="6399276"/>
                  </a:lnTo>
                  <a:close/>
                  <a:moveTo>
                    <a:pt x="16178403" y="6636385"/>
                  </a:moveTo>
                  <a:lnTo>
                    <a:pt x="16178403" y="6737985"/>
                  </a:lnTo>
                  <a:lnTo>
                    <a:pt x="16144494" y="6737985"/>
                  </a:lnTo>
                  <a:lnTo>
                    <a:pt x="16144494" y="6636385"/>
                  </a:lnTo>
                  <a:close/>
                  <a:moveTo>
                    <a:pt x="16144494" y="6873494"/>
                  </a:moveTo>
                  <a:lnTo>
                    <a:pt x="16144494" y="6975094"/>
                  </a:lnTo>
                  <a:lnTo>
                    <a:pt x="16110584" y="6975094"/>
                  </a:lnTo>
                  <a:lnTo>
                    <a:pt x="16110584" y="6873494"/>
                  </a:lnTo>
                  <a:close/>
                  <a:moveTo>
                    <a:pt x="16110584" y="7110603"/>
                  </a:moveTo>
                  <a:lnTo>
                    <a:pt x="16110584" y="7212203"/>
                  </a:lnTo>
                  <a:lnTo>
                    <a:pt x="16076676" y="7212203"/>
                  </a:lnTo>
                  <a:lnTo>
                    <a:pt x="16076676" y="7110603"/>
                  </a:lnTo>
                  <a:close/>
                  <a:moveTo>
                    <a:pt x="16076676" y="7347712"/>
                  </a:moveTo>
                  <a:lnTo>
                    <a:pt x="16076676" y="7449312"/>
                  </a:lnTo>
                  <a:lnTo>
                    <a:pt x="16042767" y="7449312"/>
                  </a:lnTo>
                  <a:lnTo>
                    <a:pt x="16042767" y="7347712"/>
                  </a:lnTo>
                  <a:close/>
                  <a:moveTo>
                    <a:pt x="16042767" y="7584821"/>
                  </a:moveTo>
                  <a:lnTo>
                    <a:pt x="16042767" y="7686421"/>
                  </a:lnTo>
                  <a:lnTo>
                    <a:pt x="16008859" y="7686421"/>
                  </a:lnTo>
                  <a:lnTo>
                    <a:pt x="16008859" y="7584821"/>
                  </a:lnTo>
                  <a:close/>
                  <a:moveTo>
                    <a:pt x="16008859" y="7821930"/>
                  </a:moveTo>
                  <a:lnTo>
                    <a:pt x="16008859" y="7923530"/>
                  </a:lnTo>
                  <a:lnTo>
                    <a:pt x="15974949" y="7923530"/>
                  </a:lnTo>
                  <a:lnTo>
                    <a:pt x="15974949" y="7821930"/>
                  </a:lnTo>
                  <a:close/>
                  <a:moveTo>
                    <a:pt x="15974949" y="8059039"/>
                  </a:moveTo>
                  <a:lnTo>
                    <a:pt x="15974949" y="8160639"/>
                  </a:lnTo>
                  <a:lnTo>
                    <a:pt x="15941040" y="8160639"/>
                  </a:lnTo>
                  <a:lnTo>
                    <a:pt x="15941040" y="8059039"/>
                  </a:lnTo>
                  <a:close/>
                  <a:moveTo>
                    <a:pt x="15941040" y="8296148"/>
                  </a:moveTo>
                  <a:lnTo>
                    <a:pt x="15941040" y="8397748"/>
                  </a:lnTo>
                  <a:lnTo>
                    <a:pt x="15907132" y="8397748"/>
                  </a:lnTo>
                  <a:lnTo>
                    <a:pt x="15907132" y="8296148"/>
                  </a:lnTo>
                  <a:close/>
                  <a:moveTo>
                    <a:pt x="15907132" y="8533257"/>
                  </a:moveTo>
                  <a:lnTo>
                    <a:pt x="15907132" y="8634857"/>
                  </a:lnTo>
                  <a:lnTo>
                    <a:pt x="15873222" y="8634857"/>
                  </a:lnTo>
                  <a:lnTo>
                    <a:pt x="15873222" y="8533257"/>
                  </a:lnTo>
                  <a:close/>
                  <a:moveTo>
                    <a:pt x="15873222" y="8770366"/>
                  </a:moveTo>
                  <a:lnTo>
                    <a:pt x="15873222" y="8871966"/>
                  </a:lnTo>
                  <a:lnTo>
                    <a:pt x="15839312" y="8871966"/>
                  </a:lnTo>
                  <a:lnTo>
                    <a:pt x="15839312" y="8770366"/>
                  </a:lnTo>
                  <a:close/>
                  <a:moveTo>
                    <a:pt x="15839312" y="9007475"/>
                  </a:moveTo>
                  <a:lnTo>
                    <a:pt x="15839312" y="9109075"/>
                  </a:lnTo>
                  <a:lnTo>
                    <a:pt x="15805404" y="9109075"/>
                  </a:lnTo>
                  <a:lnTo>
                    <a:pt x="15805404" y="9007475"/>
                  </a:lnTo>
                  <a:close/>
                  <a:moveTo>
                    <a:pt x="15805404" y="9244584"/>
                  </a:moveTo>
                  <a:lnTo>
                    <a:pt x="15805404" y="9346184"/>
                  </a:lnTo>
                  <a:lnTo>
                    <a:pt x="15771495" y="9346184"/>
                  </a:lnTo>
                  <a:lnTo>
                    <a:pt x="15771495" y="9244584"/>
                  </a:lnTo>
                  <a:close/>
                  <a:moveTo>
                    <a:pt x="15771495" y="9481693"/>
                  </a:moveTo>
                  <a:lnTo>
                    <a:pt x="15771495" y="9583293"/>
                  </a:lnTo>
                  <a:lnTo>
                    <a:pt x="15737585" y="9583293"/>
                  </a:lnTo>
                  <a:lnTo>
                    <a:pt x="15737585" y="9481693"/>
                  </a:lnTo>
                  <a:close/>
                  <a:moveTo>
                    <a:pt x="15737585" y="9718802"/>
                  </a:moveTo>
                  <a:lnTo>
                    <a:pt x="15737585" y="9782683"/>
                  </a:lnTo>
                  <a:cubicBezTo>
                    <a:pt x="15737585" y="9792081"/>
                    <a:pt x="15729966" y="9799574"/>
                    <a:pt x="15720695" y="9799574"/>
                  </a:cubicBezTo>
                  <a:lnTo>
                    <a:pt x="15682976" y="9799574"/>
                  </a:lnTo>
                  <a:lnTo>
                    <a:pt x="15682976" y="9765665"/>
                  </a:lnTo>
                  <a:lnTo>
                    <a:pt x="15720695" y="9765665"/>
                  </a:lnTo>
                  <a:lnTo>
                    <a:pt x="15720695" y="9782556"/>
                  </a:lnTo>
                  <a:lnTo>
                    <a:pt x="15703804" y="9782556"/>
                  </a:lnTo>
                  <a:lnTo>
                    <a:pt x="15703804" y="9718675"/>
                  </a:lnTo>
                  <a:close/>
                  <a:moveTo>
                    <a:pt x="15513684" y="9799447"/>
                  </a:moveTo>
                  <a:lnTo>
                    <a:pt x="15412084" y="9799447"/>
                  </a:lnTo>
                  <a:lnTo>
                    <a:pt x="15412084" y="9765538"/>
                  </a:lnTo>
                  <a:lnTo>
                    <a:pt x="15513684" y="9765538"/>
                  </a:lnTo>
                  <a:close/>
                  <a:moveTo>
                    <a:pt x="15276576" y="9765538"/>
                  </a:moveTo>
                  <a:lnTo>
                    <a:pt x="15174976" y="9765538"/>
                  </a:lnTo>
                  <a:lnTo>
                    <a:pt x="15174976" y="9731629"/>
                  </a:lnTo>
                  <a:lnTo>
                    <a:pt x="15276576" y="9731629"/>
                  </a:lnTo>
                  <a:close/>
                  <a:moveTo>
                    <a:pt x="15039467" y="9731629"/>
                  </a:moveTo>
                  <a:lnTo>
                    <a:pt x="14937867" y="9731629"/>
                  </a:lnTo>
                  <a:lnTo>
                    <a:pt x="14937867" y="9697720"/>
                  </a:lnTo>
                  <a:lnTo>
                    <a:pt x="15039467" y="9697720"/>
                  </a:lnTo>
                  <a:close/>
                  <a:moveTo>
                    <a:pt x="14802359" y="9697720"/>
                  </a:moveTo>
                  <a:lnTo>
                    <a:pt x="14700759" y="9697720"/>
                  </a:lnTo>
                  <a:lnTo>
                    <a:pt x="14700759" y="9663811"/>
                  </a:lnTo>
                  <a:lnTo>
                    <a:pt x="14802359" y="9663811"/>
                  </a:lnTo>
                  <a:close/>
                  <a:moveTo>
                    <a:pt x="14565249" y="9663811"/>
                  </a:moveTo>
                  <a:lnTo>
                    <a:pt x="14463649" y="9663811"/>
                  </a:lnTo>
                  <a:lnTo>
                    <a:pt x="14463649" y="9629902"/>
                  </a:lnTo>
                  <a:lnTo>
                    <a:pt x="14565249" y="9629902"/>
                  </a:lnTo>
                  <a:close/>
                  <a:moveTo>
                    <a:pt x="14328140" y="9629902"/>
                  </a:moveTo>
                  <a:lnTo>
                    <a:pt x="14226540" y="9629902"/>
                  </a:lnTo>
                  <a:lnTo>
                    <a:pt x="14226540" y="9595993"/>
                  </a:lnTo>
                  <a:lnTo>
                    <a:pt x="14328140" y="9595993"/>
                  </a:lnTo>
                  <a:close/>
                  <a:moveTo>
                    <a:pt x="14091031" y="9595993"/>
                  </a:moveTo>
                  <a:lnTo>
                    <a:pt x="13989431" y="9595993"/>
                  </a:lnTo>
                  <a:lnTo>
                    <a:pt x="13989431" y="9562084"/>
                  </a:lnTo>
                  <a:lnTo>
                    <a:pt x="14091031" y="9562084"/>
                  </a:lnTo>
                  <a:close/>
                  <a:moveTo>
                    <a:pt x="13853922" y="9562084"/>
                  </a:moveTo>
                  <a:lnTo>
                    <a:pt x="13752322" y="9562084"/>
                  </a:lnTo>
                  <a:lnTo>
                    <a:pt x="13752322" y="9528175"/>
                  </a:lnTo>
                  <a:lnTo>
                    <a:pt x="13853922" y="9528175"/>
                  </a:lnTo>
                  <a:close/>
                  <a:moveTo>
                    <a:pt x="13616813" y="9528175"/>
                  </a:moveTo>
                  <a:lnTo>
                    <a:pt x="13515213" y="9528175"/>
                  </a:lnTo>
                  <a:lnTo>
                    <a:pt x="13515213" y="9494266"/>
                  </a:lnTo>
                  <a:lnTo>
                    <a:pt x="13616813" y="9494266"/>
                  </a:lnTo>
                  <a:close/>
                  <a:moveTo>
                    <a:pt x="13379704" y="9494266"/>
                  </a:moveTo>
                  <a:lnTo>
                    <a:pt x="13278104" y="9494266"/>
                  </a:lnTo>
                  <a:lnTo>
                    <a:pt x="13278104" y="9460357"/>
                  </a:lnTo>
                  <a:lnTo>
                    <a:pt x="13379704" y="9460357"/>
                  </a:lnTo>
                  <a:close/>
                  <a:moveTo>
                    <a:pt x="13142595" y="9460357"/>
                  </a:moveTo>
                  <a:lnTo>
                    <a:pt x="13040995" y="9460357"/>
                  </a:lnTo>
                  <a:lnTo>
                    <a:pt x="13040995" y="9426448"/>
                  </a:lnTo>
                  <a:lnTo>
                    <a:pt x="13142595" y="9426448"/>
                  </a:lnTo>
                  <a:close/>
                  <a:moveTo>
                    <a:pt x="12905486" y="9426448"/>
                  </a:moveTo>
                  <a:lnTo>
                    <a:pt x="12803886" y="9426448"/>
                  </a:lnTo>
                  <a:lnTo>
                    <a:pt x="12803886" y="9392539"/>
                  </a:lnTo>
                  <a:lnTo>
                    <a:pt x="12905486" y="9392539"/>
                  </a:lnTo>
                  <a:close/>
                  <a:moveTo>
                    <a:pt x="12668377" y="9392539"/>
                  </a:moveTo>
                  <a:lnTo>
                    <a:pt x="12566777" y="9392539"/>
                  </a:lnTo>
                  <a:lnTo>
                    <a:pt x="12566777" y="9358630"/>
                  </a:lnTo>
                  <a:lnTo>
                    <a:pt x="12668377" y="9358630"/>
                  </a:lnTo>
                  <a:close/>
                  <a:moveTo>
                    <a:pt x="12431268" y="9358630"/>
                  </a:moveTo>
                  <a:lnTo>
                    <a:pt x="12329668" y="9358630"/>
                  </a:lnTo>
                  <a:lnTo>
                    <a:pt x="12329668" y="9324721"/>
                  </a:lnTo>
                  <a:lnTo>
                    <a:pt x="12431268" y="9324721"/>
                  </a:lnTo>
                  <a:close/>
                  <a:moveTo>
                    <a:pt x="12194159" y="9324721"/>
                  </a:moveTo>
                  <a:lnTo>
                    <a:pt x="12092559" y="9324721"/>
                  </a:lnTo>
                  <a:lnTo>
                    <a:pt x="12092559" y="9290812"/>
                  </a:lnTo>
                  <a:lnTo>
                    <a:pt x="12194159" y="9290812"/>
                  </a:lnTo>
                  <a:close/>
                  <a:moveTo>
                    <a:pt x="11957050" y="9290812"/>
                  </a:moveTo>
                  <a:lnTo>
                    <a:pt x="11855450" y="9290812"/>
                  </a:lnTo>
                  <a:lnTo>
                    <a:pt x="11855450" y="9256903"/>
                  </a:lnTo>
                  <a:lnTo>
                    <a:pt x="11957050" y="9256903"/>
                  </a:lnTo>
                  <a:close/>
                  <a:moveTo>
                    <a:pt x="11719941" y="9256903"/>
                  </a:moveTo>
                  <a:lnTo>
                    <a:pt x="11618341" y="9256903"/>
                  </a:lnTo>
                  <a:lnTo>
                    <a:pt x="11618341" y="9222994"/>
                  </a:lnTo>
                  <a:lnTo>
                    <a:pt x="11719941" y="9222994"/>
                  </a:lnTo>
                  <a:close/>
                  <a:moveTo>
                    <a:pt x="11482832" y="9222994"/>
                  </a:moveTo>
                  <a:lnTo>
                    <a:pt x="11381232" y="9222994"/>
                  </a:lnTo>
                  <a:lnTo>
                    <a:pt x="11381232" y="9189085"/>
                  </a:lnTo>
                  <a:lnTo>
                    <a:pt x="11482832" y="9189085"/>
                  </a:lnTo>
                  <a:close/>
                  <a:moveTo>
                    <a:pt x="11245723" y="9189085"/>
                  </a:moveTo>
                  <a:lnTo>
                    <a:pt x="11144123" y="9189085"/>
                  </a:lnTo>
                  <a:lnTo>
                    <a:pt x="11144123" y="9155176"/>
                  </a:lnTo>
                  <a:lnTo>
                    <a:pt x="11245723" y="9155176"/>
                  </a:lnTo>
                  <a:close/>
                  <a:moveTo>
                    <a:pt x="11008614" y="9155176"/>
                  </a:moveTo>
                  <a:lnTo>
                    <a:pt x="10907014" y="9155176"/>
                  </a:lnTo>
                  <a:lnTo>
                    <a:pt x="10907014" y="9121267"/>
                  </a:lnTo>
                  <a:lnTo>
                    <a:pt x="11008614" y="9121267"/>
                  </a:lnTo>
                  <a:close/>
                  <a:moveTo>
                    <a:pt x="10771505" y="9121267"/>
                  </a:moveTo>
                  <a:lnTo>
                    <a:pt x="10669905" y="9121267"/>
                  </a:lnTo>
                  <a:lnTo>
                    <a:pt x="10669905" y="9087358"/>
                  </a:lnTo>
                  <a:lnTo>
                    <a:pt x="10771505" y="9087358"/>
                  </a:lnTo>
                  <a:close/>
                  <a:moveTo>
                    <a:pt x="10534396" y="9087358"/>
                  </a:moveTo>
                  <a:lnTo>
                    <a:pt x="10432796" y="9087358"/>
                  </a:lnTo>
                  <a:lnTo>
                    <a:pt x="10432796" y="9053449"/>
                  </a:lnTo>
                  <a:lnTo>
                    <a:pt x="10534396" y="9053449"/>
                  </a:lnTo>
                  <a:close/>
                  <a:moveTo>
                    <a:pt x="10297287" y="9053449"/>
                  </a:moveTo>
                  <a:lnTo>
                    <a:pt x="10195687" y="9053449"/>
                  </a:lnTo>
                  <a:lnTo>
                    <a:pt x="10195687" y="9019540"/>
                  </a:lnTo>
                  <a:lnTo>
                    <a:pt x="10297287" y="9019540"/>
                  </a:lnTo>
                  <a:close/>
                  <a:moveTo>
                    <a:pt x="10060178" y="9019540"/>
                  </a:moveTo>
                  <a:lnTo>
                    <a:pt x="9958578" y="9019540"/>
                  </a:lnTo>
                  <a:lnTo>
                    <a:pt x="9958578" y="8985631"/>
                  </a:lnTo>
                  <a:lnTo>
                    <a:pt x="10060178" y="8985631"/>
                  </a:lnTo>
                  <a:close/>
                  <a:moveTo>
                    <a:pt x="9823069" y="8985631"/>
                  </a:moveTo>
                  <a:lnTo>
                    <a:pt x="9721469" y="8985631"/>
                  </a:lnTo>
                  <a:lnTo>
                    <a:pt x="9721469" y="8951722"/>
                  </a:lnTo>
                  <a:lnTo>
                    <a:pt x="9823069" y="8951722"/>
                  </a:lnTo>
                  <a:close/>
                  <a:moveTo>
                    <a:pt x="9585960" y="8951722"/>
                  </a:moveTo>
                  <a:lnTo>
                    <a:pt x="9484360" y="8951722"/>
                  </a:lnTo>
                  <a:lnTo>
                    <a:pt x="9484360" y="8917813"/>
                  </a:lnTo>
                  <a:lnTo>
                    <a:pt x="9585960" y="8917813"/>
                  </a:lnTo>
                  <a:close/>
                  <a:moveTo>
                    <a:pt x="9348851" y="8917813"/>
                  </a:moveTo>
                  <a:lnTo>
                    <a:pt x="9247251" y="8917813"/>
                  </a:lnTo>
                  <a:lnTo>
                    <a:pt x="9247251" y="8883904"/>
                  </a:lnTo>
                  <a:lnTo>
                    <a:pt x="9348851" y="8883904"/>
                  </a:lnTo>
                  <a:close/>
                  <a:moveTo>
                    <a:pt x="9111742" y="8883904"/>
                  </a:moveTo>
                  <a:lnTo>
                    <a:pt x="9010142" y="8883904"/>
                  </a:lnTo>
                  <a:lnTo>
                    <a:pt x="9010142" y="8849995"/>
                  </a:lnTo>
                  <a:lnTo>
                    <a:pt x="9111742" y="8849995"/>
                  </a:lnTo>
                  <a:close/>
                  <a:moveTo>
                    <a:pt x="8874633" y="8849995"/>
                  </a:moveTo>
                  <a:lnTo>
                    <a:pt x="8773033" y="8849995"/>
                  </a:lnTo>
                  <a:lnTo>
                    <a:pt x="8773033" y="8816086"/>
                  </a:lnTo>
                  <a:lnTo>
                    <a:pt x="8874633" y="8816086"/>
                  </a:lnTo>
                  <a:close/>
                  <a:moveTo>
                    <a:pt x="8637524" y="8816086"/>
                  </a:moveTo>
                  <a:lnTo>
                    <a:pt x="8535924" y="8816086"/>
                  </a:lnTo>
                  <a:lnTo>
                    <a:pt x="8535924" y="8782177"/>
                  </a:lnTo>
                  <a:lnTo>
                    <a:pt x="8637524" y="8782177"/>
                  </a:lnTo>
                  <a:close/>
                  <a:moveTo>
                    <a:pt x="8400415" y="8782177"/>
                  </a:moveTo>
                  <a:lnTo>
                    <a:pt x="8298815" y="8782177"/>
                  </a:lnTo>
                  <a:lnTo>
                    <a:pt x="8298815" y="8748268"/>
                  </a:lnTo>
                  <a:lnTo>
                    <a:pt x="8400415" y="8748268"/>
                  </a:lnTo>
                  <a:close/>
                  <a:moveTo>
                    <a:pt x="8163306" y="8748268"/>
                  </a:moveTo>
                  <a:lnTo>
                    <a:pt x="8061706" y="8748268"/>
                  </a:lnTo>
                  <a:lnTo>
                    <a:pt x="8061706" y="8714359"/>
                  </a:lnTo>
                  <a:lnTo>
                    <a:pt x="8163306" y="8714359"/>
                  </a:lnTo>
                  <a:close/>
                  <a:moveTo>
                    <a:pt x="7926197" y="8714359"/>
                  </a:moveTo>
                  <a:lnTo>
                    <a:pt x="7824597" y="8714359"/>
                  </a:lnTo>
                  <a:lnTo>
                    <a:pt x="7824597" y="8680450"/>
                  </a:lnTo>
                  <a:lnTo>
                    <a:pt x="7926197" y="8680450"/>
                  </a:lnTo>
                  <a:close/>
                  <a:moveTo>
                    <a:pt x="7689088" y="8680450"/>
                  </a:moveTo>
                  <a:lnTo>
                    <a:pt x="7587488" y="8680450"/>
                  </a:lnTo>
                  <a:lnTo>
                    <a:pt x="7587488" y="8646541"/>
                  </a:lnTo>
                  <a:lnTo>
                    <a:pt x="7689088" y="8646541"/>
                  </a:lnTo>
                  <a:close/>
                  <a:moveTo>
                    <a:pt x="7451979" y="8646541"/>
                  </a:moveTo>
                  <a:lnTo>
                    <a:pt x="7350379" y="8646541"/>
                  </a:lnTo>
                  <a:lnTo>
                    <a:pt x="7350379" y="8612632"/>
                  </a:lnTo>
                  <a:lnTo>
                    <a:pt x="7451979" y="8612632"/>
                  </a:lnTo>
                  <a:close/>
                  <a:moveTo>
                    <a:pt x="7214870" y="8612632"/>
                  </a:moveTo>
                  <a:lnTo>
                    <a:pt x="7113270" y="8612632"/>
                  </a:lnTo>
                  <a:lnTo>
                    <a:pt x="7113270" y="8578723"/>
                  </a:lnTo>
                  <a:lnTo>
                    <a:pt x="7214870" y="8578723"/>
                  </a:lnTo>
                  <a:close/>
                  <a:moveTo>
                    <a:pt x="6977761" y="8578723"/>
                  </a:moveTo>
                  <a:lnTo>
                    <a:pt x="6876161" y="8578723"/>
                  </a:lnTo>
                  <a:lnTo>
                    <a:pt x="6876161" y="8544814"/>
                  </a:lnTo>
                  <a:lnTo>
                    <a:pt x="6977761" y="8544814"/>
                  </a:lnTo>
                  <a:close/>
                  <a:moveTo>
                    <a:pt x="6740652" y="8544814"/>
                  </a:moveTo>
                  <a:lnTo>
                    <a:pt x="6639052" y="8544814"/>
                  </a:lnTo>
                  <a:lnTo>
                    <a:pt x="6639052" y="8510905"/>
                  </a:lnTo>
                  <a:lnTo>
                    <a:pt x="6740652" y="8510905"/>
                  </a:lnTo>
                  <a:close/>
                  <a:moveTo>
                    <a:pt x="6503543" y="8510905"/>
                  </a:moveTo>
                  <a:lnTo>
                    <a:pt x="6401943" y="8510905"/>
                  </a:lnTo>
                  <a:lnTo>
                    <a:pt x="6401943" y="8476996"/>
                  </a:lnTo>
                  <a:lnTo>
                    <a:pt x="6503543" y="8476996"/>
                  </a:lnTo>
                  <a:close/>
                  <a:moveTo>
                    <a:pt x="6266434" y="8476996"/>
                  </a:moveTo>
                  <a:lnTo>
                    <a:pt x="6164834" y="8476996"/>
                  </a:lnTo>
                  <a:lnTo>
                    <a:pt x="6164834" y="8443087"/>
                  </a:lnTo>
                  <a:lnTo>
                    <a:pt x="6266434" y="8443087"/>
                  </a:lnTo>
                  <a:close/>
                  <a:moveTo>
                    <a:pt x="6029325" y="8443087"/>
                  </a:moveTo>
                  <a:lnTo>
                    <a:pt x="5927725" y="8443087"/>
                  </a:lnTo>
                  <a:lnTo>
                    <a:pt x="5927725" y="8409178"/>
                  </a:lnTo>
                  <a:lnTo>
                    <a:pt x="6029325" y="8409178"/>
                  </a:lnTo>
                  <a:close/>
                  <a:moveTo>
                    <a:pt x="5792216" y="8409178"/>
                  </a:moveTo>
                  <a:lnTo>
                    <a:pt x="5690616" y="8409178"/>
                  </a:lnTo>
                  <a:lnTo>
                    <a:pt x="5690616" y="8375269"/>
                  </a:lnTo>
                  <a:lnTo>
                    <a:pt x="5792216" y="8375269"/>
                  </a:lnTo>
                  <a:close/>
                  <a:moveTo>
                    <a:pt x="5555107" y="8375269"/>
                  </a:moveTo>
                  <a:lnTo>
                    <a:pt x="5453507" y="8375269"/>
                  </a:lnTo>
                  <a:lnTo>
                    <a:pt x="5453507" y="8341360"/>
                  </a:lnTo>
                  <a:lnTo>
                    <a:pt x="5555107" y="8341360"/>
                  </a:lnTo>
                  <a:close/>
                  <a:moveTo>
                    <a:pt x="5317998" y="8341360"/>
                  </a:moveTo>
                  <a:lnTo>
                    <a:pt x="5216398" y="8341360"/>
                  </a:lnTo>
                  <a:lnTo>
                    <a:pt x="5216398" y="8307451"/>
                  </a:lnTo>
                  <a:lnTo>
                    <a:pt x="5317998" y="8307451"/>
                  </a:lnTo>
                  <a:close/>
                  <a:moveTo>
                    <a:pt x="5080889" y="8307451"/>
                  </a:moveTo>
                  <a:lnTo>
                    <a:pt x="4979289" y="8307451"/>
                  </a:lnTo>
                  <a:lnTo>
                    <a:pt x="4979289" y="8273542"/>
                  </a:lnTo>
                  <a:lnTo>
                    <a:pt x="5080889" y="8273542"/>
                  </a:lnTo>
                  <a:close/>
                  <a:moveTo>
                    <a:pt x="4843780" y="8273542"/>
                  </a:moveTo>
                  <a:lnTo>
                    <a:pt x="4742180" y="8273542"/>
                  </a:lnTo>
                  <a:lnTo>
                    <a:pt x="4742180" y="8239633"/>
                  </a:lnTo>
                  <a:lnTo>
                    <a:pt x="4843780" y="8239633"/>
                  </a:lnTo>
                  <a:close/>
                  <a:moveTo>
                    <a:pt x="4606671" y="8239633"/>
                  </a:moveTo>
                  <a:lnTo>
                    <a:pt x="4505071" y="8239633"/>
                  </a:lnTo>
                  <a:lnTo>
                    <a:pt x="4505071" y="8205724"/>
                  </a:lnTo>
                  <a:lnTo>
                    <a:pt x="4606671" y="8205724"/>
                  </a:lnTo>
                  <a:close/>
                  <a:moveTo>
                    <a:pt x="4369562" y="8205724"/>
                  </a:moveTo>
                  <a:lnTo>
                    <a:pt x="4267962" y="8205724"/>
                  </a:lnTo>
                  <a:lnTo>
                    <a:pt x="4267962" y="8171815"/>
                  </a:lnTo>
                  <a:lnTo>
                    <a:pt x="4369562" y="8171815"/>
                  </a:lnTo>
                  <a:close/>
                  <a:moveTo>
                    <a:pt x="4132453" y="8171815"/>
                  </a:moveTo>
                  <a:lnTo>
                    <a:pt x="4030853" y="8171815"/>
                  </a:lnTo>
                  <a:lnTo>
                    <a:pt x="4030853" y="8137906"/>
                  </a:lnTo>
                  <a:lnTo>
                    <a:pt x="4132453" y="8137906"/>
                  </a:lnTo>
                  <a:close/>
                  <a:moveTo>
                    <a:pt x="3895344" y="8137906"/>
                  </a:moveTo>
                  <a:lnTo>
                    <a:pt x="3793744" y="8137906"/>
                  </a:lnTo>
                  <a:lnTo>
                    <a:pt x="3793744" y="8103997"/>
                  </a:lnTo>
                  <a:lnTo>
                    <a:pt x="3895344" y="8103997"/>
                  </a:lnTo>
                  <a:close/>
                  <a:moveTo>
                    <a:pt x="3658235" y="8103997"/>
                  </a:moveTo>
                  <a:lnTo>
                    <a:pt x="3556635" y="8103997"/>
                  </a:lnTo>
                  <a:lnTo>
                    <a:pt x="3556635" y="8070088"/>
                  </a:lnTo>
                  <a:lnTo>
                    <a:pt x="3658235" y="8070088"/>
                  </a:lnTo>
                  <a:close/>
                  <a:moveTo>
                    <a:pt x="3421126" y="8070088"/>
                  </a:moveTo>
                  <a:lnTo>
                    <a:pt x="3319526" y="8070088"/>
                  </a:lnTo>
                  <a:lnTo>
                    <a:pt x="3319526" y="8036179"/>
                  </a:lnTo>
                  <a:lnTo>
                    <a:pt x="3421126" y="8036179"/>
                  </a:lnTo>
                  <a:close/>
                  <a:moveTo>
                    <a:pt x="3184017" y="8036179"/>
                  </a:moveTo>
                  <a:lnTo>
                    <a:pt x="3082417" y="8036179"/>
                  </a:lnTo>
                  <a:lnTo>
                    <a:pt x="3082417" y="8002270"/>
                  </a:lnTo>
                  <a:lnTo>
                    <a:pt x="3184017" y="8002270"/>
                  </a:lnTo>
                  <a:close/>
                  <a:moveTo>
                    <a:pt x="2946908" y="8002270"/>
                  </a:moveTo>
                  <a:lnTo>
                    <a:pt x="2845308" y="8002270"/>
                  </a:lnTo>
                  <a:lnTo>
                    <a:pt x="2845308" y="7968361"/>
                  </a:lnTo>
                  <a:lnTo>
                    <a:pt x="2946908" y="7968361"/>
                  </a:lnTo>
                  <a:close/>
                  <a:moveTo>
                    <a:pt x="2709799" y="7968361"/>
                  </a:moveTo>
                  <a:lnTo>
                    <a:pt x="2608199" y="7968361"/>
                  </a:lnTo>
                  <a:lnTo>
                    <a:pt x="2608199" y="7934452"/>
                  </a:lnTo>
                  <a:lnTo>
                    <a:pt x="2709799" y="7934452"/>
                  </a:lnTo>
                  <a:close/>
                  <a:moveTo>
                    <a:pt x="2472690" y="7934452"/>
                  </a:moveTo>
                  <a:lnTo>
                    <a:pt x="2371090" y="7934452"/>
                  </a:lnTo>
                  <a:lnTo>
                    <a:pt x="2371090" y="7900543"/>
                  </a:lnTo>
                  <a:lnTo>
                    <a:pt x="2472690" y="7900543"/>
                  </a:lnTo>
                  <a:close/>
                  <a:moveTo>
                    <a:pt x="2235581" y="7900543"/>
                  </a:moveTo>
                  <a:lnTo>
                    <a:pt x="2133981" y="7900543"/>
                  </a:lnTo>
                  <a:lnTo>
                    <a:pt x="2133981" y="7866634"/>
                  </a:lnTo>
                  <a:lnTo>
                    <a:pt x="2235581" y="7866634"/>
                  </a:lnTo>
                  <a:close/>
                  <a:moveTo>
                    <a:pt x="1998472" y="7866634"/>
                  </a:moveTo>
                  <a:lnTo>
                    <a:pt x="1896872" y="7866634"/>
                  </a:lnTo>
                  <a:lnTo>
                    <a:pt x="1896872" y="7832725"/>
                  </a:lnTo>
                  <a:lnTo>
                    <a:pt x="1998472" y="7832725"/>
                  </a:lnTo>
                  <a:close/>
                  <a:moveTo>
                    <a:pt x="1761363" y="7832725"/>
                  </a:moveTo>
                  <a:lnTo>
                    <a:pt x="1659763" y="7832725"/>
                  </a:lnTo>
                  <a:lnTo>
                    <a:pt x="1659763" y="7798816"/>
                  </a:lnTo>
                  <a:lnTo>
                    <a:pt x="1761363" y="7798816"/>
                  </a:lnTo>
                  <a:close/>
                  <a:moveTo>
                    <a:pt x="1524254" y="7798816"/>
                  </a:moveTo>
                  <a:lnTo>
                    <a:pt x="1422654" y="7798816"/>
                  </a:lnTo>
                  <a:lnTo>
                    <a:pt x="1422654" y="7764907"/>
                  </a:lnTo>
                  <a:lnTo>
                    <a:pt x="1524254" y="7764907"/>
                  </a:lnTo>
                  <a:close/>
                  <a:moveTo>
                    <a:pt x="1287145" y="7764907"/>
                  </a:moveTo>
                  <a:lnTo>
                    <a:pt x="1185545" y="7764907"/>
                  </a:lnTo>
                  <a:lnTo>
                    <a:pt x="1185545" y="7730998"/>
                  </a:lnTo>
                  <a:lnTo>
                    <a:pt x="1287145" y="7730998"/>
                  </a:lnTo>
                  <a:close/>
                  <a:moveTo>
                    <a:pt x="1050036" y="7730998"/>
                  </a:moveTo>
                  <a:lnTo>
                    <a:pt x="948436" y="7730998"/>
                  </a:lnTo>
                  <a:lnTo>
                    <a:pt x="948436" y="7697089"/>
                  </a:lnTo>
                  <a:lnTo>
                    <a:pt x="1050036" y="7697089"/>
                  </a:lnTo>
                  <a:close/>
                  <a:moveTo>
                    <a:pt x="812927" y="7697089"/>
                  </a:moveTo>
                  <a:lnTo>
                    <a:pt x="711327" y="7697089"/>
                  </a:lnTo>
                  <a:lnTo>
                    <a:pt x="711327" y="7663180"/>
                  </a:lnTo>
                  <a:lnTo>
                    <a:pt x="812927" y="7663180"/>
                  </a:lnTo>
                  <a:close/>
                  <a:moveTo>
                    <a:pt x="575818" y="7663180"/>
                  </a:moveTo>
                  <a:lnTo>
                    <a:pt x="474218" y="7663180"/>
                  </a:lnTo>
                  <a:lnTo>
                    <a:pt x="474218" y="7629271"/>
                  </a:lnTo>
                  <a:lnTo>
                    <a:pt x="575818" y="7629271"/>
                  </a:lnTo>
                  <a:close/>
                  <a:moveTo>
                    <a:pt x="338709" y="7629271"/>
                  </a:moveTo>
                  <a:lnTo>
                    <a:pt x="237109" y="7629271"/>
                  </a:lnTo>
                  <a:lnTo>
                    <a:pt x="237109" y="7595362"/>
                  </a:lnTo>
                  <a:lnTo>
                    <a:pt x="338709" y="7595362"/>
                  </a:lnTo>
                  <a:close/>
                  <a:moveTo>
                    <a:pt x="101600" y="7595362"/>
                  </a:moveTo>
                  <a:lnTo>
                    <a:pt x="0" y="7595362"/>
                  </a:lnTo>
                  <a:lnTo>
                    <a:pt x="0" y="7561453"/>
                  </a:lnTo>
                  <a:lnTo>
                    <a:pt x="101600" y="7561453"/>
                  </a:lnTo>
                  <a:close/>
                  <a:moveTo>
                    <a:pt x="1360297" y="9627362"/>
                  </a:moveTo>
                  <a:lnTo>
                    <a:pt x="1360297" y="9525762"/>
                  </a:lnTo>
                  <a:lnTo>
                    <a:pt x="1394206" y="9525762"/>
                  </a:lnTo>
                  <a:lnTo>
                    <a:pt x="1394206" y="9627362"/>
                  </a:lnTo>
                  <a:close/>
                  <a:moveTo>
                    <a:pt x="1394206" y="9390253"/>
                  </a:moveTo>
                  <a:lnTo>
                    <a:pt x="1394206" y="9288653"/>
                  </a:lnTo>
                  <a:lnTo>
                    <a:pt x="1394206" y="9390253"/>
                  </a:lnTo>
                  <a:close/>
                  <a:moveTo>
                    <a:pt x="1394206" y="9153144"/>
                  </a:moveTo>
                  <a:lnTo>
                    <a:pt x="1394206" y="9051544"/>
                  </a:lnTo>
                  <a:lnTo>
                    <a:pt x="1394206" y="9153144"/>
                  </a:lnTo>
                  <a:close/>
                  <a:moveTo>
                    <a:pt x="1394206" y="8916035"/>
                  </a:moveTo>
                  <a:lnTo>
                    <a:pt x="1394206" y="8814435"/>
                  </a:lnTo>
                  <a:lnTo>
                    <a:pt x="1394206" y="8916035"/>
                  </a:lnTo>
                  <a:close/>
                  <a:moveTo>
                    <a:pt x="1394206" y="8678926"/>
                  </a:moveTo>
                  <a:lnTo>
                    <a:pt x="1394206" y="8577326"/>
                  </a:lnTo>
                  <a:lnTo>
                    <a:pt x="1394206" y="8678926"/>
                  </a:lnTo>
                  <a:close/>
                  <a:moveTo>
                    <a:pt x="1394206" y="8441817"/>
                  </a:moveTo>
                  <a:lnTo>
                    <a:pt x="1394206" y="8340217"/>
                  </a:lnTo>
                  <a:lnTo>
                    <a:pt x="1394206" y="8441817"/>
                  </a:lnTo>
                  <a:close/>
                  <a:moveTo>
                    <a:pt x="1394206" y="8204708"/>
                  </a:moveTo>
                  <a:lnTo>
                    <a:pt x="1394206" y="8103108"/>
                  </a:lnTo>
                  <a:lnTo>
                    <a:pt x="1394206" y="8204708"/>
                  </a:lnTo>
                  <a:close/>
                  <a:moveTo>
                    <a:pt x="1394206" y="7967599"/>
                  </a:moveTo>
                  <a:lnTo>
                    <a:pt x="1394206" y="7865999"/>
                  </a:lnTo>
                  <a:lnTo>
                    <a:pt x="1394206" y="7967599"/>
                  </a:lnTo>
                  <a:close/>
                  <a:moveTo>
                    <a:pt x="1394206" y="7730490"/>
                  </a:moveTo>
                  <a:lnTo>
                    <a:pt x="1394206" y="7628890"/>
                  </a:lnTo>
                  <a:lnTo>
                    <a:pt x="1394206" y="7730490"/>
                  </a:lnTo>
                  <a:close/>
                  <a:moveTo>
                    <a:pt x="1394206" y="7493381"/>
                  </a:moveTo>
                  <a:lnTo>
                    <a:pt x="1394206" y="7391781"/>
                  </a:lnTo>
                  <a:lnTo>
                    <a:pt x="1394206" y="7493381"/>
                  </a:lnTo>
                  <a:close/>
                  <a:moveTo>
                    <a:pt x="1394206" y="7256272"/>
                  </a:moveTo>
                  <a:lnTo>
                    <a:pt x="1394206" y="7154672"/>
                  </a:lnTo>
                  <a:lnTo>
                    <a:pt x="1394206" y="7256272"/>
                  </a:lnTo>
                  <a:close/>
                  <a:moveTo>
                    <a:pt x="1394206" y="7019163"/>
                  </a:moveTo>
                  <a:lnTo>
                    <a:pt x="1394206" y="6917563"/>
                  </a:lnTo>
                  <a:lnTo>
                    <a:pt x="1394206" y="7019163"/>
                  </a:lnTo>
                  <a:close/>
                  <a:moveTo>
                    <a:pt x="1394206" y="6782054"/>
                  </a:moveTo>
                  <a:lnTo>
                    <a:pt x="1394206" y="6680454"/>
                  </a:lnTo>
                  <a:lnTo>
                    <a:pt x="1394206" y="6782054"/>
                  </a:lnTo>
                  <a:close/>
                  <a:moveTo>
                    <a:pt x="1394206" y="6544945"/>
                  </a:moveTo>
                  <a:lnTo>
                    <a:pt x="1394206" y="6443345"/>
                  </a:lnTo>
                  <a:lnTo>
                    <a:pt x="1394206" y="6544945"/>
                  </a:lnTo>
                  <a:close/>
                  <a:moveTo>
                    <a:pt x="1394206" y="6307836"/>
                  </a:moveTo>
                  <a:lnTo>
                    <a:pt x="1394206" y="6206236"/>
                  </a:lnTo>
                  <a:lnTo>
                    <a:pt x="1394206" y="6307836"/>
                  </a:lnTo>
                  <a:close/>
                  <a:moveTo>
                    <a:pt x="1394206" y="6070727"/>
                  </a:moveTo>
                  <a:lnTo>
                    <a:pt x="1394206" y="5969127"/>
                  </a:lnTo>
                  <a:lnTo>
                    <a:pt x="1394206" y="6070727"/>
                  </a:lnTo>
                  <a:close/>
                  <a:moveTo>
                    <a:pt x="1394206" y="5833618"/>
                  </a:moveTo>
                  <a:lnTo>
                    <a:pt x="1394206" y="5732018"/>
                  </a:lnTo>
                  <a:lnTo>
                    <a:pt x="1394206" y="5833618"/>
                  </a:lnTo>
                  <a:close/>
                  <a:moveTo>
                    <a:pt x="1394206" y="5596509"/>
                  </a:moveTo>
                  <a:lnTo>
                    <a:pt x="1394206" y="5494909"/>
                  </a:lnTo>
                  <a:lnTo>
                    <a:pt x="1394206" y="5596509"/>
                  </a:lnTo>
                  <a:close/>
                  <a:moveTo>
                    <a:pt x="1394206" y="5359400"/>
                  </a:moveTo>
                  <a:lnTo>
                    <a:pt x="1394206" y="5257800"/>
                  </a:lnTo>
                  <a:lnTo>
                    <a:pt x="1394206" y="5359400"/>
                  </a:lnTo>
                  <a:close/>
                  <a:moveTo>
                    <a:pt x="1394206" y="5122291"/>
                  </a:moveTo>
                  <a:lnTo>
                    <a:pt x="1394206" y="5020691"/>
                  </a:lnTo>
                  <a:lnTo>
                    <a:pt x="1394206" y="5122291"/>
                  </a:lnTo>
                  <a:close/>
                  <a:moveTo>
                    <a:pt x="1394206" y="4885182"/>
                  </a:moveTo>
                  <a:lnTo>
                    <a:pt x="1394206" y="4783582"/>
                  </a:lnTo>
                  <a:lnTo>
                    <a:pt x="1394206" y="4885182"/>
                  </a:lnTo>
                  <a:close/>
                  <a:moveTo>
                    <a:pt x="1394206" y="4648073"/>
                  </a:moveTo>
                  <a:lnTo>
                    <a:pt x="1394206" y="4546473"/>
                  </a:lnTo>
                  <a:lnTo>
                    <a:pt x="1394206" y="4648073"/>
                  </a:lnTo>
                  <a:close/>
                  <a:moveTo>
                    <a:pt x="1394206" y="4410964"/>
                  </a:moveTo>
                  <a:lnTo>
                    <a:pt x="1394206" y="4309364"/>
                  </a:lnTo>
                  <a:lnTo>
                    <a:pt x="1394206" y="4410964"/>
                  </a:lnTo>
                  <a:close/>
                  <a:moveTo>
                    <a:pt x="1394206" y="4173855"/>
                  </a:moveTo>
                  <a:lnTo>
                    <a:pt x="1394206" y="4072255"/>
                  </a:lnTo>
                  <a:lnTo>
                    <a:pt x="1394206" y="4173855"/>
                  </a:lnTo>
                  <a:close/>
                  <a:moveTo>
                    <a:pt x="1394206" y="3936746"/>
                  </a:moveTo>
                  <a:lnTo>
                    <a:pt x="1394206" y="3835146"/>
                  </a:lnTo>
                  <a:lnTo>
                    <a:pt x="1394206" y="3936746"/>
                  </a:lnTo>
                  <a:close/>
                  <a:moveTo>
                    <a:pt x="1394206" y="3699637"/>
                  </a:moveTo>
                  <a:lnTo>
                    <a:pt x="1394206" y="3598037"/>
                  </a:lnTo>
                  <a:lnTo>
                    <a:pt x="1394206" y="3699637"/>
                  </a:lnTo>
                  <a:close/>
                  <a:moveTo>
                    <a:pt x="1394206" y="3462528"/>
                  </a:moveTo>
                  <a:lnTo>
                    <a:pt x="1394206" y="3360928"/>
                  </a:lnTo>
                  <a:lnTo>
                    <a:pt x="1394206" y="3462528"/>
                  </a:lnTo>
                  <a:close/>
                  <a:moveTo>
                    <a:pt x="1394206" y="3225419"/>
                  </a:moveTo>
                  <a:lnTo>
                    <a:pt x="1394206" y="3123819"/>
                  </a:lnTo>
                  <a:lnTo>
                    <a:pt x="1394206" y="3225419"/>
                  </a:lnTo>
                  <a:close/>
                  <a:moveTo>
                    <a:pt x="1394206" y="2988310"/>
                  </a:moveTo>
                  <a:lnTo>
                    <a:pt x="1394206" y="2886710"/>
                  </a:lnTo>
                  <a:lnTo>
                    <a:pt x="1394206" y="2988310"/>
                  </a:lnTo>
                  <a:close/>
                  <a:moveTo>
                    <a:pt x="1394206" y="2751201"/>
                  </a:moveTo>
                  <a:lnTo>
                    <a:pt x="1394206" y="2649601"/>
                  </a:lnTo>
                  <a:lnTo>
                    <a:pt x="1394206" y="2751201"/>
                  </a:lnTo>
                  <a:close/>
                  <a:moveTo>
                    <a:pt x="1394206" y="2514092"/>
                  </a:moveTo>
                  <a:lnTo>
                    <a:pt x="1394206" y="2412492"/>
                  </a:lnTo>
                  <a:lnTo>
                    <a:pt x="1394206" y="2514092"/>
                  </a:lnTo>
                  <a:close/>
                  <a:moveTo>
                    <a:pt x="1394206" y="2276983"/>
                  </a:moveTo>
                  <a:lnTo>
                    <a:pt x="1394206" y="2175383"/>
                  </a:lnTo>
                  <a:lnTo>
                    <a:pt x="1394206" y="2276983"/>
                  </a:lnTo>
                  <a:close/>
                  <a:moveTo>
                    <a:pt x="1394206" y="2039874"/>
                  </a:moveTo>
                  <a:lnTo>
                    <a:pt x="1394206" y="1938274"/>
                  </a:lnTo>
                  <a:lnTo>
                    <a:pt x="1394206" y="2039874"/>
                  </a:lnTo>
                  <a:close/>
                  <a:moveTo>
                    <a:pt x="1394206" y="1802765"/>
                  </a:moveTo>
                  <a:lnTo>
                    <a:pt x="1394206" y="1701165"/>
                  </a:lnTo>
                  <a:lnTo>
                    <a:pt x="1394206" y="1802765"/>
                  </a:lnTo>
                  <a:close/>
                  <a:moveTo>
                    <a:pt x="1394206" y="1565656"/>
                  </a:moveTo>
                  <a:lnTo>
                    <a:pt x="1394206" y="1464056"/>
                  </a:lnTo>
                  <a:lnTo>
                    <a:pt x="1394206" y="1565656"/>
                  </a:lnTo>
                  <a:close/>
                  <a:moveTo>
                    <a:pt x="1394206" y="1328547"/>
                  </a:moveTo>
                  <a:lnTo>
                    <a:pt x="1394206" y="1226947"/>
                  </a:lnTo>
                  <a:lnTo>
                    <a:pt x="1394206" y="1328547"/>
                  </a:lnTo>
                  <a:close/>
                  <a:moveTo>
                    <a:pt x="1360297" y="1092962"/>
                  </a:moveTo>
                  <a:lnTo>
                    <a:pt x="1360297" y="991362"/>
                  </a:lnTo>
                  <a:lnTo>
                    <a:pt x="1394206" y="991362"/>
                  </a:lnTo>
                  <a:lnTo>
                    <a:pt x="1394206" y="1092962"/>
                  </a:lnTo>
                  <a:close/>
                  <a:moveTo>
                    <a:pt x="1360297" y="855853"/>
                  </a:moveTo>
                  <a:lnTo>
                    <a:pt x="1360297" y="754253"/>
                  </a:lnTo>
                  <a:lnTo>
                    <a:pt x="1394206" y="754253"/>
                  </a:lnTo>
                  <a:lnTo>
                    <a:pt x="1394206" y="855853"/>
                  </a:lnTo>
                  <a:close/>
                  <a:moveTo>
                    <a:pt x="1360297" y="618871"/>
                  </a:moveTo>
                  <a:lnTo>
                    <a:pt x="1360297" y="517271"/>
                  </a:lnTo>
                  <a:lnTo>
                    <a:pt x="1394206" y="517271"/>
                  </a:lnTo>
                  <a:lnTo>
                    <a:pt x="1394206" y="618871"/>
                  </a:lnTo>
                  <a:close/>
                  <a:moveTo>
                    <a:pt x="1360297" y="381762"/>
                  </a:moveTo>
                  <a:lnTo>
                    <a:pt x="1360297" y="280162"/>
                  </a:lnTo>
                  <a:lnTo>
                    <a:pt x="1394206" y="280162"/>
                  </a:lnTo>
                  <a:lnTo>
                    <a:pt x="1394206" y="381762"/>
                  </a:lnTo>
                  <a:close/>
                  <a:moveTo>
                    <a:pt x="1360297" y="144653"/>
                  </a:moveTo>
                  <a:lnTo>
                    <a:pt x="1360297" y="43053"/>
                  </a:lnTo>
                  <a:lnTo>
                    <a:pt x="1394206" y="43053"/>
                  </a:lnTo>
                  <a:lnTo>
                    <a:pt x="1394206" y="144653"/>
                  </a:lnTo>
                  <a:close/>
                  <a:moveTo>
                    <a:pt x="1377188" y="0"/>
                  </a:moveTo>
                  <a:lnTo>
                    <a:pt x="1478788" y="0"/>
                  </a:lnTo>
                  <a:lnTo>
                    <a:pt x="1478788" y="33909"/>
                  </a:lnTo>
                  <a:lnTo>
                    <a:pt x="1377188" y="33909"/>
                  </a:lnTo>
                  <a:close/>
                </a:path>
              </a:pathLst>
            </a:custGeom>
            <a:solidFill>
              <a:srgbClr val="1E2D45"/>
            </a:solidFill>
          </p:spPr>
        </p:sp>
      </p:grpSp>
      <p:grpSp>
        <p:nvGrpSpPr>
          <p:cNvPr id="17" name="Group 17"/>
          <p:cNvGrpSpPr/>
          <p:nvPr/>
        </p:nvGrpSpPr>
        <p:grpSpPr>
          <a:xfrm rot="0">
            <a:off x="12749708" y="2132752"/>
            <a:ext cx="4728029" cy="1086107"/>
            <a:chOff x="0" y="0"/>
            <a:chExt cx="6304039" cy="1448143"/>
          </a:xfrm>
        </p:grpSpPr>
        <p:sp>
          <p:nvSpPr>
            <p:cNvPr id="18" name="Freeform 18"/>
            <p:cNvSpPr/>
            <p:nvPr/>
          </p:nvSpPr>
          <p:spPr>
            <a:xfrm>
              <a:off x="16891" y="16891"/>
              <a:ext cx="6270244" cy="1414272"/>
            </a:xfrm>
            <a:custGeom>
              <a:avLst/>
              <a:gdLst/>
              <a:ahLst/>
              <a:cxnLst/>
              <a:rect l="l" t="t" r="r" b="b"/>
              <a:pathLst>
                <a:path w="6270244" h="1414272">
                  <a:moveTo>
                    <a:pt x="0" y="0"/>
                  </a:moveTo>
                  <a:lnTo>
                    <a:pt x="6270244" y="0"/>
                  </a:lnTo>
                  <a:lnTo>
                    <a:pt x="6270244" y="1414272"/>
                  </a:lnTo>
                  <a:lnTo>
                    <a:pt x="0" y="1414272"/>
                  </a:lnTo>
                  <a:close/>
                </a:path>
              </a:pathLst>
            </a:custGeom>
            <a:solidFill>
              <a:srgbClr val="1A2236"/>
            </a:solidFill>
          </p:spPr>
        </p:sp>
        <p:sp>
          <p:nvSpPr>
            <p:cNvPr id="19" name="Freeform 19"/>
            <p:cNvSpPr/>
            <p:nvPr/>
          </p:nvSpPr>
          <p:spPr>
            <a:xfrm>
              <a:off x="0" y="0"/>
              <a:ext cx="6304026" cy="1448054"/>
            </a:xfrm>
            <a:custGeom>
              <a:avLst/>
              <a:gdLst/>
              <a:ahLst/>
              <a:cxnLst/>
              <a:rect l="l" t="t" r="r" b="b"/>
              <a:pathLst>
                <a:path w="6304026" h="1448054">
                  <a:moveTo>
                    <a:pt x="16891" y="0"/>
                  </a:moveTo>
                  <a:lnTo>
                    <a:pt x="6287135" y="0"/>
                  </a:lnTo>
                  <a:cubicBezTo>
                    <a:pt x="6296533" y="0"/>
                    <a:pt x="6304026" y="7620"/>
                    <a:pt x="6304026" y="16891"/>
                  </a:cubicBezTo>
                  <a:lnTo>
                    <a:pt x="6304026" y="1431163"/>
                  </a:lnTo>
                  <a:cubicBezTo>
                    <a:pt x="6304026" y="1440561"/>
                    <a:pt x="6296406" y="1448054"/>
                    <a:pt x="6287135" y="1448054"/>
                  </a:cubicBezTo>
                  <a:lnTo>
                    <a:pt x="16891" y="1448054"/>
                  </a:lnTo>
                  <a:cubicBezTo>
                    <a:pt x="7493" y="1448054"/>
                    <a:pt x="0" y="1440434"/>
                    <a:pt x="0" y="143116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431163"/>
                  </a:lnTo>
                  <a:lnTo>
                    <a:pt x="16891" y="1431163"/>
                  </a:lnTo>
                  <a:lnTo>
                    <a:pt x="16891" y="1414272"/>
                  </a:lnTo>
                  <a:lnTo>
                    <a:pt x="6287135" y="1414272"/>
                  </a:lnTo>
                  <a:lnTo>
                    <a:pt x="6287135" y="1431163"/>
                  </a:lnTo>
                  <a:lnTo>
                    <a:pt x="6270244" y="1431163"/>
                  </a:lnTo>
                  <a:lnTo>
                    <a:pt x="6270244" y="16891"/>
                  </a:lnTo>
                  <a:lnTo>
                    <a:pt x="6287135" y="16891"/>
                  </a:lnTo>
                  <a:lnTo>
                    <a:pt x="628713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E2D45"/>
            </a:solidFill>
          </p:spPr>
        </p:sp>
      </p:grpSp>
      <p:grpSp>
        <p:nvGrpSpPr>
          <p:cNvPr id="20" name="Group 20"/>
          <p:cNvGrpSpPr/>
          <p:nvPr/>
        </p:nvGrpSpPr>
        <p:grpSpPr>
          <a:xfrm rot="0">
            <a:off x="12749708" y="2132752"/>
            <a:ext cx="135131" cy="1086107"/>
            <a:chOff x="0" y="0"/>
            <a:chExt cx="180175" cy="1448143"/>
          </a:xfrm>
        </p:grpSpPr>
        <p:sp>
          <p:nvSpPr>
            <p:cNvPr id="21" name="Freeform 21"/>
            <p:cNvSpPr/>
            <p:nvPr/>
          </p:nvSpPr>
          <p:spPr>
            <a:xfrm>
              <a:off x="16891" y="16891"/>
              <a:ext cx="146304" cy="1414272"/>
            </a:xfrm>
            <a:custGeom>
              <a:avLst/>
              <a:gdLst/>
              <a:ahLst/>
              <a:cxnLst/>
              <a:rect l="l" t="t" r="r" b="b"/>
              <a:pathLst>
                <a:path w="146304" h="1414272">
                  <a:moveTo>
                    <a:pt x="0" y="0"/>
                  </a:moveTo>
                  <a:lnTo>
                    <a:pt x="146304" y="0"/>
                  </a:lnTo>
                  <a:lnTo>
                    <a:pt x="146304" y="1414272"/>
                  </a:lnTo>
                  <a:lnTo>
                    <a:pt x="0" y="1414272"/>
                  </a:lnTo>
                  <a:close/>
                </a:path>
              </a:pathLst>
            </a:custGeom>
            <a:solidFill>
              <a:srgbClr val="38BDF8"/>
            </a:solidFill>
          </p:spPr>
        </p:sp>
        <p:sp>
          <p:nvSpPr>
            <p:cNvPr id="22" name="Freeform 22"/>
            <p:cNvSpPr/>
            <p:nvPr/>
          </p:nvSpPr>
          <p:spPr>
            <a:xfrm>
              <a:off x="0" y="0"/>
              <a:ext cx="180086" cy="1448054"/>
            </a:xfrm>
            <a:custGeom>
              <a:avLst/>
              <a:gdLst/>
              <a:ahLst/>
              <a:cxnLst/>
              <a:rect l="l" t="t" r="r" b="b"/>
              <a:pathLst>
                <a:path w="180086" h="1448054">
                  <a:moveTo>
                    <a:pt x="16891" y="0"/>
                  </a:moveTo>
                  <a:lnTo>
                    <a:pt x="163195" y="0"/>
                  </a:lnTo>
                  <a:cubicBezTo>
                    <a:pt x="172593" y="0"/>
                    <a:pt x="180086" y="7620"/>
                    <a:pt x="180086" y="16891"/>
                  </a:cubicBezTo>
                  <a:lnTo>
                    <a:pt x="180086" y="1431163"/>
                  </a:lnTo>
                  <a:cubicBezTo>
                    <a:pt x="180086" y="1440561"/>
                    <a:pt x="172466" y="1448054"/>
                    <a:pt x="163195" y="1448054"/>
                  </a:cubicBezTo>
                  <a:lnTo>
                    <a:pt x="16891" y="1448054"/>
                  </a:lnTo>
                  <a:cubicBezTo>
                    <a:pt x="7493" y="1448054"/>
                    <a:pt x="0" y="1440434"/>
                    <a:pt x="0" y="143116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431163"/>
                  </a:lnTo>
                  <a:lnTo>
                    <a:pt x="16891" y="1431163"/>
                  </a:lnTo>
                  <a:lnTo>
                    <a:pt x="16891" y="1414272"/>
                  </a:lnTo>
                  <a:lnTo>
                    <a:pt x="163195" y="1414272"/>
                  </a:lnTo>
                  <a:lnTo>
                    <a:pt x="163195" y="1431163"/>
                  </a:lnTo>
                  <a:lnTo>
                    <a:pt x="146304" y="1431163"/>
                  </a:lnTo>
                  <a:lnTo>
                    <a:pt x="146304" y="16891"/>
                  </a:lnTo>
                  <a:lnTo>
                    <a:pt x="163195" y="16891"/>
                  </a:lnTo>
                  <a:lnTo>
                    <a:pt x="16319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8BDF8"/>
            </a:solidFill>
          </p:spPr>
        </p:sp>
      </p:grpSp>
      <p:grpSp>
        <p:nvGrpSpPr>
          <p:cNvPr id="23" name="Group 23"/>
          <p:cNvGrpSpPr/>
          <p:nvPr/>
        </p:nvGrpSpPr>
        <p:grpSpPr>
          <a:xfrm rot="0">
            <a:off x="13002768" y="2212848"/>
            <a:ext cx="5120640" cy="402336"/>
            <a:chOff x="0" y="0"/>
            <a:chExt cx="6827520" cy="536448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6827520" cy="536448"/>
            </a:xfrm>
            <a:custGeom>
              <a:avLst/>
              <a:gdLst/>
              <a:ahLst/>
              <a:cxnLst/>
              <a:rect l="l" t="t" r="r" b="b"/>
              <a:pathLst>
                <a:path w="6827520" h="536448">
                  <a:moveTo>
                    <a:pt x="0" y="0"/>
                  </a:moveTo>
                  <a:lnTo>
                    <a:pt x="6827520" y="0"/>
                  </a:lnTo>
                  <a:lnTo>
                    <a:pt x="682752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1">
                <a:alphaModFix amt="0"/>
              </a:blip>
              <a:stretch>
                <a:fillRect t="-197991" b="-197991"/>
              </a:stretch>
            </a:blipFill>
          </p:spPr>
        </p:sp>
        <p:sp>
          <p:nvSpPr>
            <p:cNvPr id="25" name="TextBox 25"/>
            <p:cNvSpPr txBox="1"/>
            <p:nvPr/>
          </p:nvSpPr>
          <p:spPr>
            <a:xfrm>
              <a:off x="0" y="-38100"/>
              <a:ext cx="6827520" cy="57454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800"/>
                </a:lnSpc>
              </a:pPr>
              <a:r>
                <a:rPr lang="en-US" sz="1500" b="1">
                  <a:solidFill>
                    <a:srgbClr val="38BDF8"/>
                  </a:solidFill>
                  <a:latin typeface="Calibri (MS) Bold" panose="020F0702030404030204"/>
                  <a:ea typeface="Calibri (MS) Bold" panose="020F0702030404030204"/>
                  <a:cs typeface="Calibri (MS) Bold" panose="020F0702030404030204"/>
                  <a:sym typeface="Calibri (MS) Bold" panose="020F0702030404030204"/>
                </a:rPr>
                <a:t>MOD-01</a:t>
              </a:r>
              <a:endParaRPr lang="en-US" sz="1500" b="1">
                <a:solidFill>
                  <a:srgbClr val="38BDF8"/>
                </a:solidFill>
                <a:latin typeface="Calibri (MS) Bold" panose="020F0702030404030204"/>
                <a:ea typeface="Calibri (MS) Bold" panose="020F0702030404030204"/>
                <a:cs typeface="Calibri (MS) Bold" panose="020F0702030404030204"/>
                <a:sym typeface="Calibri (MS) Bold" panose="020F0702030404030204"/>
              </a:endParaRPr>
            </a:p>
          </p:txBody>
        </p:sp>
      </p:grpSp>
      <p:grpSp>
        <p:nvGrpSpPr>
          <p:cNvPr id="26" name="Group 26"/>
          <p:cNvGrpSpPr/>
          <p:nvPr/>
        </p:nvGrpSpPr>
        <p:grpSpPr>
          <a:xfrm rot="0">
            <a:off x="13002768" y="2596896"/>
            <a:ext cx="5120640" cy="402336"/>
            <a:chOff x="0" y="0"/>
            <a:chExt cx="6827520" cy="536448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6827520" cy="536448"/>
            </a:xfrm>
            <a:custGeom>
              <a:avLst/>
              <a:gdLst/>
              <a:ahLst/>
              <a:cxnLst/>
              <a:rect l="l" t="t" r="r" b="b"/>
              <a:pathLst>
                <a:path w="6827520" h="536448">
                  <a:moveTo>
                    <a:pt x="0" y="0"/>
                  </a:moveTo>
                  <a:lnTo>
                    <a:pt x="6827520" y="0"/>
                  </a:lnTo>
                  <a:lnTo>
                    <a:pt x="682752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1">
                <a:alphaModFix amt="0"/>
              </a:blip>
              <a:stretch>
                <a:fillRect t="-197991" b="-197991"/>
              </a:stretch>
            </a:blipFill>
          </p:spPr>
        </p:sp>
        <p:sp>
          <p:nvSpPr>
            <p:cNvPr id="28" name="TextBox 28"/>
            <p:cNvSpPr txBox="1"/>
            <p:nvPr/>
          </p:nvSpPr>
          <p:spPr>
            <a:xfrm>
              <a:off x="0" y="-47625"/>
              <a:ext cx="6827520" cy="58407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E2E8F0"/>
                  </a:solidFill>
                  <a:latin typeface="Calibri (MS)" panose="020F0502020204030204"/>
                  <a:ea typeface="Calibri (MS)" panose="020F0502020204030204"/>
                  <a:cs typeface="Calibri (MS)" panose="020F0502020204030204"/>
                  <a:sym typeface="Calibri (MS)" panose="020F0502020204030204"/>
                </a:rPr>
                <a:t>Auth &amp; Session Manager</a:t>
              </a:r>
              <a:endParaRPr lang="en-US" sz="2100">
                <a:solidFill>
                  <a:srgbClr val="E2E8F0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endParaRPr>
            </a:p>
          </p:txBody>
        </p:sp>
      </p:grpSp>
      <p:grpSp>
        <p:nvGrpSpPr>
          <p:cNvPr id="29" name="Group 29"/>
          <p:cNvGrpSpPr/>
          <p:nvPr/>
        </p:nvGrpSpPr>
        <p:grpSpPr>
          <a:xfrm rot="0">
            <a:off x="12749708" y="3376336"/>
            <a:ext cx="4728029" cy="1086107"/>
            <a:chOff x="0" y="0"/>
            <a:chExt cx="6304039" cy="1448143"/>
          </a:xfrm>
        </p:grpSpPr>
        <p:sp>
          <p:nvSpPr>
            <p:cNvPr id="30" name="Freeform 30"/>
            <p:cNvSpPr/>
            <p:nvPr/>
          </p:nvSpPr>
          <p:spPr>
            <a:xfrm>
              <a:off x="16891" y="16891"/>
              <a:ext cx="6270244" cy="1414272"/>
            </a:xfrm>
            <a:custGeom>
              <a:avLst/>
              <a:gdLst/>
              <a:ahLst/>
              <a:cxnLst/>
              <a:rect l="l" t="t" r="r" b="b"/>
              <a:pathLst>
                <a:path w="6270244" h="1414272">
                  <a:moveTo>
                    <a:pt x="0" y="0"/>
                  </a:moveTo>
                  <a:lnTo>
                    <a:pt x="6270244" y="0"/>
                  </a:lnTo>
                  <a:lnTo>
                    <a:pt x="6270244" y="1414272"/>
                  </a:lnTo>
                  <a:lnTo>
                    <a:pt x="0" y="1414272"/>
                  </a:lnTo>
                  <a:close/>
                </a:path>
              </a:pathLst>
            </a:custGeom>
            <a:solidFill>
              <a:srgbClr val="1A2236"/>
            </a:solidFill>
          </p:spPr>
        </p:sp>
        <p:sp>
          <p:nvSpPr>
            <p:cNvPr id="31" name="Freeform 31"/>
            <p:cNvSpPr/>
            <p:nvPr/>
          </p:nvSpPr>
          <p:spPr>
            <a:xfrm>
              <a:off x="0" y="0"/>
              <a:ext cx="6304026" cy="1448054"/>
            </a:xfrm>
            <a:custGeom>
              <a:avLst/>
              <a:gdLst/>
              <a:ahLst/>
              <a:cxnLst/>
              <a:rect l="l" t="t" r="r" b="b"/>
              <a:pathLst>
                <a:path w="6304026" h="1448054">
                  <a:moveTo>
                    <a:pt x="16891" y="0"/>
                  </a:moveTo>
                  <a:lnTo>
                    <a:pt x="6287135" y="0"/>
                  </a:lnTo>
                  <a:cubicBezTo>
                    <a:pt x="6296533" y="0"/>
                    <a:pt x="6304026" y="7620"/>
                    <a:pt x="6304026" y="16891"/>
                  </a:cubicBezTo>
                  <a:lnTo>
                    <a:pt x="6304026" y="1431163"/>
                  </a:lnTo>
                  <a:cubicBezTo>
                    <a:pt x="6304026" y="1440561"/>
                    <a:pt x="6296406" y="1448054"/>
                    <a:pt x="6287135" y="1448054"/>
                  </a:cubicBezTo>
                  <a:lnTo>
                    <a:pt x="16891" y="1448054"/>
                  </a:lnTo>
                  <a:cubicBezTo>
                    <a:pt x="7493" y="1448054"/>
                    <a:pt x="0" y="1440434"/>
                    <a:pt x="0" y="143116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431163"/>
                  </a:lnTo>
                  <a:lnTo>
                    <a:pt x="16891" y="1431163"/>
                  </a:lnTo>
                  <a:lnTo>
                    <a:pt x="16891" y="1414272"/>
                  </a:lnTo>
                  <a:lnTo>
                    <a:pt x="6287135" y="1414272"/>
                  </a:lnTo>
                  <a:lnTo>
                    <a:pt x="6287135" y="1431163"/>
                  </a:lnTo>
                  <a:lnTo>
                    <a:pt x="6270244" y="1431163"/>
                  </a:lnTo>
                  <a:lnTo>
                    <a:pt x="6270244" y="16891"/>
                  </a:lnTo>
                  <a:lnTo>
                    <a:pt x="6287135" y="16891"/>
                  </a:lnTo>
                  <a:lnTo>
                    <a:pt x="628713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E2D45"/>
            </a:solidFill>
          </p:spPr>
        </p:sp>
      </p:grpSp>
      <p:grpSp>
        <p:nvGrpSpPr>
          <p:cNvPr id="32" name="Group 32"/>
          <p:cNvGrpSpPr/>
          <p:nvPr/>
        </p:nvGrpSpPr>
        <p:grpSpPr>
          <a:xfrm rot="0">
            <a:off x="12749708" y="3376336"/>
            <a:ext cx="135131" cy="1086107"/>
            <a:chOff x="0" y="0"/>
            <a:chExt cx="180175" cy="1448143"/>
          </a:xfrm>
        </p:grpSpPr>
        <p:sp>
          <p:nvSpPr>
            <p:cNvPr id="33" name="Freeform 33"/>
            <p:cNvSpPr/>
            <p:nvPr/>
          </p:nvSpPr>
          <p:spPr>
            <a:xfrm>
              <a:off x="16891" y="16891"/>
              <a:ext cx="146304" cy="1414272"/>
            </a:xfrm>
            <a:custGeom>
              <a:avLst/>
              <a:gdLst/>
              <a:ahLst/>
              <a:cxnLst/>
              <a:rect l="l" t="t" r="r" b="b"/>
              <a:pathLst>
                <a:path w="146304" h="1414272">
                  <a:moveTo>
                    <a:pt x="0" y="0"/>
                  </a:moveTo>
                  <a:lnTo>
                    <a:pt x="146304" y="0"/>
                  </a:lnTo>
                  <a:lnTo>
                    <a:pt x="146304" y="1414272"/>
                  </a:lnTo>
                  <a:lnTo>
                    <a:pt x="0" y="1414272"/>
                  </a:lnTo>
                  <a:close/>
                </a:path>
              </a:pathLst>
            </a:custGeom>
            <a:solidFill>
              <a:srgbClr val="34D399"/>
            </a:solidFill>
          </p:spPr>
        </p:sp>
        <p:sp>
          <p:nvSpPr>
            <p:cNvPr id="34" name="Freeform 34"/>
            <p:cNvSpPr/>
            <p:nvPr/>
          </p:nvSpPr>
          <p:spPr>
            <a:xfrm>
              <a:off x="0" y="0"/>
              <a:ext cx="180086" cy="1448054"/>
            </a:xfrm>
            <a:custGeom>
              <a:avLst/>
              <a:gdLst/>
              <a:ahLst/>
              <a:cxnLst/>
              <a:rect l="l" t="t" r="r" b="b"/>
              <a:pathLst>
                <a:path w="180086" h="1448054">
                  <a:moveTo>
                    <a:pt x="16891" y="0"/>
                  </a:moveTo>
                  <a:lnTo>
                    <a:pt x="163195" y="0"/>
                  </a:lnTo>
                  <a:cubicBezTo>
                    <a:pt x="172593" y="0"/>
                    <a:pt x="180086" y="7620"/>
                    <a:pt x="180086" y="16891"/>
                  </a:cubicBezTo>
                  <a:lnTo>
                    <a:pt x="180086" y="1431163"/>
                  </a:lnTo>
                  <a:cubicBezTo>
                    <a:pt x="180086" y="1440561"/>
                    <a:pt x="172466" y="1448054"/>
                    <a:pt x="163195" y="1448054"/>
                  </a:cubicBezTo>
                  <a:lnTo>
                    <a:pt x="16891" y="1448054"/>
                  </a:lnTo>
                  <a:cubicBezTo>
                    <a:pt x="7493" y="1448054"/>
                    <a:pt x="0" y="1440434"/>
                    <a:pt x="0" y="143116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431163"/>
                  </a:lnTo>
                  <a:lnTo>
                    <a:pt x="16891" y="1431163"/>
                  </a:lnTo>
                  <a:lnTo>
                    <a:pt x="16891" y="1414272"/>
                  </a:lnTo>
                  <a:lnTo>
                    <a:pt x="163195" y="1414272"/>
                  </a:lnTo>
                  <a:lnTo>
                    <a:pt x="163195" y="1431163"/>
                  </a:lnTo>
                  <a:lnTo>
                    <a:pt x="146304" y="1431163"/>
                  </a:lnTo>
                  <a:lnTo>
                    <a:pt x="146304" y="16891"/>
                  </a:lnTo>
                  <a:lnTo>
                    <a:pt x="163195" y="16891"/>
                  </a:lnTo>
                  <a:lnTo>
                    <a:pt x="16319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4D399"/>
            </a:solidFill>
          </p:spPr>
        </p:sp>
      </p:grpSp>
      <p:grpSp>
        <p:nvGrpSpPr>
          <p:cNvPr id="35" name="Group 35"/>
          <p:cNvGrpSpPr/>
          <p:nvPr/>
        </p:nvGrpSpPr>
        <p:grpSpPr>
          <a:xfrm rot="0">
            <a:off x="13002768" y="3430838"/>
            <a:ext cx="5120640" cy="402336"/>
            <a:chOff x="0" y="0"/>
            <a:chExt cx="6827520" cy="536448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6827520" cy="536448"/>
            </a:xfrm>
            <a:custGeom>
              <a:avLst/>
              <a:gdLst/>
              <a:ahLst/>
              <a:cxnLst/>
              <a:rect l="l" t="t" r="r" b="b"/>
              <a:pathLst>
                <a:path w="6827520" h="536448">
                  <a:moveTo>
                    <a:pt x="0" y="0"/>
                  </a:moveTo>
                  <a:lnTo>
                    <a:pt x="6827520" y="0"/>
                  </a:lnTo>
                  <a:lnTo>
                    <a:pt x="682752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1">
                <a:alphaModFix amt="0"/>
              </a:blip>
              <a:stretch>
                <a:fillRect t="-197991" b="-197991"/>
              </a:stretch>
            </a:blipFill>
          </p:spPr>
        </p:sp>
        <p:sp>
          <p:nvSpPr>
            <p:cNvPr id="37" name="TextBox 37"/>
            <p:cNvSpPr txBox="1"/>
            <p:nvPr/>
          </p:nvSpPr>
          <p:spPr>
            <a:xfrm>
              <a:off x="0" y="-38100"/>
              <a:ext cx="6827520" cy="57454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800"/>
                </a:lnSpc>
              </a:pPr>
              <a:r>
                <a:rPr lang="en-US" sz="1500" b="1">
                  <a:solidFill>
                    <a:srgbClr val="34D399"/>
                  </a:solidFill>
                  <a:latin typeface="Calibri (MS) Bold" panose="020F0702030404030204"/>
                  <a:ea typeface="Calibri (MS) Bold" panose="020F0702030404030204"/>
                  <a:cs typeface="Calibri (MS) Bold" panose="020F0702030404030204"/>
                  <a:sym typeface="Calibri (MS) Bold" panose="020F0702030404030204"/>
                </a:rPr>
                <a:t>MOD-02</a:t>
              </a:r>
              <a:endParaRPr lang="en-US" sz="1500" b="1">
                <a:solidFill>
                  <a:srgbClr val="34D399"/>
                </a:solidFill>
                <a:latin typeface="Calibri (MS) Bold" panose="020F0702030404030204"/>
                <a:ea typeface="Calibri (MS) Bold" panose="020F0702030404030204"/>
                <a:cs typeface="Calibri (MS) Bold" panose="020F0702030404030204"/>
                <a:sym typeface="Calibri (MS) Bold" panose="020F0702030404030204"/>
              </a:endParaRPr>
            </a:p>
          </p:txBody>
        </p:sp>
      </p:grpSp>
      <p:grpSp>
        <p:nvGrpSpPr>
          <p:cNvPr id="38" name="Group 38"/>
          <p:cNvGrpSpPr/>
          <p:nvPr/>
        </p:nvGrpSpPr>
        <p:grpSpPr>
          <a:xfrm rot="0">
            <a:off x="13002768" y="3846233"/>
            <a:ext cx="5120640" cy="402336"/>
            <a:chOff x="0" y="0"/>
            <a:chExt cx="6827520" cy="536448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6827520" cy="536448"/>
            </a:xfrm>
            <a:custGeom>
              <a:avLst/>
              <a:gdLst/>
              <a:ahLst/>
              <a:cxnLst/>
              <a:rect l="l" t="t" r="r" b="b"/>
              <a:pathLst>
                <a:path w="6827520" h="536448">
                  <a:moveTo>
                    <a:pt x="0" y="0"/>
                  </a:moveTo>
                  <a:lnTo>
                    <a:pt x="6827520" y="0"/>
                  </a:lnTo>
                  <a:lnTo>
                    <a:pt x="682752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1">
                <a:alphaModFix amt="0"/>
              </a:blip>
              <a:stretch>
                <a:fillRect t="-197991" b="-197991"/>
              </a:stretch>
            </a:blipFill>
          </p:spPr>
        </p:sp>
        <p:sp>
          <p:nvSpPr>
            <p:cNvPr id="40" name="TextBox 40"/>
            <p:cNvSpPr txBox="1"/>
            <p:nvPr/>
          </p:nvSpPr>
          <p:spPr>
            <a:xfrm>
              <a:off x="0" y="-38100"/>
              <a:ext cx="6827520" cy="57454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E2E8F0"/>
                  </a:solidFill>
                  <a:latin typeface="Calibri (MS)" panose="020F0502020204030204"/>
                  <a:ea typeface="Calibri (MS)" panose="020F0502020204030204"/>
                  <a:cs typeface="Calibri (MS)" panose="020F0502020204030204"/>
                  <a:sym typeface="Calibri (MS)" panose="020F0502020204030204"/>
                </a:rPr>
                <a:t>BLE Sensor Manager</a:t>
              </a:r>
              <a:endParaRPr lang="en-US" sz="2000">
                <a:solidFill>
                  <a:srgbClr val="E2E8F0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endParaRPr>
            </a:p>
          </p:txBody>
        </p:sp>
      </p:grpSp>
      <p:grpSp>
        <p:nvGrpSpPr>
          <p:cNvPr id="41" name="Group 41"/>
          <p:cNvGrpSpPr/>
          <p:nvPr/>
        </p:nvGrpSpPr>
        <p:grpSpPr>
          <a:xfrm rot="0">
            <a:off x="12749708" y="4619920"/>
            <a:ext cx="4728029" cy="1086107"/>
            <a:chOff x="0" y="0"/>
            <a:chExt cx="6304039" cy="1448143"/>
          </a:xfrm>
        </p:grpSpPr>
        <p:sp>
          <p:nvSpPr>
            <p:cNvPr id="42" name="Freeform 42"/>
            <p:cNvSpPr/>
            <p:nvPr/>
          </p:nvSpPr>
          <p:spPr>
            <a:xfrm>
              <a:off x="16891" y="16891"/>
              <a:ext cx="6270244" cy="1414272"/>
            </a:xfrm>
            <a:custGeom>
              <a:avLst/>
              <a:gdLst/>
              <a:ahLst/>
              <a:cxnLst/>
              <a:rect l="l" t="t" r="r" b="b"/>
              <a:pathLst>
                <a:path w="6270244" h="1414272">
                  <a:moveTo>
                    <a:pt x="0" y="0"/>
                  </a:moveTo>
                  <a:lnTo>
                    <a:pt x="6270244" y="0"/>
                  </a:lnTo>
                  <a:lnTo>
                    <a:pt x="6270244" y="1414272"/>
                  </a:lnTo>
                  <a:lnTo>
                    <a:pt x="0" y="1414272"/>
                  </a:lnTo>
                  <a:close/>
                </a:path>
              </a:pathLst>
            </a:custGeom>
            <a:solidFill>
              <a:srgbClr val="1A2236"/>
            </a:solidFill>
          </p:spPr>
        </p:sp>
        <p:sp>
          <p:nvSpPr>
            <p:cNvPr id="43" name="Freeform 43"/>
            <p:cNvSpPr/>
            <p:nvPr/>
          </p:nvSpPr>
          <p:spPr>
            <a:xfrm>
              <a:off x="0" y="0"/>
              <a:ext cx="6304026" cy="1448054"/>
            </a:xfrm>
            <a:custGeom>
              <a:avLst/>
              <a:gdLst/>
              <a:ahLst/>
              <a:cxnLst/>
              <a:rect l="l" t="t" r="r" b="b"/>
              <a:pathLst>
                <a:path w="6304026" h="1448054">
                  <a:moveTo>
                    <a:pt x="16891" y="0"/>
                  </a:moveTo>
                  <a:lnTo>
                    <a:pt x="6287135" y="0"/>
                  </a:lnTo>
                  <a:cubicBezTo>
                    <a:pt x="6296533" y="0"/>
                    <a:pt x="6304026" y="7620"/>
                    <a:pt x="6304026" y="16891"/>
                  </a:cubicBezTo>
                  <a:lnTo>
                    <a:pt x="6304026" y="1431163"/>
                  </a:lnTo>
                  <a:cubicBezTo>
                    <a:pt x="6304026" y="1440561"/>
                    <a:pt x="6296406" y="1448054"/>
                    <a:pt x="6287135" y="1448054"/>
                  </a:cubicBezTo>
                  <a:lnTo>
                    <a:pt x="16891" y="1448054"/>
                  </a:lnTo>
                  <a:cubicBezTo>
                    <a:pt x="7493" y="1448054"/>
                    <a:pt x="0" y="1440434"/>
                    <a:pt x="0" y="143116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431163"/>
                  </a:lnTo>
                  <a:lnTo>
                    <a:pt x="16891" y="1431163"/>
                  </a:lnTo>
                  <a:lnTo>
                    <a:pt x="16891" y="1414272"/>
                  </a:lnTo>
                  <a:lnTo>
                    <a:pt x="6287135" y="1414272"/>
                  </a:lnTo>
                  <a:lnTo>
                    <a:pt x="6287135" y="1431163"/>
                  </a:lnTo>
                  <a:lnTo>
                    <a:pt x="6270244" y="1431163"/>
                  </a:lnTo>
                  <a:lnTo>
                    <a:pt x="6270244" y="16891"/>
                  </a:lnTo>
                  <a:lnTo>
                    <a:pt x="6287135" y="16891"/>
                  </a:lnTo>
                  <a:lnTo>
                    <a:pt x="628713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E2D45"/>
            </a:solidFill>
          </p:spPr>
        </p:sp>
      </p:grpSp>
      <p:grpSp>
        <p:nvGrpSpPr>
          <p:cNvPr id="44" name="Group 44"/>
          <p:cNvGrpSpPr/>
          <p:nvPr/>
        </p:nvGrpSpPr>
        <p:grpSpPr>
          <a:xfrm rot="0">
            <a:off x="12749708" y="4619920"/>
            <a:ext cx="135131" cy="1086107"/>
            <a:chOff x="0" y="0"/>
            <a:chExt cx="180175" cy="1448143"/>
          </a:xfrm>
        </p:grpSpPr>
        <p:sp>
          <p:nvSpPr>
            <p:cNvPr id="45" name="Freeform 45"/>
            <p:cNvSpPr/>
            <p:nvPr/>
          </p:nvSpPr>
          <p:spPr>
            <a:xfrm>
              <a:off x="16891" y="16891"/>
              <a:ext cx="146304" cy="1414272"/>
            </a:xfrm>
            <a:custGeom>
              <a:avLst/>
              <a:gdLst/>
              <a:ahLst/>
              <a:cxnLst/>
              <a:rect l="l" t="t" r="r" b="b"/>
              <a:pathLst>
                <a:path w="146304" h="1414272">
                  <a:moveTo>
                    <a:pt x="0" y="0"/>
                  </a:moveTo>
                  <a:lnTo>
                    <a:pt x="146304" y="0"/>
                  </a:lnTo>
                  <a:lnTo>
                    <a:pt x="146304" y="1414272"/>
                  </a:lnTo>
                  <a:lnTo>
                    <a:pt x="0" y="1414272"/>
                  </a:lnTo>
                  <a:close/>
                </a:path>
              </a:pathLst>
            </a:custGeom>
            <a:solidFill>
              <a:srgbClr val="38BDF8"/>
            </a:solidFill>
          </p:spPr>
        </p:sp>
        <p:sp>
          <p:nvSpPr>
            <p:cNvPr id="46" name="Freeform 46"/>
            <p:cNvSpPr/>
            <p:nvPr/>
          </p:nvSpPr>
          <p:spPr>
            <a:xfrm>
              <a:off x="0" y="0"/>
              <a:ext cx="180086" cy="1448054"/>
            </a:xfrm>
            <a:custGeom>
              <a:avLst/>
              <a:gdLst/>
              <a:ahLst/>
              <a:cxnLst/>
              <a:rect l="l" t="t" r="r" b="b"/>
              <a:pathLst>
                <a:path w="180086" h="1448054">
                  <a:moveTo>
                    <a:pt x="16891" y="0"/>
                  </a:moveTo>
                  <a:lnTo>
                    <a:pt x="163195" y="0"/>
                  </a:lnTo>
                  <a:cubicBezTo>
                    <a:pt x="172593" y="0"/>
                    <a:pt x="180086" y="7620"/>
                    <a:pt x="180086" y="16891"/>
                  </a:cubicBezTo>
                  <a:lnTo>
                    <a:pt x="180086" y="1431163"/>
                  </a:lnTo>
                  <a:cubicBezTo>
                    <a:pt x="180086" y="1440561"/>
                    <a:pt x="172466" y="1448054"/>
                    <a:pt x="163195" y="1448054"/>
                  </a:cubicBezTo>
                  <a:lnTo>
                    <a:pt x="16891" y="1448054"/>
                  </a:lnTo>
                  <a:cubicBezTo>
                    <a:pt x="7493" y="1448054"/>
                    <a:pt x="0" y="1440434"/>
                    <a:pt x="0" y="143116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431163"/>
                  </a:lnTo>
                  <a:lnTo>
                    <a:pt x="16891" y="1431163"/>
                  </a:lnTo>
                  <a:lnTo>
                    <a:pt x="16891" y="1414272"/>
                  </a:lnTo>
                  <a:lnTo>
                    <a:pt x="163195" y="1414272"/>
                  </a:lnTo>
                  <a:lnTo>
                    <a:pt x="163195" y="1431163"/>
                  </a:lnTo>
                  <a:lnTo>
                    <a:pt x="146304" y="1431163"/>
                  </a:lnTo>
                  <a:lnTo>
                    <a:pt x="146304" y="16891"/>
                  </a:lnTo>
                  <a:lnTo>
                    <a:pt x="163195" y="16891"/>
                  </a:lnTo>
                  <a:lnTo>
                    <a:pt x="16319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8BDF8"/>
            </a:solidFill>
          </p:spPr>
        </p:sp>
      </p:grpSp>
      <p:grpSp>
        <p:nvGrpSpPr>
          <p:cNvPr id="47" name="Group 47"/>
          <p:cNvGrpSpPr/>
          <p:nvPr/>
        </p:nvGrpSpPr>
        <p:grpSpPr>
          <a:xfrm rot="0">
            <a:off x="13002768" y="4687481"/>
            <a:ext cx="5120640" cy="402336"/>
            <a:chOff x="0" y="0"/>
            <a:chExt cx="6827520" cy="536448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6827520" cy="536448"/>
            </a:xfrm>
            <a:custGeom>
              <a:avLst/>
              <a:gdLst/>
              <a:ahLst/>
              <a:cxnLst/>
              <a:rect l="l" t="t" r="r" b="b"/>
              <a:pathLst>
                <a:path w="6827520" h="536448">
                  <a:moveTo>
                    <a:pt x="0" y="0"/>
                  </a:moveTo>
                  <a:lnTo>
                    <a:pt x="6827520" y="0"/>
                  </a:lnTo>
                  <a:lnTo>
                    <a:pt x="682752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1">
                <a:alphaModFix amt="0"/>
              </a:blip>
              <a:stretch>
                <a:fillRect t="-197991" b="-197991"/>
              </a:stretch>
            </a:blipFill>
          </p:spPr>
        </p:sp>
        <p:sp>
          <p:nvSpPr>
            <p:cNvPr id="49" name="TextBox 49"/>
            <p:cNvSpPr txBox="1"/>
            <p:nvPr/>
          </p:nvSpPr>
          <p:spPr>
            <a:xfrm>
              <a:off x="0" y="-38100"/>
              <a:ext cx="6827520" cy="57454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800"/>
                </a:lnSpc>
              </a:pPr>
              <a:r>
                <a:rPr lang="en-US" sz="1500" b="1">
                  <a:solidFill>
                    <a:srgbClr val="38BDF8"/>
                  </a:solidFill>
                  <a:latin typeface="Calibri (MS) Bold" panose="020F0702030404030204"/>
                  <a:ea typeface="Calibri (MS) Bold" panose="020F0702030404030204"/>
                  <a:cs typeface="Calibri (MS) Bold" panose="020F0702030404030204"/>
                  <a:sym typeface="Calibri (MS) Bold" panose="020F0702030404030204"/>
                </a:rPr>
                <a:t>MOD-03</a:t>
              </a:r>
              <a:endParaRPr lang="en-US" sz="1500" b="1">
                <a:solidFill>
                  <a:srgbClr val="38BDF8"/>
                </a:solidFill>
                <a:latin typeface="Calibri (MS) Bold" panose="020F0702030404030204"/>
                <a:ea typeface="Calibri (MS) Bold" panose="020F0702030404030204"/>
                <a:cs typeface="Calibri (MS) Bold" panose="020F0702030404030204"/>
                <a:sym typeface="Calibri (MS) Bold" panose="020F0702030404030204"/>
              </a:endParaRPr>
            </a:p>
          </p:txBody>
        </p:sp>
      </p:grpSp>
      <p:grpSp>
        <p:nvGrpSpPr>
          <p:cNvPr id="50" name="Group 50"/>
          <p:cNvGrpSpPr/>
          <p:nvPr/>
        </p:nvGrpSpPr>
        <p:grpSpPr>
          <a:xfrm rot="0">
            <a:off x="13002768" y="5089817"/>
            <a:ext cx="5120640" cy="402336"/>
            <a:chOff x="0" y="0"/>
            <a:chExt cx="6827520" cy="536448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6827520" cy="536448"/>
            </a:xfrm>
            <a:custGeom>
              <a:avLst/>
              <a:gdLst/>
              <a:ahLst/>
              <a:cxnLst/>
              <a:rect l="l" t="t" r="r" b="b"/>
              <a:pathLst>
                <a:path w="6827520" h="536448">
                  <a:moveTo>
                    <a:pt x="0" y="0"/>
                  </a:moveTo>
                  <a:lnTo>
                    <a:pt x="6827520" y="0"/>
                  </a:lnTo>
                  <a:lnTo>
                    <a:pt x="682752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1">
                <a:alphaModFix amt="0"/>
              </a:blip>
              <a:stretch>
                <a:fillRect t="-197991" b="-197991"/>
              </a:stretch>
            </a:blipFill>
          </p:spPr>
        </p:sp>
        <p:sp>
          <p:nvSpPr>
            <p:cNvPr id="52" name="TextBox 52"/>
            <p:cNvSpPr txBox="1"/>
            <p:nvPr/>
          </p:nvSpPr>
          <p:spPr>
            <a:xfrm>
              <a:off x="0" y="-38100"/>
              <a:ext cx="6827520" cy="57454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E2E8F0"/>
                  </a:solidFill>
                  <a:latin typeface="Calibri (MS)" panose="020F0502020204030204"/>
                  <a:ea typeface="Calibri (MS)" panose="020F0502020204030204"/>
                  <a:cs typeface="Calibri (MS)" panose="020F0502020204030204"/>
                  <a:sym typeface="Calibri (MS)" panose="020F0502020204030204"/>
                </a:rPr>
                <a:t>Exercise Controller</a:t>
              </a:r>
              <a:endParaRPr lang="en-US" sz="2000">
                <a:solidFill>
                  <a:srgbClr val="E2E8F0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endParaRPr>
            </a:p>
          </p:txBody>
        </p:sp>
      </p:grpSp>
      <p:grpSp>
        <p:nvGrpSpPr>
          <p:cNvPr id="53" name="Group 53"/>
          <p:cNvGrpSpPr/>
          <p:nvPr/>
        </p:nvGrpSpPr>
        <p:grpSpPr>
          <a:xfrm rot="0">
            <a:off x="12749708" y="5863504"/>
            <a:ext cx="4728029" cy="1086107"/>
            <a:chOff x="0" y="0"/>
            <a:chExt cx="6304039" cy="1448143"/>
          </a:xfrm>
        </p:grpSpPr>
        <p:sp>
          <p:nvSpPr>
            <p:cNvPr id="54" name="Freeform 54"/>
            <p:cNvSpPr/>
            <p:nvPr/>
          </p:nvSpPr>
          <p:spPr>
            <a:xfrm>
              <a:off x="16891" y="16891"/>
              <a:ext cx="6270244" cy="1414272"/>
            </a:xfrm>
            <a:custGeom>
              <a:avLst/>
              <a:gdLst/>
              <a:ahLst/>
              <a:cxnLst/>
              <a:rect l="l" t="t" r="r" b="b"/>
              <a:pathLst>
                <a:path w="6270244" h="1414272">
                  <a:moveTo>
                    <a:pt x="0" y="0"/>
                  </a:moveTo>
                  <a:lnTo>
                    <a:pt x="6270244" y="0"/>
                  </a:lnTo>
                  <a:lnTo>
                    <a:pt x="6270244" y="1414272"/>
                  </a:lnTo>
                  <a:lnTo>
                    <a:pt x="0" y="1414272"/>
                  </a:lnTo>
                  <a:close/>
                </a:path>
              </a:pathLst>
            </a:custGeom>
            <a:solidFill>
              <a:srgbClr val="1A2236"/>
            </a:solidFill>
          </p:spPr>
        </p:sp>
        <p:sp>
          <p:nvSpPr>
            <p:cNvPr id="55" name="Freeform 55"/>
            <p:cNvSpPr/>
            <p:nvPr/>
          </p:nvSpPr>
          <p:spPr>
            <a:xfrm>
              <a:off x="0" y="0"/>
              <a:ext cx="6304026" cy="1448054"/>
            </a:xfrm>
            <a:custGeom>
              <a:avLst/>
              <a:gdLst/>
              <a:ahLst/>
              <a:cxnLst/>
              <a:rect l="l" t="t" r="r" b="b"/>
              <a:pathLst>
                <a:path w="6304026" h="1448054">
                  <a:moveTo>
                    <a:pt x="16891" y="0"/>
                  </a:moveTo>
                  <a:lnTo>
                    <a:pt x="6287135" y="0"/>
                  </a:lnTo>
                  <a:cubicBezTo>
                    <a:pt x="6296533" y="0"/>
                    <a:pt x="6304026" y="7620"/>
                    <a:pt x="6304026" y="16891"/>
                  </a:cubicBezTo>
                  <a:lnTo>
                    <a:pt x="6304026" y="1431163"/>
                  </a:lnTo>
                  <a:cubicBezTo>
                    <a:pt x="6304026" y="1440561"/>
                    <a:pt x="6296406" y="1448054"/>
                    <a:pt x="6287135" y="1448054"/>
                  </a:cubicBezTo>
                  <a:lnTo>
                    <a:pt x="16891" y="1448054"/>
                  </a:lnTo>
                  <a:cubicBezTo>
                    <a:pt x="7493" y="1448054"/>
                    <a:pt x="0" y="1440434"/>
                    <a:pt x="0" y="143116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431163"/>
                  </a:lnTo>
                  <a:lnTo>
                    <a:pt x="16891" y="1431163"/>
                  </a:lnTo>
                  <a:lnTo>
                    <a:pt x="16891" y="1414272"/>
                  </a:lnTo>
                  <a:lnTo>
                    <a:pt x="6287135" y="1414272"/>
                  </a:lnTo>
                  <a:lnTo>
                    <a:pt x="6287135" y="1431163"/>
                  </a:lnTo>
                  <a:lnTo>
                    <a:pt x="6270244" y="1431163"/>
                  </a:lnTo>
                  <a:lnTo>
                    <a:pt x="6270244" y="16891"/>
                  </a:lnTo>
                  <a:lnTo>
                    <a:pt x="6287135" y="16891"/>
                  </a:lnTo>
                  <a:lnTo>
                    <a:pt x="628713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E2D45"/>
            </a:solidFill>
          </p:spPr>
        </p:sp>
      </p:grpSp>
      <p:grpSp>
        <p:nvGrpSpPr>
          <p:cNvPr id="56" name="Group 56"/>
          <p:cNvGrpSpPr/>
          <p:nvPr/>
        </p:nvGrpSpPr>
        <p:grpSpPr>
          <a:xfrm rot="0">
            <a:off x="12749708" y="5863504"/>
            <a:ext cx="135131" cy="1086107"/>
            <a:chOff x="0" y="0"/>
            <a:chExt cx="180175" cy="1448143"/>
          </a:xfrm>
        </p:grpSpPr>
        <p:sp>
          <p:nvSpPr>
            <p:cNvPr id="57" name="Freeform 57"/>
            <p:cNvSpPr/>
            <p:nvPr/>
          </p:nvSpPr>
          <p:spPr>
            <a:xfrm>
              <a:off x="16891" y="16891"/>
              <a:ext cx="146304" cy="1414272"/>
            </a:xfrm>
            <a:custGeom>
              <a:avLst/>
              <a:gdLst/>
              <a:ahLst/>
              <a:cxnLst/>
              <a:rect l="l" t="t" r="r" b="b"/>
              <a:pathLst>
                <a:path w="146304" h="1414272">
                  <a:moveTo>
                    <a:pt x="0" y="0"/>
                  </a:moveTo>
                  <a:lnTo>
                    <a:pt x="146304" y="0"/>
                  </a:lnTo>
                  <a:lnTo>
                    <a:pt x="146304" y="1414272"/>
                  </a:lnTo>
                  <a:lnTo>
                    <a:pt x="0" y="1414272"/>
                  </a:lnTo>
                  <a:close/>
                </a:path>
              </a:pathLst>
            </a:custGeom>
            <a:solidFill>
              <a:srgbClr val="60A5FA"/>
            </a:solidFill>
          </p:spPr>
        </p:sp>
        <p:sp>
          <p:nvSpPr>
            <p:cNvPr id="58" name="Freeform 58"/>
            <p:cNvSpPr/>
            <p:nvPr/>
          </p:nvSpPr>
          <p:spPr>
            <a:xfrm>
              <a:off x="0" y="0"/>
              <a:ext cx="180086" cy="1448054"/>
            </a:xfrm>
            <a:custGeom>
              <a:avLst/>
              <a:gdLst/>
              <a:ahLst/>
              <a:cxnLst/>
              <a:rect l="l" t="t" r="r" b="b"/>
              <a:pathLst>
                <a:path w="180086" h="1448054">
                  <a:moveTo>
                    <a:pt x="16891" y="0"/>
                  </a:moveTo>
                  <a:lnTo>
                    <a:pt x="163195" y="0"/>
                  </a:lnTo>
                  <a:cubicBezTo>
                    <a:pt x="172593" y="0"/>
                    <a:pt x="180086" y="7620"/>
                    <a:pt x="180086" y="16891"/>
                  </a:cubicBezTo>
                  <a:lnTo>
                    <a:pt x="180086" y="1431163"/>
                  </a:lnTo>
                  <a:cubicBezTo>
                    <a:pt x="180086" y="1440561"/>
                    <a:pt x="172466" y="1448054"/>
                    <a:pt x="163195" y="1448054"/>
                  </a:cubicBezTo>
                  <a:lnTo>
                    <a:pt x="16891" y="1448054"/>
                  </a:lnTo>
                  <a:cubicBezTo>
                    <a:pt x="7493" y="1448054"/>
                    <a:pt x="0" y="1440434"/>
                    <a:pt x="0" y="143116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431163"/>
                  </a:lnTo>
                  <a:lnTo>
                    <a:pt x="16891" y="1431163"/>
                  </a:lnTo>
                  <a:lnTo>
                    <a:pt x="16891" y="1414272"/>
                  </a:lnTo>
                  <a:lnTo>
                    <a:pt x="163195" y="1414272"/>
                  </a:lnTo>
                  <a:lnTo>
                    <a:pt x="163195" y="1431163"/>
                  </a:lnTo>
                  <a:lnTo>
                    <a:pt x="146304" y="1431163"/>
                  </a:lnTo>
                  <a:lnTo>
                    <a:pt x="146304" y="16891"/>
                  </a:lnTo>
                  <a:lnTo>
                    <a:pt x="163195" y="16891"/>
                  </a:lnTo>
                  <a:lnTo>
                    <a:pt x="16319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60A5FA"/>
            </a:solidFill>
          </p:spPr>
        </p:sp>
      </p:grpSp>
      <p:grpSp>
        <p:nvGrpSpPr>
          <p:cNvPr id="59" name="Group 59"/>
          <p:cNvGrpSpPr/>
          <p:nvPr/>
        </p:nvGrpSpPr>
        <p:grpSpPr>
          <a:xfrm rot="0">
            <a:off x="13002768" y="5905471"/>
            <a:ext cx="5120640" cy="402336"/>
            <a:chOff x="0" y="0"/>
            <a:chExt cx="6827520" cy="536448"/>
          </a:xfrm>
        </p:grpSpPr>
        <p:sp>
          <p:nvSpPr>
            <p:cNvPr id="60" name="Freeform 60"/>
            <p:cNvSpPr/>
            <p:nvPr/>
          </p:nvSpPr>
          <p:spPr>
            <a:xfrm>
              <a:off x="0" y="0"/>
              <a:ext cx="6827520" cy="536448"/>
            </a:xfrm>
            <a:custGeom>
              <a:avLst/>
              <a:gdLst/>
              <a:ahLst/>
              <a:cxnLst/>
              <a:rect l="l" t="t" r="r" b="b"/>
              <a:pathLst>
                <a:path w="6827520" h="536448">
                  <a:moveTo>
                    <a:pt x="0" y="0"/>
                  </a:moveTo>
                  <a:lnTo>
                    <a:pt x="6827520" y="0"/>
                  </a:lnTo>
                  <a:lnTo>
                    <a:pt x="682752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1">
                <a:alphaModFix amt="0"/>
              </a:blip>
              <a:stretch>
                <a:fillRect t="-197991" b="-197991"/>
              </a:stretch>
            </a:blipFill>
          </p:spPr>
        </p:sp>
        <p:sp>
          <p:nvSpPr>
            <p:cNvPr id="61" name="TextBox 61"/>
            <p:cNvSpPr txBox="1"/>
            <p:nvPr/>
          </p:nvSpPr>
          <p:spPr>
            <a:xfrm>
              <a:off x="0" y="-38100"/>
              <a:ext cx="6827520" cy="57454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800"/>
                </a:lnSpc>
              </a:pPr>
              <a:r>
                <a:rPr lang="en-US" sz="1500" b="1">
                  <a:solidFill>
                    <a:srgbClr val="60A5FA"/>
                  </a:solidFill>
                  <a:latin typeface="Calibri (MS) Bold" panose="020F0702030404030204"/>
                  <a:ea typeface="Calibri (MS) Bold" panose="020F0702030404030204"/>
                  <a:cs typeface="Calibri (MS) Bold" panose="020F0702030404030204"/>
                  <a:sym typeface="Calibri (MS) Bold" panose="020F0702030404030204"/>
                </a:rPr>
                <a:t>MOD-04</a:t>
              </a:r>
              <a:endParaRPr lang="en-US" sz="1500" b="1">
                <a:solidFill>
                  <a:srgbClr val="60A5FA"/>
                </a:solidFill>
                <a:latin typeface="Calibri (MS) Bold" panose="020F0702030404030204"/>
                <a:ea typeface="Calibri (MS) Bold" panose="020F0702030404030204"/>
                <a:cs typeface="Calibri (MS) Bold" panose="020F0702030404030204"/>
                <a:sym typeface="Calibri (MS) Bold" panose="020F0702030404030204"/>
              </a:endParaRPr>
            </a:p>
          </p:txBody>
        </p:sp>
      </p:grpSp>
      <p:grpSp>
        <p:nvGrpSpPr>
          <p:cNvPr id="62" name="Group 62"/>
          <p:cNvGrpSpPr/>
          <p:nvPr/>
        </p:nvGrpSpPr>
        <p:grpSpPr>
          <a:xfrm rot="0">
            <a:off x="13002768" y="6307807"/>
            <a:ext cx="5120640" cy="402336"/>
            <a:chOff x="0" y="0"/>
            <a:chExt cx="6827520" cy="536448"/>
          </a:xfrm>
        </p:grpSpPr>
        <p:sp>
          <p:nvSpPr>
            <p:cNvPr id="63" name="Freeform 63"/>
            <p:cNvSpPr/>
            <p:nvPr/>
          </p:nvSpPr>
          <p:spPr>
            <a:xfrm>
              <a:off x="0" y="0"/>
              <a:ext cx="6827520" cy="536448"/>
            </a:xfrm>
            <a:custGeom>
              <a:avLst/>
              <a:gdLst/>
              <a:ahLst/>
              <a:cxnLst/>
              <a:rect l="l" t="t" r="r" b="b"/>
              <a:pathLst>
                <a:path w="6827520" h="536448">
                  <a:moveTo>
                    <a:pt x="0" y="0"/>
                  </a:moveTo>
                  <a:lnTo>
                    <a:pt x="6827520" y="0"/>
                  </a:lnTo>
                  <a:lnTo>
                    <a:pt x="682752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1">
                <a:alphaModFix amt="0"/>
              </a:blip>
              <a:stretch>
                <a:fillRect t="-197991" b="-197991"/>
              </a:stretch>
            </a:blipFill>
          </p:spPr>
        </p:sp>
        <p:sp>
          <p:nvSpPr>
            <p:cNvPr id="64" name="TextBox 64"/>
            <p:cNvSpPr txBox="1"/>
            <p:nvPr/>
          </p:nvSpPr>
          <p:spPr>
            <a:xfrm>
              <a:off x="0" y="-38100"/>
              <a:ext cx="6827520" cy="57454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E2E8F0"/>
                  </a:solidFill>
                  <a:latin typeface="Calibri (MS)" panose="020F0502020204030204"/>
                  <a:ea typeface="Calibri (MS)" panose="020F0502020204030204"/>
                  <a:cs typeface="Calibri (MS)" panose="020F0502020204030204"/>
                  <a:sym typeface="Calibri (MS)" panose="020F0502020204030204"/>
                </a:rPr>
                <a:t>RT Feedback</a:t>
              </a:r>
              <a:endParaRPr lang="en-US" sz="2000">
                <a:solidFill>
                  <a:srgbClr val="E2E8F0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endParaRPr>
            </a:p>
          </p:txBody>
        </p:sp>
      </p:grpSp>
      <p:grpSp>
        <p:nvGrpSpPr>
          <p:cNvPr id="65" name="Group 65"/>
          <p:cNvGrpSpPr/>
          <p:nvPr/>
        </p:nvGrpSpPr>
        <p:grpSpPr>
          <a:xfrm rot="0">
            <a:off x="12749708" y="7107088"/>
            <a:ext cx="4728029" cy="1086107"/>
            <a:chOff x="0" y="0"/>
            <a:chExt cx="6304039" cy="1448143"/>
          </a:xfrm>
        </p:grpSpPr>
        <p:sp>
          <p:nvSpPr>
            <p:cNvPr id="66" name="Freeform 66"/>
            <p:cNvSpPr/>
            <p:nvPr/>
          </p:nvSpPr>
          <p:spPr>
            <a:xfrm>
              <a:off x="16891" y="16891"/>
              <a:ext cx="6270244" cy="1414272"/>
            </a:xfrm>
            <a:custGeom>
              <a:avLst/>
              <a:gdLst/>
              <a:ahLst/>
              <a:cxnLst/>
              <a:rect l="l" t="t" r="r" b="b"/>
              <a:pathLst>
                <a:path w="6270244" h="1414272">
                  <a:moveTo>
                    <a:pt x="0" y="0"/>
                  </a:moveTo>
                  <a:lnTo>
                    <a:pt x="6270244" y="0"/>
                  </a:lnTo>
                  <a:lnTo>
                    <a:pt x="6270244" y="1414272"/>
                  </a:lnTo>
                  <a:lnTo>
                    <a:pt x="0" y="1414272"/>
                  </a:lnTo>
                  <a:close/>
                </a:path>
              </a:pathLst>
            </a:custGeom>
            <a:solidFill>
              <a:srgbClr val="1A2236"/>
            </a:solidFill>
          </p:spPr>
        </p:sp>
        <p:sp>
          <p:nvSpPr>
            <p:cNvPr id="67" name="Freeform 67"/>
            <p:cNvSpPr/>
            <p:nvPr/>
          </p:nvSpPr>
          <p:spPr>
            <a:xfrm>
              <a:off x="0" y="0"/>
              <a:ext cx="6304026" cy="1448054"/>
            </a:xfrm>
            <a:custGeom>
              <a:avLst/>
              <a:gdLst/>
              <a:ahLst/>
              <a:cxnLst/>
              <a:rect l="l" t="t" r="r" b="b"/>
              <a:pathLst>
                <a:path w="6304026" h="1448054">
                  <a:moveTo>
                    <a:pt x="16891" y="0"/>
                  </a:moveTo>
                  <a:lnTo>
                    <a:pt x="6287135" y="0"/>
                  </a:lnTo>
                  <a:cubicBezTo>
                    <a:pt x="6296533" y="0"/>
                    <a:pt x="6304026" y="7620"/>
                    <a:pt x="6304026" y="16891"/>
                  </a:cubicBezTo>
                  <a:lnTo>
                    <a:pt x="6304026" y="1431163"/>
                  </a:lnTo>
                  <a:cubicBezTo>
                    <a:pt x="6304026" y="1440561"/>
                    <a:pt x="6296406" y="1448054"/>
                    <a:pt x="6287135" y="1448054"/>
                  </a:cubicBezTo>
                  <a:lnTo>
                    <a:pt x="16891" y="1448054"/>
                  </a:lnTo>
                  <a:cubicBezTo>
                    <a:pt x="7493" y="1448054"/>
                    <a:pt x="0" y="1440434"/>
                    <a:pt x="0" y="143116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431163"/>
                  </a:lnTo>
                  <a:lnTo>
                    <a:pt x="16891" y="1431163"/>
                  </a:lnTo>
                  <a:lnTo>
                    <a:pt x="16891" y="1414272"/>
                  </a:lnTo>
                  <a:lnTo>
                    <a:pt x="6287135" y="1414272"/>
                  </a:lnTo>
                  <a:lnTo>
                    <a:pt x="6287135" y="1431163"/>
                  </a:lnTo>
                  <a:lnTo>
                    <a:pt x="6270244" y="1431163"/>
                  </a:lnTo>
                  <a:lnTo>
                    <a:pt x="6270244" y="16891"/>
                  </a:lnTo>
                  <a:lnTo>
                    <a:pt x="6287135" y="16891"/>
                  </a:lnTo>
                  <a:lnTo>
                    <a:pt x="628713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E2D45"/>
            </a:solidFill>
          </p:spPr>
        </p:sp>
      </p:grpSp>
      <p:grpSp>
        <p:nvGrpSpPr>
          <p:cNvPr id="68" name="Group 68"/>
          <p:cNvGrpSpPr/>
          <p:nvPr/>
        </p:nvGrpSpPr>
        <p:grpSpPr>
          <a:xfrm rot="0">
            <a:off x="12749708" y="7107088"/>
            <a:ext cx="135131" cy="1086107"/>
            <a:chOff x="0" y="0"/>
            <a:chExt cx="180175" cy="1448143"/>
          </a:xfrm>
        </p:grpSpPr>
        <p:sp>
          <p:nvSpPr>
            <p:cNvPr id="69" name="Freeform 69"/>
            <p:cNvSpPr/>
            <p:nvPr/>
          </p:nvSpPr>
          <p:spPr>
            <a:xfrm>
              <a:off x="16891" y="16891"/>
              <a:ext cx="146304" cy="1414272"/>
            </a:xfrm>
            <a:custGeom>
              <a:avLst/>
              <a:gdLst/>
              <a:ahLst/>
              <a:cxnLst/>
              <a:rect l="l" t="t" r="r" b="b"/>
              <a:pathLst>
                <a:path w="146304" h="1414272">
                  <a:moveTo>
                    <a:pt x="0" y="0"/>
                  </a:moveTo>
                  <a:lnTo>
                    <a:pt x="146304" y="0"/>
                  </a:lnTo>
                  <a:lnTo>
                    <a:pt x="146304" y="1414272"/>
                  </a:lnTo>
                  <a:lnTo>
                    <a:pt x="0" y="1414272"/>
                  </a:lnTo>
                  <a:close/>
                </a:path>
              </a:pathLst>
            </a:custGeom>
            <a:solidFill>
              <a:srgbClr val="C084FC"/>
            </a:solidFill>
          </p:spPr>
        </p:sp>
        <p:sp>
          <p:nvSpPr>
            <p:cNvPr id="70" name="Freeform 70"/>
            <p:cNvSpPr/>
            <p:nvPr/>
          </p:nvSpPr>
          <p:spPr>
            <a:xfrm>
              <a:off x="0" y="0"/>
              <a:ext cx="180086" cy="1448054"/>
            </a:xfrm>
            <a:custGeom>
              <a:avLst/>
              <a:gdLst/>
              <a:ahLst/>
              <a:cxnLst/>
              <a:rect l="l" t="t" r="r" b="b"/>
              <a:pathLst>
                <a:path w="180086" h="1448054">
                  <a:moveTo>
                    <a:pt x="16891" y="0"/>
                  </a:moveTo>
                  <a:lnTo>
                    <a:pt x="163195" y="0"/>
                  </a:lnTo>
                  <a:cubicBezTo>
                    <a:pt x="172593" y="0"/>
                    <a:pt x="180086" y="7620"/>
                    <a:pt x="180086" y="16891"/>
                  </a:cubicBezTo>
                  <a:lnTo>
                    <a:pt x="180086" y="1431163"/>
                  </a:lnTo>
                  <a:cubicBezTo>
                    <a:pt x="180086" y="1440561"/>
                    <a:pt x="172466" y="1448054"/>
                    <a:pt x="163195" y="1448054"/>
                  </a:cubicBezTo>
                  <a:lnTo>
                    <a:pt x="16891" y="1448054"/>
                  </a:lnTo>
                  <a:cubicBezTo>
                    <a:pt x="7493" y="1448054"/>
                    <a:pt x="0" y="1440434"/>
                    <a:pt x="0" y="143116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431163"/>
                  </a:lnTo>
                  <a:lnTo>
                    <a:pt x="16891" y="1431163"/>
                  </a:lnTo>
                  <a:lnTo>
                    <a:pt x="16891" y="1414272"/>
                  </a:lnTo>
                  <a:lnTo>
                    <a:pt x="163195" y="1414272"/>
                  </a:lnTo>
                  <a:lnTo>
                    <a:pt x="163195" y="1431163"/>
                  </a:lnTo>
                  <a:lnTo>
                    <a:pt x="146304" y="1431163"/>
                  </a:lnTo>
                  <a:lnTo>
                    <a:pt x="146304" y="16891"/>
                  </a:lnTo>
                  <a:lnTo>
                    <a:pt x="163195" y="16891"/>
                  </a:lnTo>
                  <a:lnTo>
                    <a:pt x="16319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C084FC"/>
            </a:solidFill>
          </p:spPr>
        </p:sp>
      </p:grpSp>
      <p:grpSp>
        <p:nvGrpSpPr>
          <p:cNvPr id="71" name="Group 71"/>
          <p:cNvGrpSpPr/>
          <p:nvPr/>
        </p:nvGrpSpPr>
        <p:grpSpPr>
          <a:xfrm rot="0">
            <a:off x="13002768" y="7187184"/>
            <a:ext cx="5120640" cy="402336"/>
            <a:chOff x="0" y="0"/>
            <a:chExt cx="6827520" cy="536448"/>
          </a:xfrm>
        </p:grpSpPr>
        <p:sp>
          <p:nvSpPr>
            <p:cNvPr id="72" name="Freeform 72"/>
            <p:cNvSpPr/>
            <p:nvPr/>
          </p:nvSpPr>
          <p:spPr>
            <a:xfrm>
              <a:off x="0" y="0"/>
              <a:ext cx="6827520" cy="536448"/>
            </a:xfrm>
            <a:custGeom>
              <a:avLst/>
              <a:gdLst/>
              <a:ahLst/>
              <a:cxnLst/>
              <a:rect l="l" t="t" r="r" b="b"/>
              <a:pathLst>
                <a:path w="6827520" h="536448">
                  <a:moveTo>
                    <a:pt x="0" y="0"/>
                  </a:moveTo>
                  <a:lnTo>
                    <a:pt x="6827520" y="0"/>
                  </a:lnTo>
                  <a:lnTo>
                    <a:pt x="682752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1">
                <a:alphaModFix amt="0"/>
              </a:blip>
              <a:stretch>
                <a:fillRect t="-197991" b="-197991"/>
              </a:stretch>
            </a:blipFill>
          </p:spPr>
        </p:sp>
        <p:sp>
          <p:nvSpPr>
            <p:cNvPr id="73" name="TextBox 73"/>
            <p:cNvSpPr txBox="1"/>
            <p:nvPr/>
          </p:nvSpPr>
          <p:spPr>
            <a:xfrm>
              <a:off x="0" y="-38100"/>
              <a:ext cx="6827520" cy="57454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800"/>
                </a:lnSpc>
              </a:pPr>
              <a:r>
                <a:rPr lang="en-US" sz="1500" b="1">
                  <a:solidFill>
                    <a:srgbClr val="C084FC"/>
                  </a:solidFill>
                  <a:latin typeface="Calibri (MS) Bold" panose="020F0702030404030204"/>
                  <a:ea typeface="Calibri (MS) Bold" panose="020F0702030404030204"/>
                  <a:cs typeface="Calibri (MS) Bold" panose="020F0702030404030204"/>
                  <a:sym typeface="Calibri (MS) Bold" panose="020F0702030404030204"/>
                </a:rPr>
                <a:t>MOD-05</a:t>
              </a:r>
              <a:endParaRPr lang="en-US" sz="1500" b="1">
                <a:solidFill>
                  <a:srgbClr val="C084FC"/>
                </a:solidFill>
                <a:latin typeface="Calibri (MS) Bold" panose="020F0702030404030204"/>
                <a:ea typeface="Calibri (MS) Bold" panose="020F0702030404030204"/>
                <a:cs typeface="Calibri (MS) Bold" panose="020F0702030404030204"/>
                <a:sym typeface="Calibri (MS) Bold" panose="020F0702030404030204"/>
              </a:endParaRPr>
            </a:p>
          </p:txBody>
        </p:sp>
      </p:grpSp>
      <p:grpSp>
        <p:nvGrpSpPr>
          <p:cNvPr id="74" name="Group 74"/>
          <p:cNvGrpSpPr/>
          <p:nvPr/>
        </p:nvGrpSpPr>
        <p:grpSpPr>
          <a:xfrm rot="0">
            <a:off x="13002768" y="7571232"/>
            <a:ext cx="5120640" cy="402336"/>
            <a:chOff x="0" y="0"/>
            <a:chExt cx="6827520" cy="536448"/>
          </a:xfrm>
        </p:grpSpPr>
        <p:sp>
          <p:nvSpPr>
            <p:cNvPr id="75" name="Freeform 75"/>
            <p:cNvSpPr/>
            <p:nvPr/>
          </p:nvSpPr>
          <p:spPr>
            <a:xfrm>
              <a:off x="0" y="0"/>
              <a:ext cx="6827520" cy="536448"/>
            </a:xfrm>
            <a:custGeom>
              <a:avLst/>
              <a:gdLst/>
              <a:ahLst/>
              <a:cxnLst/>
              <a:rect l="l" t="t" r="r" b="b"/>
              <a:pathLst>
                <a:path w="6827520" h="536448">
                  <a:moveTo>
                    <a:pt x="0" y="0"/>
                  </a:moveTo>
                  <a:lnTo>
                    <a:pt x="6827520" y="0"/>
                  </a:lnTo>
                  <a:lnTo>
                    <a:pt x="682752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1">
                <a:alphaModFix amt="0"/>
              </a:blip>
              <a:stretch>
                <a:fillRect t="-197991" b="-197991"/>
              </a:stretch>
            </a:blipFill>
          </p:spPr>
        </p:sp>
        <p:sp>
          <p:nvSpPr>
            <p:cNvPr id="76" name="TextBox 76"/>
            <p:cNvSpPr txBox="1"/>
            <p:nvPr/>
          </p:nvSpPr>
          <p:spPr>
            <a:xfrm>
              <a:off x="0" y="-38100"/>
              <a:ext cx="6827520" cy="57454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E2E8F0"/>
                  </a:solidFill>
                  <a:latin typeface="Calibri (MS)" panose="020F0502020204030204"/>
                  <a:ea typeface="Calibri (MS)" panose="020F0502020204030204"/>
                  <a:cs typeface="Calibri (MS)" panose="020F0502020204030204"/>
                  <a:sym typeface="Calibri (MS)" panose="020F0502020204030204"/>
                </a:rPr>
                <a:t>Data Sync &amp; Cache</a:t>
              </a:r>
              <a:endParaRPr lang="en-US" sz="2000">
                <a:solidFill>
                  <a:srgbClr val="E2E8F0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endParaRPr>
            </a:p>
          </p:txBody>
        </p:sp>
      </p:grpSp>
      <p:grpSp>
        <p:nvGrpSpPr>
          <p:cNvPr id="77" name="Group 77"/>
          <p:cNvGrpSpPr/>
          <p:nvPr/>
        </p:nvGrpSpPr>
        <p:grpSpPr>
          <a:xfrm rot="0">
            <a:off x="12749708" y="8350672"/>
            <a:ext cx="4728029" cy="1086107"/>
            <a:chOff x="0" y="0"/>
            <a:chExt cx="6304039" cy="1448143"/>
          </a:xfrm>
        </p:grpSpPr>
        <p:sp>
          <p:nvSpPr>
            <p:cNvPr id="78" name="Freeform 78"/>
            <p:cNvSpPr/>
            <p:nvPr/>
          </p:nvSpPr>
          <p:spPr>
            <a:xfrm>
              <a:off x="16891" y="16891"/>
              <a:ext cx="6270244" cy="1414272"/>
            </a:xfrm>
            <a:custGeom>
              <a:avLst/>
              <a:gdLst/>
              <a:ahLst/>
              <a:cxnLst/>
              <a:rect l="l" t="t" r="r" b="b"/>
              <a:pathLst>
                <a:path w="6270244" h="1414272">
                  <a:moveTo>
                    <a:pt x="0" y="0"/>
                  </a:moveTo>
                  <a:lnTo>
                    <a:pt x="6270244" y="0"/>
                  </a:lnTo>
                  <a:lnTo>
                    <a:pt x="6270244" y="1414272"/>
                  </a:lnTo>
                  <a:lnTo>
                    <a:pt x="0" y="1414272"/>
                  </a:lnTo>
                  <a:close/>
                </a:path>
              </a:pathLst>
            </a:custGeom>
            <a:solidFill>
              <a:srgbClr val="1A2236"/>
            </a:solidFill>
          </p:spPr>
        </p:sp>
        <p:sp>
          <p:nvSpPr>
            <p:cNvPr id="79" name="Freeform 79"/>
            <p:cNvSpPr/>
            <p:nvPr/>
          </p:nvSpPr>
          <p:spPr>
            <a:xfrm>
              <a:off x="0" y="0"/>
              <a:ext cx="6304026" cy="1448054"/>
            </a:xfrm>
            <a:custGeom>
              <a:avLst/>
              <a:gdLst/>
              <a:ahLst/>
              <a:cxnLst/>
              <a:rect l="l" t="t" r="r" b="b"/>
              <a:pathLst>
                <a:path w="6304026" h="1448054">
                  <a:moveTo>
                    <a:pt x="16891" y="0"/>
                  </a:moveTo>
                  <a:lnTo>
                    <a:pt x="6287135" y="0"/>
                  </a:lnTo>
                  <a:cubicBezTo>
                    <a:pt x="6296533" y="0"/>
                    <a:pt x="6304026" y="7620"/>
                    <a:pt x="6304026" y="16891"/>
                  </a:cubicBezTo>
                  <a:lnTo>
                    <a:pt x="6304026" y="1431163"/>
                  </a:lnTo>
                  <a:cubicBezTo>
                    <a:pt x="6304026" y="1440561"/>
                    <a:pt x="6296406" y="1448054"/>
                    <a:pt x="6287135" y="1448054"/>
                  </a:cubicBezTo>
                  <a:lnTo>
                    <a:pt x="16891" y="1448054"/>
                  </a:lnTo>
                  <a:cubicBezTo>
                    <a:pt x="7493" y="1448054"/>
                    <a:pt x="0" y="1440434"/>
                    <a:pt x="0" y="143116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431163"/>
                  </a:lnTo>
                  <a:lnTo>
                    <a:pt x="16891" y="1431163"/>
                  </a:lnTo>
                  <a:lnTo>
                    <a:pt x="16891" y="1414272"/>
                  </a:lnTo>
                  <a:lnTo>
                    <a:pt x="6287135" y="1414272"/>
                  </a:lnTo>
                  <a:lnTo>
                    <a:pt x="6287135" y="1431163"/>
                  </a:lnTo>
                  <a:lnTo>
                    <a:pt x="6270244" y="1431163"/>
                  </a:lnTo>
                  <a:lnTo>
                    <a:pt x="6270244" y="16891"/>
                  </a:lnTo>
                  <a:lnTo>
                    <a:pt x="6287135" y="16891"/>
                  </a:lnTo>
                  <a:lnTo>
                    <a:pt x="628713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E2D45"/>
            </a:solidFill>
          </p:spPr>
        </p:sp>
      </p:grpSp>
      <p:grpSp>
        <p:nvGrpSpPr>
          <p:cNvPr id="80" name="Group 80"/>
          <p:cNvGrpSpPr/>
          <p:nvPr/>
        </p:nvGrpSpPr>
        <p:grpSpPr>
          <a:xfrm rot="0">
            <a:off x="12749708" y="8350672"/>
            <a:ext cx="135131" cy="1086107"/>
            <a:chOff x="0" y="0"/>
            <a:chExt cx="180175" cy="1448143"/>
          </a:xfrm>
        </p:grpSpPr>
        <p:sp>
          <p:nvSpPr>
            <p:cNvPr id="81" name="Freeform 81"/>
            <p:cNvSpPr/>
            <p:nvPr/>
          </p:nvSpPr>
          <p:spPr>
            <a:xfrm>
              <a:off x="16891" y="16891"/>
              <a:ext cx="146304" cy="1414272"/>
            </a:xfrm>
            <a:custGeom>
              <a:avLst/>
              <a:gdLst/>
              <a:ahLst/>
              <a:cxnLst/>
              <a:rect l="l" t="t" r="r" b="b"/>
              <a:pathLst>
                <a:path w="146304" h="1414272">
                  <a:moveTo>
                    <a:pt x="0" y="0"/>
                  </a:moveTo>
                  <a:lnTo>
                    <a:pt x="146304" y="0"/>
                  </a:lnTo>
                  <a:lnTo>
                    <a:pt x="146304" y="1414272"/>
                  </a:lnTo>
                  <a:lnTo>
                    <a:pt x="0" y="1414272"/>
                  </a:lnTo>
                  <a:close/>
                </a:path>
              </a:pathLst>
            </a:custGeom>
            <a:solidFill>
              <a:srgbClr val="FB923C"/>
            </a:solidFill>
          </p:spPr>
        </p:sp>
        <p:sp>
          <p:nvSpPr>
            <p:cNvPr id="82" name="Freeform 82"/>
            <p:cNvSpPr/>
            <p:nvPr/>
          </p:nvSpPr>
          <p:spPr>
            <a:xfrm>
              <a:off x="0" y="0"/>
              <a:ext cx="180086" cy="1448054"/>
            </a:xfrm>
            <a:custGeom>
              <a:avLst/>
              <a:gdLst/>
              <a:ahLst/>
              <a:cxnLst/>
              <a:rect l="l" t="t" r="r" b="b"/>
              <a:pathLst>
                <a:path w="180086" h="1448054">
                  <a:moveTo>
                    <a:pt x="16891" y="0"/>
                  </a:moveTo>
                  <a:lnTo>
                    <a:pt x="163195" y="0"/>
                  </a:lnTo>
                  <a:cubicBezTo>
                    <a:pt x="172593" y="0"/>
                    <a:pt x="180086" y="7620"/>
                    <a:pt x="180086" y="16891"/>
                  </a:cubicBezTo>
                  <a:lnTo>
                    <a:pt x="180086" y="1431163"/>
                  </a:lnTo>
                  <a:cubicBezTo>
                    <a:pt x="180086" y="1440561"/>
                    <a:pt x="172466" y="1448054"/>
                    <a:pt x="163195" y="1448054"/>
                  </a:cubicBezTo>
                  <a:lnTo>
                    <a:pt x="16891" y="1448054"/>
                  </a:lnTo>
                  <a:cubicBezTo>
                    <a:pt x="7493" y="1448054"/>
                    <a:pt x="0" y="1440434"/>
                    <a:pt x="0" y="143116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431163"/>
                  </a:lnTo>
                  <a:lnTo>
                    <a:pt x="16891" y="1431163"/>
                  </a:lnTo>
                  <a:lnTo>
                    <a:pt x="16891" y="1414272"/>
                  </a:lnTo>
                  <a:lnTo>
                    <a:pt x="163195" y="1414272"/>
                  </a:lnTo>
                  <a:lnTo>
                    <a:pt x="163195" y="1431163"/>
                  </a:lnTo>
                  <a:lnTo>
                    <a:pt x="146304" y="1431163"/>
                  </a:lnTo>
                  <a:lnTo>
                    <a:pt x="146304" y="16891"/>
                  </a:lnTo>
                  <a:lnTo>
                    <a:pt x="163195" y="16891"/>
                  </a:lnTo>
                  <a:lnTo>
                    <a:pt x="16319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B923C"/>
            </a:solidFill>
          </p:spPr>
        </p:sp>
      </p:grpSp>
      <p:grpSp>
        <p:nvGrpSpPr>
          <p:cNvPr id="83" name="Group 83"/>
          <p:cNvGrpSpPr/>
          <p:nvPr/>
        </p:nvGrpSpPr>
        <p:grpSpPr>
          <a:xfrm rot="0">
            <a:off x="13036734" y="8389229"/>
            <a:ext cx="5120640" cy="402336"/>
            <a:chOff x="0" y="0"/>
            <a:chExt cx="6827520" cy="536448"/>
          </a:xfrm>
        </p:grpSpPr>
        <p:sp>
          <p:nvSpPr>
            <p:cNvPr id="84" name="Freeform 84"/>
            <p:cNvSpPr/>
            <p:nvPr/>
          </p:nvSpPr>
          <p:spPr>
            <a:xfrm>
              <a:off x="0" y="0"/>
              <a:ext cx="6827520" cy="536448"/>
            </a:xfrm>
            <a:custGeom>
              <a:avLst/>
              <a:gdLst/>
              <a:ahLst/>
              <a:cxnLst/>
              <a:rect l="l" t="t" r="r" b="b"/>
              <a:pathLst>
                <a:path w="6827520" h="536448">
                  <a:moveTo>
                    <a:pt x="0" y="0"/>
                  </a:moveTo>
                  <a:lnTo>
                    <a:pt x="6827520" y="0"/>
                  </a:lnTo>
                  <a:lnTo>
                    <a:pt x="682752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1">
                <a:alphaModFix amt="0"/>
              </a:blip>
              <a:stretch>
                <a:fillRect t="-197991" b="-197991"/>
              </a:stretch>
            </a:blipFill>
          </p:spPr>
        </p:sp>
        <p:sp>
          <p:nvSpPr>
            <p:cNvPr id="85" name="TextBox 85"/>
            <p:cNvSpPr txBox="1"/>
            <p:nvPr/>
          </p:nvSpPr>
          <p:spPr>
            <a:xfrm>
              <a:off x="0" y="-38100"/>
              <a:ext cx="6827520" cy="57454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800"/>
                </a:lnSpc>
              </a:pPr>
              <a:r>
                <a:rPr lang="en-US" sz="1500" b="1">
                  <a:solidFill>
                    <a:srgbClr val="FB923C"/>
                  </a:solidFill>
                  <a:latin typeface="Calibri (MS) Bold" panose="020F0702030404030204"/>
                  <a:ea typeface="Calibri (MS) Bold" panose="020F0702030404030204"/>
                  <a:cs typeface="Calibri (MS) Bold" panose="020F0702030404030204"/>
                  <a:sym typeface="Calibri (MS) Bold" panose="020F0702030404030204"/>
                </a:rPr>
                <a:t>MOD-06</a:t>
              </a:r>
              <a:endParaRPr lang="en-US" sz="1500" b="1">
                <a:solidFill>
                  <a:srgbClr val="FB923C"/>
                </a:solidFill>
                <a:latin typeface="Calibri (MS) Bold" panose="020F0702030404030204"/>
                <a:ea typeface="Calibri (MS) Bold" panose="020F0702030404030204"/>
                <a:cs typeface="Calibri (MS) Bold" panose="020F0702030404030204"/>
                <a:sym typeface="Calibri (MS) Bold" panose="020F0702030404030204"/>
              </a:endParaRPr>
            </a:p>
          </p:txBody>
        </p:sp>
      </p:grpSp>
      <p:grpSp>
        <p:nvGrpSpPr>
          <p:cNvPr id="86" name="Group 86"/>
          <p:cNvGrpSpPr/>
          <p:nvPr/>
        </p:nvGrpSpPr>
        <p:grpSpPr>
          <a:xfrm rot="0">
            <a:off x="13036734" y="8807244"/>
            <a:ext cx="5120640" cy="402336"/>
            <a:chOff x="0" y="0"/>
            <a:chExt cx="6827520" cy="536448"/>
          </a:xfrm>
        </p:grpSpPr>
        <p:sp>
          <p:nvSpPr>
            <p:cNvPr id="87" name="Freeform 87"/>
            <p:cNvSpPr/>
            <p:nvPr/>
          </p:nvSpPr>
          <p:spPr>
            <a:xfrm>
              <a:off x="0" y="0"/>
              <a:ext cx="6827520" cy="536448"/>
            </a:xfrm>
            <a:custGeom>
              <a:avLst/>
              <a:gdLst/>
              <a:ahLst/>
              <a:cxnLst/>
              <a:rect l="l" t="t" r="r" b="b"/>
              <a:pathLst>
                <a:path w="6827520" h="536448">
                  <a:moveTo>
                    <a:pt x="0" y="0"/>
                  </a:moveTo>
                  <a:lnTo>
                    <a:pt x="6827520" y="0"/>
                  </a:lnTo>
                  <a:lnTo>
                    <a:pt x="682752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1">
                <a:alphaModFix amt="0"/>
              </a:blip>
              <a:stretch>
                <a:fillRect t="-197991" b="-197991"/>
              </a:stretch>
            </a:blipFill>
          </p:spPr>
        </p:sp>
        <p:sp>
          <p:nvSpPr>
            <p:cNvPr id="88" name="TextBox 88"/>
            <p:cNvSpPr txBox="1"/>
            <p:nvPr/>
          </p:nvSpPr>
          <p:spPr>
            <a:xfrm>
              <a:off x="0" y="-38100"/>
              <a:ext cx="6827520" cy="57454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E2E8F0"/>
                  </a:solidFill>
                  <a:latin typeface="Calibri (MS)" panose="020F0502020204030204"/>
                  <a:ea typeface="Calibri (MS)" panose="020F0502020204030204"/>
                  <a:cs typeface="Calibri (MS)" panose="020F0502020204030204"/>
                  <a:sym typeface="Calibri (MS)" panose="020F0502020204030204"/>
                </a:rPr>
                <a:t>Notification Manager</a:t>
              </a:r>
              <a:endParaRPr lang="en-US" sz="2000">
                <a:solidFill>
                  <a:srgbClr val="E2E8F0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endParaRPr>
            </a:p>
          </p:txBody>
        </p:sp>
      </p:grpSp>
      <p:grpSp>
        <p:nvGrpSpPr>
          <p:cNvPr id="89" name="Group 89"/>
          <p:cNvGrpSpPr/>
          <p:nvPr/>
        </p:nvGrpSpPr>
        <p:grpSpPr>
          <a:xfrm rot="0">
            <a:off x="1140600" y="2103120"/>
            <a:ext cx="11139583" cy="7223703"/>
            <a:chOff x="0" y="0"/>
            <a:chExt cx="14852777" cy="9631604"/>
          </a:xfrm>
        </p:grpSpPr>
        <p:sp>
          <p:nvSpPr>
            <p:cNvPr id="90" name="Freeform 90"/>
            <p:cNvSpPr/>
            <p:nvPr/>
          </p:nvSpPr>
          <p:spPr>
            <a:xfrm>
              <a:off x="0" y="0"/>
              <a:ext cx="14852777" cy="9631553"/>
            </a:xfrm>
            <a:custGeom>
              <a:avLst/>
              <a:gdLst/>
              <a:ahLst/>
              <a:cxnLst/>
              <a:rect l="l" t="t" r="r" b="b"/>
              <a:pathLst>
                <a:path w="14852777" h="9631553">
                  <a:moveTo>
                    <a:pt x="0" y="0"/>
                  </a:moveTo>
                  <a:lnTo>
                    <a:pt x="14852777" y="0"/>
                  </a:lnTo>
                  <a:lnTo>
                    <a:pt x="14852777" y="9631553"/>
                  </a:lnTo>
                  <a:lnTo>
                    <a:pt x="0" y="96315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822960" y="402336"/>
            <a:ext cx="16642080" cy="402336"/>
            <a:chOff x="0" y="0"/>
            <a:chExt cx="22189440" cy="53644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2189439" cy="536448"/>
            </a:xfrm>
            <a:custGeom>
              <a:avLst/>
              <a:gdLst/>
              <a:ahLst/>
              <a:cxnLst/>
              <a:rect l="l" t="t" r="r" b="b"/>
              <a:pathLst>
                <a:path w="22189439" h="536448">
                  <a:moveTo>
                    <a:pt x="0" y="0"/>
                  </a:moveTo>
                  <a:lnTo>
                    <a:pt x="22189439" y="0"/>
                  </a:lnTo>
                  <a:lnTo>
                    <a:pt x="22189439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1">
                <a:alphaModFix amt="0"/>
              </a:blip>
              <a:stretch>
                <a:fillRect t="-755972" b="-755972"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2189440" cy="57454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800"/>
                </a:lnSpc>
              </a:pPr>
              <a:r>
                <a:rPr lang="en-US" sz="1500" b="1" spc="600">
                  <a:solidFill>
                    <a:srgbClr val="34D399"/>
                  </a:solidFill>
                  <a:latin typeface="Calibri (MS) Bold" panose="020F0702030404030204"/>
                  <a:ea typeface="Calibri (MS) Bold" panose="020F0702030404030204"/>
                  <a:cs typeface="Calibri (MS) Bold" panose="020F0702030404030204"/>
                  <a:sym typeface="Calibri (MS) Bold" panose="020F0702030404030204"/>
                </a:rPr>
                <a:t>PROGRESS SUMMARY</a:t>
              </a:r>
              <a:endParaRPr lang="en-US" sz="1500" b="1" spc="600">
                <a:solidFill>
                  <a:srgbClr val="34D399"/>
                </a:solidFill>
                <a:latin typeface="Calibri (MS) Bold" panose="020F0702030404030204"/>
                <a:ea typeface="Calibri (MS) Bold" panose="020F0702030404030204"/>
                <a:cs typeface="Calibri (MS) Bold" panose="020F0702030404030204"/>
                <a:sym typeface="Calibri (MS) Bold" panose="020F0702030404030204"/>
              </a:endParaRPr>
            </a:p>
          </p:txBody>
        </p:sp>
      </p:grpSp>
      <p:grpSp>
        <p:nvGrpSpPr>
          <p:cNvPr id="5" name="Group 5"/>
          <p:cNvGrpSpPr/>
          <p:nvPr/>
        </p:nvGrpSpPr>
        <p:grpSpPr>
          <a:xfrm rot="0">
            <a:off x="822960" y="804672"/>
            <a:ext cx="16642080" cy="1005840"/>
            <a:chOff x="0" y="0"/>
            <a:chExt cx="22189440" cy="134112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2189439" cy="1341120"/>
            </a:xfrm>
            <a:custGeom>
              <a:avLst/>
              <a:gdLst/>
              <a:ahLst/>
              <a:cxnLst/>
              <a:rect l="l" t="t" r="r" b="b"/>
              <a:pathLst>
                <a:path w="22189439" h="1341120">
                  <a:moveTo>
                    <a:pt x="0" y="0"/>
                  </a:moveTo>
                  <a:lnTo>
                    <a:pt x="22189439" y="0"/>
                  </a:lnTo>
                  <a:lnTo>
                    <a:pt x="22189439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1">
                <a:alphaModFix amt="0"/>
              </a:blip>
              <a:stretch>
                <a:fillRect t="-272388" b="-272388"/>
              </a:stretch>
            </a:blipFill>
          </p:spPr>
        </p:sp>
        <p:sp>
          <p:nvSpPr>
            <p:cNvPr id="7" name="TextBox 7"/>
            <p:cNvSpPr txBox="1"/>
            <p:nvPr/>
          </p:nvSpPr>
          <p:spPr>
            <a:xfrm>
              <a:off x="0" y="-85725"/>
              <a:ext cx="22189440" cy="14268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760"/>
                </a:lnSpc>
              </a:pPr>
              <a:r>
                <a:rPr lang="en-US" sz="4800" b="1">
                  <a:solidFill>
                    <a:srgbClr val="E2E8F0"/>
                  </a:solidFill>
                  <a:latin typeface="Calibri (MS) Bold" panose="020F0702030404030204"/>
                  <a:ea typeface="Calibri (MS) Bold" panose="020F0702030404030204"/>
                  <a:cs typeface="Calibri (MS) Bold" panose="020F0702030404030204"/>
                  <a:sym typeface="Calibri (MS) Bold" panose="020F0702030404030204"/>
                </a:rPr>
                <a:t>Main Achievements So Far</a:t>
              </a:r>
              <a:endParaRPr lang="en-US" sz="4800" b="1">
                <a:solidFill>
                  <a:srgbClr val="E2E8F0"/>
                </a:solidFill>
                <a:latin typeface="Calibri (MS) Bold" panose="020F0702030404030204"/>
                <a:ea typeface="Calibri (MS) Bold" panose="020F0702030404030204"/>
                <a:cs typeface="Calibri (MS) Bold" panose="020F0702030404030204"/>
                <a:sym typeface="Calibri (MS) Bold" panose="020F0702030404030204"/>
              </a:endParaRPr>
            </a:p>
          </p:txBody>
        </p:sp>
      </p:grpSp>
      <p:grpSp>
        <p:nvGrpSpPr>
          <p:cNvPr id="8" name="Group 8"/>
          <p:cNvGrpSpPr/>
          <p:nvPr/>
        </p:nvGrpSpPr>
        <p:grpSpPr>
          <a:xfrm rot="0">
            <a:off x="810263" y="1834391"/>
            <a:ext cx="16667483" cy="71123"/>
            <a:chOff x="0" y="0"/>
            <a:chExt cx="22223311" cy="94831"/>
          </a:xfrm>
        </p:grpSpPr>
        <p:sp>
          <p:nvSpPr>
            <p:cNvPr id="9" name="Freeform 9"/>
            <p:cNvSpPr/>
            <p:nvPr/>
          </p:nvSpPr>
          <p:spPr>
            <a:xfrm>
              <a:off x="16891" y="16891"/>
              <a:ext cx="22189439" cy="60960"/>
            </a:xfrm>
            <a:custGeom>
              <a:avLst/>
              <a:gdLst/>
              <a:ahLst/>
              <a:cxnLst/>
              <a:rect l="l" t="t" r="r" b="b"/>
              <a:pathLst>
                <a:path w="22189439" h="60960">
                  <a:moveTo>
                    <a:pt x="0" y="0"/>
                  </a:moveTo>
                  <a:lnTo>
                    <a:pt x="22189439" y="0"/>
                  </a:lnTo>
                  <a:lnTo>
                    <a:pt x="22189439" y="60960"/>
                  </a:lnTo>
                  <a:lnTo>
                    <a:pt x="0" y="60960"/>
                  </a:lnTo>
                  <a:close/>
                </a:path>
              </a:pathLst>
            </a:custGeom>
            <a:solidFill>
              <a:srgbClr val="1E2D45"/>
            </a:solidFill>
          </p:spPr>
        </p:sp>
        <p:sp>
          <p:nvSpPr>
            <p:cNvPr id="10" name="Freeform 10"/>
            <p:cNvSpPr/>
            <p:nvPr/>
          </p:nvSpPr>
          <p:spPr>
            <a:xfrm>
              <a:off x="0" y="0"/>
              <a:ext cx="22223222" cy="94744"/>
            </a:xfrm>
            <a:custGeom>
              <a:avLst/>
              <a:gdLst/>
              <a:ahLst/>
              <a:cxnLst/>
              <a:rect l="l" t="t" r="r" b="b"/>
              <a:pathLst>
                <a:path w="22223222" h="94744">
                  <a:moveTo>
                    <a:pt x="16891" y="0"/>
                  </a:moveTo>
                  <a:lnTo>
                    <a:pt x="22206330" y="0"/>
                  </a:lnTo>
                  <a:cubicBezTo>
                    <a:pt x="22215729" y="0"/>
                    <a:pt x="22223222" y="7620"/>
                    <a:pt x="22223222" y="16891"/>
                  </a:cubicBezTo>
                  <a:lnTo>
                    <a:pt x="22223222" y="77851"/>
                  </a:lnTo>
                  <a:cubicBezTo>
                    <a:pt x="22223222" y="87249"/>
                    <a:pt x="22215602" y="94742"/>
                    <a:pt x="22206330" y="94742"/>
                  </a:cubicBezTo>
                  <a:lnTo>
                    <a:pt x="16891" y="94742"/>
                  </a:lnTo>
                  <a:cubicBezTo>
                    <a:pt x="7620" y="94869"/>
                    <a:pt x="0" y="87249"/>
                    <a:pt x="0" y="778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77851"/>
                  </a:lnTo>
                  <a:lnTo>
                    <a:pt x="16891" y="77851"/>
                  </a:lnTo>
                  <a:lnTo>
                    <a:pt x="16891" y="60960"/>
                  </a:lnTo>
                  <a:lnTo>
                    <a:pt x="22206330" y="60960"/>
                  </a:lnTo>
                  <a:lnTo>
                    <a:pt x="22206330" y="77851"/>
                  </a:lnTo>
                  <a:lnTo>
                    <a:pt x="22189439" y="77851"/>
                  </a:lnTo>
                  <a:lnTo>
                    <a:pt x="22189439" y="16891"/>
                  </a:lnTo>
                  <a:lnTo>
                    <a:pt x="22206330" y="16891"/>
                  </a:lnTo>
                  <a:lnTo>
                    <a:pt x="2220633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E2D45"/>
            </a:solidFill>
          </p:spPr>
        </p:sp>
      </p:grpSp>
      <p:grpSp>
        <p:nvGrpSpPr>
          <p:cNvPr id="11" name="Group 11"/>
          <p:cNvGrpSpPr/>
          <p:nvPr/>
        </p:nvGrpSpPr>
        <p:grpSpPr>
          <a:xfrm rot="0">
            <a:off x="810263" y="2145287"/>
            <a:ext cx="5328923" cy="2219963"/>
            <a:chOff x="0" y="0"/>
            <a:chExt cx="7105231" cy="2959951"/>
          </a:xfrm>
        </p:grpSpPr>
        <p:sp>
          <p:nvSpPr>
            <p:cNvPr id="12" name="Freeform 12"/>
            <p:cNvSpPr/>
            <p:nvPr/>
          </p:nvSpPr>
          <p:spPr>
            <a:xfrm>
              <a:off x="16891" y="16891"/>
              <a:ext cx="7071360" cy="2926080"/>
            </a:xfrm>
            <a:custGeom>
              <a:avLst/>
              <a:gdLst/>
              <a:ahLst/>
              <a:cxnLst/>
              <a:rect l="l" t="t" r="r" b="b"/>
              <a:pathLst>
                <a:path w="7071360" h="2926080">
                  <a:moveTo>
                    <a:pt x="0" y="0"/>
                  </a:moveTo>
                  <a:lnTo>
                    <a:pt x="7071360" y="0"/>
                  </a:lnTo>
                  <a:lnTo>
                    <a:pt x="7071360" y="2926080"/>
                  </a:lnTo>
                  <a:lnTo>
                    <a:pt x="0" y="2926080"/>
                  </a:lnTo>
                  <a:close/>
                </a:path>
              </a:pathLst>
            </a:custGeom>
            <a:solidFill>
              <a:srgbClr val="141C2E"/>
            </a:solidFill>
          </p:spPr>
        </p:sp>
        <p:sp>
          <p:nvSpPr>
            <p:cNvPr id="13" name="Freeform 13"/>
            <p:cNvSpPr/>
            <p:nvPr/>
          </p:nvSpPr>
          <p:spPr>
            <a:xfrm>
              <a:off x="0" y="0"/>
              <a:ext cx="7105142" cy="2959862"/>
            </a:xfrm>
            <a:custGeom>
              <a:avLst/>
              <a:gdLst/>
              <a:ahLst/>
              <a:cxnLst/>
              <a:rect l="l" t="t" r="r" b="b"/>
              <a:pathLst>
                <a:path w="7105142" h="2959862">
                  <a:moveTo>
                    <a:pt x="16891" y="0"/>
                  </a:moveTo>
                  <a:lnTo>
                    <a:pt x="7088251" y="0"/>
                  </a:lnTo>
                  <a:cubicBezTo>
                    <a:pt x="7097649" y="0"/>
                    <a:pt x="7105142" y="7620"/>
                    <a:pt x="7105142" y="16891"/>
                  </a:cubicBezTo>
                  <a:lnTo>
                    <a:pt x="7105142" y="2942971"/>
                  </a:lnTo>
                  <a:cubicBezTo>
                    <a:pt x="7105142" y="2952369"/>
                    <a:pt x="7097522" y="2959862"/>
                    <a:pt x="7088251" y="2959862"/>
                  </a:cubicBezTo>
                  <a:lnTo>
                    <a:pt x="16891" y="2959862"/>
                  </a:lnTo>
                  <a:cubicBezTo>
                    <a:pt x="7493" y="2959862"/>
                    <a:pt x="0" y="2952242"/>
                    <a:pt x="0" y="29429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942971"/>
                  </a:lnTo>
                  <a:lnTo>
                    <a:pt x="16891" y="2942971"/>
                  </a:lnTo>
                  <a:lnTo>
                    <a:pt x="16891" y="2926080"/>
                  </a:lnTo>
                  <a:lnTo>
                    <a:pt x="7088251" y="2926080"/>
                  </a:lnTo>
                  <a:lnTo>
                    <a:pt x="7088251" y="2942971"/>
                  </a:lnTo>
                  <a:lnTo>
                    <a:pt x="7071360" y="2942971"/>
                  </a:lnTo>
                  <a:lnTo>
                    <a:pt x="7071360" y="16891"/>
                  </a:lnTo>
                  <a:lnTo>
                    <a:pt x="7088251" y="16891"/>
                  </a:lnTo>
                  <a:lnTo>
                    <a:pt x="70882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E2D45"/>
            </a:solidFill>
          </p:spPr>
        </p:sp>
      </p:grpSp>
      <p:grpSp>
        <p:nvGrpSpPr>
          <p:cNvPr id="14" name="Group 14"/>
          <p:cNvGrpSpPr/>
          <p:nvPr/>
        </p:nvGrpSpPr>
        <p:grpSpPr>
          <a:xfrm rot="0">
            <a:off x="1097280" y="2340864"/>
            <a:ext cx="4754880" cy="585216"/>
            <a:chOff x="0" y="0"/>
            <a:chExt cx="6339840" cy="780288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6339840" cy="780288"/>
            </a:xfrm>
            <a:custGeom>
              <a:avLst/>
              <a:gdLst/>
              <a:ahLst/>
              <a:cxnLst/>
              <a:rect l="l" t="t" r="r" b="b"/>
              <a:pathLst>
                <a:path w="6339840" h="780288">
                  <a:moveTo>
                    <a:pt x="0" y="0"/>
                  </a:moveTo>
                  <a:lnTo>
                    <a:pt x="6339840" y="0"/>
                  </a:lnTo>
                  <a:lnTo>
                    <a:pt x="633984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1">
                <a:alphaModFix amt="0"/>
              </a:blip>
              <a:stretch>
                <a:fillRect t="-108315" b="-108315"/>
              </a:stretch>
            </a:blipFill>
          </p:spPr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6339840" cy="81838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00"/>
                </a:lnSpc>
              </a:pPr>
              <a:r>
                <a:rPr lang="en-US" sz="2000" b="1">
                  <a:solidFill>
                    <a:srgbClr val="34D399"/>
                  </a:solidFill>
                  <a:latin typeface="Calibri (MS) Bold" panose="020F0702030404030204"/>
                  <a:ea typeface="Calibri (MS) Bold" panose="020F0702030404030204"/>
                  <a:cs typeface="Calibri (MS) Bold" panose="020F0702030404030204"/>
                  <a:sym typeface="Calibri (MS) Bold" panose="020F0702030404030204"/>
                </a:rPr>
                <a:t>📄  SRS Documents</a:t>
              </a:r>
              <a:endParaRPr lang="en-US" sz="2000" b="1">
                <a:solidFill>
                  <a:srgbClr val="34D399"/>
                </a:solidFill>
                <a:latin typeface="Calibri (MS) Bold" panose="020F0702030404030204"/>
                <a:ea typeface="Calibri (MS) Bold" panose="020F0702030404030204"/>
                <a:cs typeface="Calibri (MS) Bold" panose="020F0702030404030204"/>
                <a:sym typeface="Calibri (MS) Bold" panose="020F0702030404030204"/>
              </a:endParaRPr>
            </a:p>
          </p:txBody>
        </p:sp>
      </p:grpSp>
      <p:grpSp>
        <p:nvGrpSpPr>
          <p:cNvPr id="17" name="Group 17"/>
          <p:cNvGrpSpPr/>
          <p:nvPr/>
        </p:nvGrpSpPr>
        <p:grpSpPr>
          <a:xfrm rot="0">
            <a:off x="1097280" y="2926080"/>
            <a:ext cx="4754880" cy="1243584"/>
            <a:chOff x="0" y="0"/>
            <a:chExt cx="6339840" cy="1658112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6339840" cy="1658112"/>
            </a:xfrm>
            <a:custGeom>
              <a:avLst/>
              <a:gdLst/>
              <a:ahLst/>
              <a:cxnLst/>
              <a:rect l="l" t="t" r="r" b="b"/>
              <a:pathLst>
                <a:path w="6339840" h="1658112">
                  <a:moveTo>
                    <a:pt x="0" y="0"/>
                  </a:moveTo>
                  <a:lnTo>
                    <a:pt x="6339840" y="0"/>
                  </a:lnTo>
                  <a:lnTo>
                    <a:pt x="6339840" y="1658112"/>
                  </a:lnTo>
                  <a:lnTo>
                    <a:pt x="0" y="1658112"/>
                  </a:lnTo>
                  <a:close/>
                </a:path>
              </a:pathLst>
            </a:custGeom>
            <a:blipFill>
              <a:blip r:embed="rId1">
                <a:alphaModFix amt="0"/>
              </a:blip>
              <a:stretch>
                <a:fillRect t="-24501" b="-24501"/>
              </a:stretch>
            </a:blipFill>
          </p:spPr>
        </p:sp>
        <p:sp>
          <p:nvSpPr>
            <p:cNvPr id="19" name="TextBox 19"/>
            <p:cNvSpPr txBox="1"/>
            <p:nvPr/>
          </p:nvSpPr>
          <p:spPr>
            <a:xfrm>
              <a:off x="0" y="-38100"/>
              <a:ext cx="6339840" cy="169621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94A3B8"/>
                  </a:solidFill>
                  <a:latin typeface="Calibri (MS)" panose="020F0502020204030204"/>
                  <a:ea typeface="Calibri (MS)" panose="020F0502020204030204"/>
                  <a:cs typeface="Calibri (MS)" panose="020F0502020204030204"/>
                  <a:sym typeface="Calibri (MS)" panose="020F0502020204030204"/>
                </a:rPr>
                <a:t>Created, reviewed and integrated across all teams</a:t>
              </a:r>
              <a:endParaRPr lang="en-US" sz="2000">
                <a:solidFill>
                  <a:srgbClr val="94A3B8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endParaRPr>
            </a:p>
          </p:txBody>
        </p:sp>
      </p:grpSp>
      <p:grpSp>
        <p:nvGrpSpPr>
          <p:cNvPr id="20" name="Group 20"/>
          <p:cNvGrpSpPr/>
          <p:nvPr/>
        </p:nvGrpSpPr>
        <p:grpSpPr>
          <a:xfrm rot="0">
            <a:off x="6442967" y="2145287"/>
            <a:ext cx="5328923" cy="2219963"/>
            <a:chOff x="0" y="0"/>
            <a:chExt cx="7105231" cy="2959951"/>
          </a:xfrm>
        </p:grpSpPr>
        <p:sp>
          <p:nvSpPr>
            <p:cNvPr id="21" name="Freeform 21"/>
            <p:cNvSpPr/>
            <p:nvPr/>
          </p:nvSpPr>
          <p:spPr>
            <a:xfrm>
              <a:off x="16891" y="16891"/>
              <a:ext cx="7071360" cy="2926080"/>
            </a:xfrm>
            <a:custGeom>
              <a:avLst/>
              <a:gdLst/>
              <a:ahLst/>
              <a:cxnLst/>
              <a:rect l="l" t="t" r="r" b="b"/>
              <a:pathLst>
                <a:path w="7071360" h="2926080">
                  <a:moveTo>
                    <a:pt x="0" y="0"/>
                  </a:moveTo>
                  <a:lnTo>
                    <a:pt x="7071360" y="0"/>
                  </a:lnTo>
                  <a:lnTo>
                    <a:pt x="7071360" y="2926080"/>
                  </a:lnTo>
                  <a:lnTo>
                    <a:pt x="0" y="2926080"/>
                  </a:lnTo>
                  <a:close/>
                </a:path>
              </a:pathLst>
            </a:custGeom>
            <a:solidFill>
              <a:srgbClr val="141C2E"/>
            </a:solidFill>
          </p:spPr>
        </p:sp>
        <p:sp>
          <p:nvSpPr>
            <p:cNvPr id="22" name="Freeform 22"/>
            <p:cNvSpPr/>
            <p:nvPr/>
          </p:nvSpPr>
          <p:spPr>
            <a:xfrm>
              <a:off x="0" y="0"/>
              <a:ext cx="7105142" cy="2959862"/>
            </a:xfrm>
            <a:custGeom>
              <a:avLst/>
              <a:gdLst/>
              <a:ahLst/>
              <a:cxnLst/>
              <a:rect l="l" t="t" r="r" b="b"/>
              <a:pathLst>
                <a:path w="7105142" h="2959862">
                  <a:moveTo>
                    <a:pt x="16891" y="0"/>
                  </a:moveTo>
                  <a:lnTo>
                    <a:pt x="7088251" y="0"/>
                  </a:lnTo>
                  <a:cubicBezTo>
                    <a:pt x="7097649" y="0"/>
                    <a:pt x="7105142" y="7620"/>
                    <a:pt x="7105142" y="16891"/>
                  </a:cubicBezTo>
                  <a:lnTo>
                    <a:pt x="7105142" y="2942971"/>
                  </a:lnTo>
                  <a:cubicBezTo>
                    <a:pt x="7105142" y="2952369"/>
                    <a:pt x="7097522" y="2959862"/>
                    <a:pt x="7088251" y="2959862"/>
                  </a:cubicBezTo>
                  <a:lnTo>
                    <a:pt x="16891" y="2959862"/>
                  </a:lnTo>
                  <a:cubicBezTo>
                    <a:pt x="7493" y="2959862"/>
                    <a:pt x="0" y="2952242"/>
                    <a:pt x="0" y="29429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942971"/>
                  </a:lnTo>
                  <a:lnTo>
                    <a:pt x="16891" y="2942971"/>
                  </a:lnTo>
                  <a:lnTo>
                    <a:pt x="16891" y="2926080"/>
                  </a:lnTo>
                  <a:lnTo>
                    <a:pt x="7088251" y="2926080"/>
                  </a:lnTo>
                  <a:lnTo>
                    <a:pt x="7088251" y="2942971"/>
                  </a:lnTo>
                  <a:lnTo>
                    <a:pt x="7071360" y="2942971"/>
                  </a:lnTo>
                  <a:lnTo>
                    <a:pt x="7071360" y="16891"/>
                  </a:lnTo>
                  <a:lnTo>
                    <a:pt x="7088251" y="16891"/>
                  </a:lnTo>
                  <a:lnTo>
                    <a:pt x="70882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E2D45"/>
            </a:solidFill>
          </p:spPr>
        </p:sp>
      </p:grpSp>
      <p:grpSp>
        <p:nvGrpSpPr>
          <p:cNvPr id="23" name="Group 23"/>
          <p:cNvGrpSpPr/>
          <p:nvPr/>
        </p:nvGrpSpPr>
        <p:grpSpPr>
          <a:xfrm rot="0">
            <a:off x="6729984" y="2340864"/>
            <a:ext cx="4754880" cy="585216"/>
            <a:chOff x="0" y="0"/>
            <a:chExt cx="6339840" cy="780288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6339840" cy="780288"/>
            </a:xfrm>
            <a:custGeom>
              <a:avLst/>
              <a:gdLst/>
              <a:ahLst/>
              <a:cxnLst/>
              <a:rect l="l" t="t" r="r" b="b"/>
              <a:pathLst>
                <a:path w="6339840" h="780288">
                  <a:moveTo>
                    <a:pt x="0" y="0"/>
                  </a:moveTo>
                  <a:lnTo>
                    <a:pt x="6339840" y="0"/>
                  </a:lnTo>
                  <a:lnTo>
                    <a:pt x="633984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1">
                <a:alphaModFix amt="0"/>
              </a:blip>
              <a:stretch>
                <a:fillRect t="-108315" b="-108315"/>
              </a:stretch>
            </a:blipFill>
          </p:spPr>
        </p:sp>
        <p:sp>
          <p:nvSpPr>
            <p:cNvPr id="25" name="TextBox 25"/>
            <p:cNvSpPr txBox="1"/>
            <p:nvPr/>
          </p:nvSpPr>
          <p:spPr>
            <a:xfrm>
              <a:off x="0" y="-38100"/>
              <a:ext cx="6339840" cy="81838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00"/>
                </a:lnSpc>
              </a:pPr>
              <a:r>
                <a:rPr lang="en-US" sz="2000" b="1">
                  <a:solidFill>
                    <a:srgbClr val="34D399"/>
                  </a:solidFill>
                  <a:latin typeface="Calibri (MS) Bold" panose="020F0702030404030204"/>
                  <a:ea typeface="Calibri (MS) Bold" panose="020F0702030404030204"/>
                  <a:cs typeface="Calibri (MS) Bold" panose="020F0702030404030204"/>
                  <a:sym typeface="Calibri (MS) Bold" panose="020F0702030404030204"/>
                </a:rPr>
                <a:t>🗂️  High-Level Design &amp; DFD</a:t>
              </a:r>
              <a:endParaRPr lang="en-US" sz="2000" b="1">
                <a:solidFill>
                  <a:srgbClr val="34D399"/>
                </a:solidFill>
                <a:latin typeface="Calibri (MS) Bold" panose="020F0702030404030204"/>
                <a:ea typeface="Calibri (MS) Bold" panose="020F0702030404030204"/>
                <a:cs typeface="Calibri (MS) Bold" panose="020F0702030404030204"/>
                <a:sym typeface="Calibri (MS) Bold" panose="020F0702030404030204"/>
              </a:endParaRPr>
            </a:p>
          </p:txBody>
        </p:sp>
      </p:grpSp>
      <p:grpSp>
        <p:nvGrpSpPr>
          <p:cNvPr id="26" name="Group 26"/>
          <p:cNvGrpSpPr/>
          <p:nvPr/>
        </p:nvGrpSpPr>
        <p:grpSpPr>
          <a:xfrm rot="0">
            <a:off x="6729984" y="2926080"/>
            <a:ext cx="4754880" cy="1243584"/>
            <a:chOff x="0" y="0"/>
            <a:chExt cx="6339840" cy="1658112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6339840" cy="1658112"/>
            </a:xfrm>
            <a:custGeom>
              <a:avLst/>
              <a:gdLst/>
              <a:ahLst/>
              <a:cxnLst/>
              <a:rect l="l" t="t" r="r" b="b"/>
              <a:pathLst>
                <a:path w="6339840" h="1658112">
                  <a:moveTo>
                    <a:pt x="0" y="0"/>
                  </a:moveTo>
                  <a:lnTo>
                    <a:pt x="6339840" y="0"/>
                  </a:lnTo>
                  <a:lnTo>
                    <a:pt x="6339840" y="1658112"/>
                  </a:lnTo>
                  <a:lnTo>
                    <a:pt x="0" y="1658112"/>
                  </a:lnTo>
                  <a:close/>
                </a:path>
              </a:pathLst>
            </a:custGeom>
            <a:blipFill>
              <a:blip r:embed="rId1">
                <a:alphaModFix amt="0"/>
              </a:blip>
              <a:stretch>
                <a:fillRect t="-24501" b="-24501"/>
              </a:stretch>
            </a:blipFill>
          </p:spPr>
        </p:sp>
        <p:sp>
          <p:nvSpPr>
            <p:cNvPr id="28" name="TextBox 28"/>
            <p:cNvSpPr txBox="1"/>
            <p:nvPr/>
          </p:nvSpPr>
          <p:spPr>
            <a:xfrm>
              <a:off x="0" y="-38100"/>
              <a:ext cx="6339840" cy="169621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94A3B8"/>
                  </a:solidFill>
                  <a:latin typeface="Calibri (MS)" panose="020F0502020204030204"/>
                  <a:ea typeface="Calibri (MS)" panose="020F0502020204030204"/>
                  <a:cs typeface="Calibri (MS)" panose="020F0502020204030204"/>
                  <a:sym typeface="Calibri (MS)" panose="020F0502020204030204"/>
                </a:rPr>
                <a:t>Developed and improved after professor &amp; team feedback</a:t>
              </a:r>
              <a:endParaRPr lang="en-US" sz="2000">
                <a:solidFill>
                  <a:srgbClr val="94A3B8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endParaRPr>
            </a:p>
          </p:txBody>
        </p:sp>
      </p:grpSp>
      <p:grpSp>
        <p:nvGrpSpPr>
          <p:cNvPr id="29" name="Group 29"/>
          <p:cNvGrpSpPr/>
          <p:nvPr/>
        </p:nvGrpSpPr>
        <p:grpSpPr>
          <a:xfrm rot="0">
            <a:off x="12075671" y="2145287"/>
            <a:ext cx="5328923" cy="2219963"/>
            <a:chOff x="0" y="0"/>
            <a:chExt cx="7105231" cy="2959951"/>
          </a:xfrm>
        </p:grpSpPr>
        <p:sp>
          <p:nvSpPr>
            <p:cNvPr id="30" name="Freeform 30"/>
            <p:cNvSpPr/>
            <p:nvPr/>
          </p:nvSpPr>
          <p:spPr>
            <a:xfrm>
              <a:off x="16891" y="16891"/>
              <a:ext cx="7071360" cy="2926080"/>
            </a:xfrm>
            <a:custGeom>
              <a:avLst/>
              <a:gdLst/>
              <a:ahLst/>
              <a:cxnLst/>
              <a:rect l="l" t="t" r="r" b="b"/>
              <a:pathLst>
                <a:path w="7071360" h="2926080">
                  <a:moveTo>
                    <a:pt x="0" y="0"/>
                  </a:moveTo>
                  <a:lnTo>
                    <a:pt x="7071360" y="0"/>
                  </a:lnTo>
                  <a:lnTo>
                    <a:pt x="7071360" y="2926080"/>
                  </a:lnTo>
                  <a:lnTo>
                    <a:pt x="0" y="2926080"/>
                  </a:lnTo>
                  <a:close/>
                </a:path>
              </a:pathLst>
            </a:custGeom>
            <a:solidFill>
              <a:srgbClr val="141C2E"/>
            </a:solidFill>
          </p:spPr>
        </p:sp>
        <p:sp>
          <p:nvSpPr>
            <p:cNvPr id="31" name="Freeform 31"/>
            <p:cNvSpPr/>
            <p:nvPr/>
          </p:nvSpPr>
          <p:spPr>
            <a:xfrm>
              <a:off x="0" y="0"/>
              <a:ext cx="7105142" cy="2959862"/>
            </a:xfrm>
            <a:custGeom>
              <a:avLst/>
              <a:gdLst/>
              <a:ahLst/>
              <a:cxnLst/>
              <a:rect l="l" t="t" r="r" b="b"/>
              <a:pathLst>
                <a:path w="7105142" h="2959862">
                  <a:moveTo>
                    <a:pt x="16891" y="0"/>
                  </a:moveTo>
                  <a:lnTo>
                    <a:pt x="7088251" y="0"/>
                  </a:lnTo>
                  <a:cubicBezTo>
                    <a:pt x="7097649" y="0"/>
                    <a:pt x="7105142" y="7620"/>
                    <a:pt x="7105142" y="16891"/>
                  </a:cubicBezTo>
                  <a:lnTo>
                    <a:pt x="7105142" y="2942971"/>
                  </a:lnTo>
                  <a:cubicBezTo>
                    <a:pt x="7105142" y="2952369"/>
                    <a:pt x="7097522" y="2959862"/>
                    <a:pt x="7088251" y="2959862"/>
                  </a:cubicBezTo>
                  <a:lnTo>
                    <a:pt x="16891" y="2959862"/>
                  </a:lnTo>
                  <a:cubicBezTo>
                    <a:pt x="7493" y="2959862"/>
                    <a:pt x="0" y="2952242"/>
                    <a:pt x="0" y="29429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942971"/>
                  </a:lnTo>
                  <a:lnTo>
                    <a:pt x="16891" y="2942971"/>
                  </a:lnTo>
                  <a:lnTo>
                    <a:pt x="16891" y="2926080"/>
                  </a:lnTo>
                  <a:lnTo>
                    <a:pt x="7088251" y="2926080"/>
                  </a:lnTo>
                  <a:lnTo>
                    <a:pt x="7088251" y="2942971"/>
                  </a:lnTo>
                  <a:lnTo>
                    <a:pt x="7071360" y="2942971"/>
                  </a:lnTo>
                  <a:lnTo>
                    <a:pt x="7071360" y="16891"/>
                  </a:lnTo>
                  <a:lnTo>
                    <a:pt x="7088251" y="16891"/>
                  </a:lnTo>
                  <a:lnTo>
                    <a:pt x="70882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E2D45"/>
            </a:solidFill>
          </p:spPr>
        </p:sp>
      </p:grpSp>
      <p:grpSp>
        <p:nvGrpSpPr>
          <p:cNvPr id="32" name="Group 32"/>
          <p:cNvGrpSpPr/>
          <p:nvPr/>
        </p:nvGrpSpPr>
        <p:grpSpPr>
          <a:xfrm rot="0">
            <a:off x="12362688" y="2340864"/>
            <a:ext cx="4754880" cy="585216"/>
            <a:chOff x="0" y="0"/>
            <a:chExt cx="6339840" cy="780288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6339840" cy="780288"/>
            </a:xfrm>
            <a:custGeom>
              <a:avLst/>
              <a:gdLst/>
              <a:ahLst/>
              <a:cxnLst/>
              <a:rect l="l" t="t" r="r" b="b"/>
              <a:pathLst>
                <a:path w="6339840" h="780288">
                  <a:moveTo>
                    <a:pt x="0" y="0"/>
                  </a:moveTo>
                  <a:lnTo>
                    <a:pt x="6339840" y="0"/>
                  </a:lnTo>
                  <a:lnTo>
                    <a:pt x="633984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1">
                <a:alphaModFix amt="0"/>
              </a:blip>
              <a:stretch>
                <a:fillRect t="-108315" b="-108315"/>
              </a:stretch>
            </a:blipFill>
          </p:spPr>
        </p:sp>
        <p:sp>
          <p:nvSpPr>
            <p:cNvPr id="34" name="TextBox 34"/>
            <p:cNvSpPr txBox="1"/>
            <p:nvPr/>
          </p:nvSpPr>
          <p:spPr>
            <a:xfrm>
              <a:off x="0" y="-38100"/>
              <a:ext cx="6339840" cy="81838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00"/>
                </a:lnSpc>
              </a:pPr>
              <a:r>
                <a:rPr lang="en-US" sz="2000" b="1">
                  <a:solidFill>
                    <a:srgbClr val="34D399"/>
                  </a:solidFill>
                  <a:latin typeface="Calibri (MS) Bold" panose="020F0702030404030204"/>
                  <a:ea typeface="Calibri (MS) Bold" panose="020F0702030404030204"/>
                  <a:cs typeface="Calibri (MS) Bold" panose="020F0702030404030204"/>
                  <a:sym typeface="Calibri (MS) Bold" panose="020F0702030404030204"/>
                </a:rPr>
                <a:t>🔌  Interface Specification M1–V2</a:t>
              </a:r>
              <a:endParaRPr lang="en-US" sz="2000" b="1">
                <a:solidFill>
                  <a:srgbClr val="34D399"/>
                </a:solidFill>
                <a:latin typeface="Calibri (MS) Bold" panose="020F0702030404030204"/>
                <a:ea typeface="Calibri (MS) Bold" panose="020F0702030404030204"/>
                <a:cs typeface="Calibri (MS) Bold" panose="020F0702030404030204"/>
                <a:sym typeface="Calibri (MS) Bold" panose="020F0702030404030204"/>
              </a:endParaRPr>
            </a:p>
          </p:txBody>
        </p:sp>
      </p:grpSp>
      <p:grpSp>
        <p:nvGrpSpPr>
          <p:cNvPr id="35" name="Group 35"/>
          <p:cNvGrpSpPr/>
          <p:nvPr/>
        </p:nvGrpSpPr>
        <p:grpSpPr>
          <a:xfrm rot="0">
            <a:off x="12362688" y="2926080"/>
            <a:ext cx="4754880" cy="1243584"/>
            <a:chOff x="0" y="0"/>
            <a:chExt cx="6339840" cy="1658112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6339840" cy="1658112"/>
            </a:xfrm>
            <a:custGeom>
              <a:avLst/>
              <a:gdLst/>
              <a:ahLst/>
              <a:cxnLst/>
              <a:rect l="l" t="t" r="r" b="b"/>
              <a:pathLst>
                <a:path w="6339840" h="1658112">
                  <a:moveTo>
                    <a:pt x="0" y="0"/>
                  </a:moveTo>
                  <a:lnTo>
                    <a:pt x="6339840" y="0"/>
                  </a:lnTo>
                  <a:lnTo>
                    <a:pt x="6339840" y="1658112"/>
                  </a:lnTo>
                  <a:lnTo>
                    <a:pt x="0" y="1658112"/>
                  </a:lnTo>
                  <a:close/>
                </a:path>
              </a:pathLst>
            </a:custGeom>
            <a:blipFill>
              <a:blip r:embed="rId1">
                <a:alphaModFix amt="0"/>
              </a:blip>
              <a:stretch>
                <a:fillRect t="-24501" b="-24501"/>
              </a:stretch>
            </a:blipFill>
          </p:spPr>
        </p:sp>
        <p:sp>
          <p:nvSpPr>
            <p:cNvPr id="37" name="TextBox 37"/>
            <p:cNvSpPr txBox="1"/>
            <p:nvPr/>
          </p:nvSpPr>
          <p:spPr>
            <a:xfrm>
              <a:off x="0" y="-38100"/>
              <a:ext cx="6339840" cy="169621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94A3B8"/>
                  </a:solidFill>
                  <a:latin typeface="Calibri (MS)" panose="020F0502020204030204"/>
                  <a:ea typeface="Calibri (MS)" panose="020F0502020204030204"/>
                  <a:cs typeface="Calibri (MS)" panose="020F0502020204030204"/>
                  <a:sym typeface="Calibri (MS)" panose="020F0502020204030204"/>
                </a:rPr>
                <a:t>Created and updated with confirmed endpoints (S2 &amp; V2)</a:t>
              </a:r>
              <a:endParaRPr lang="en-US" sz="2000">
                <a:solidFill>
                  <a:srgbClr val="94A3B8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endParaRPr>
            </a:p>
          </p:txBody>
        </p:sp>
      </p:grpSp>
      <p:grpSp>
        <p:nvGrpSpPr>
          <p:cNvPr id="38" name="Group 38"/>
          <p:cNvGrpSpPr/>
          <p:nvPr/>
        </p:nvGrpSpPr>
        <p:grpSpPr>
          <a:xfrm rot="0">
            <a:off x="810263" y="4614167"/>
            <a:ext cx="5328923" cy="2219963"/>
            <a:chOff x="0" y="0"/>
            <a:chExt cx="7105231" cy="2959951"/>
          </a:xfrm>
        </p:grpSpPr>
        <p:sp>
          <p:nvSpPr>
            <p:cNvPr id="39" name="Freeform 39"/>
            <p:cNvSpPr/>
            <p:nvPr/>
          </p:nvSpPr>
          <p:spPr>
            <a:xfrm>
              <a:off x="16891" y="16891"/>
              <a:ext cx="7071360" cy="2926080"/>
            </a:xfrm>
            <a:custGeom>
              <a:avLst/>
              <a:gdLst/>
              <a:ahLst/>
              <a:cxnLst/>
              <a:rect l="l" t="t" r="r" b="b"/>
              <a:pathLst>
                <a:path w="7071360" h="2926080">
                  <a:moveTo>
                    <a:pt x="0" y="0"/>
                  </a:moveTo>
                  <a:lnTo>
                    <a:pt x="7071360" y="0"/>
                  </a:lnTo>
                  <a:lnTo>
                    <a:pt x="7071360" y="2926080"/>
                  </a:lnTo>
                  <a:lnTo>
                    <a:pt x="0" y="2926080"/>
                  </a:lnTo>
                  <a:close/>
                </a:path>
              </a:pathLst>
            </a:custGeom>
            <a:solidFill>
              <a:srgbClr val="141C2E"/>
            </a:solidFill>
          </p:spPr>
        </p:sp>
        <p:sp>
          <p:nvSpPr>
            <p:cNvPr id="40" name="Freeform 40"/>
            <p:cNvSpPr/>
            <p:nvPr/>
          </p:nvSpPr>
          <p:spPr>
            <a:xfrm>
              <a:off x="0" y="0"/>
              <a:ext cx="7105142" cy="2959862"/>
            </a:xfrm>
            <a:custGeom>
              <a:avLst/>
              <a:gdLst/>
              <a:ahLst/>
              <a:cxnLst/>
              <a:rect l="l" t="t" r="r" b="b"/>
              <a:pathLst>
                <a:path w="7105142" h="2959862">
                  <a:moveTo>
                    <a:pt x="16891" y="0"/>
                  </a:moveTo>
                  <a:lnTo>
                    <a:pt x="7088251" y="0"/>
                  </a:lnTo>
                  <a:cubicBezTo>
                    <a:pt x="7097649" y="0"/>
                    <a:pt x="7105142" y="7620"/>
                    <a:pt x="7105142" y="16891"/>
                  </a:cubicBezTo>
                  <a:lnTo>
                    <a:pt x="7105142" y="2942971"/>
                  </a:lnTo>
                  <a:cubicBezTo>
                    <a:pt x="7105142" y="2952369"/>
                    <a:pt x="7097522" y="2959862"/>
                    <a:pt x="7088251" y="2959862"/>
                  </a:cubicBezTo>
                  <a:lnTo>
                    <a:pt x="16891" y="2959862"/>
                  </a:lnTo>
                  <a:cubicBezTo>
                    <a:pt x="7493" y="2959862"/>
                    <a:pt x="0" y="2952242"/>
                    <a:pt x="0" y="29429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942971"/>
                  </a:lnTo>
                  <a:lnTo>
                    <a:pt x="16891" y="2942971"/>
                  </a:lnTo>
                  <a:lnTo>
                    <a:pt x="16891" y="2926080"/>
                  </a:lnTo>
                  <a:lnTo>
                    <a:pt x="7088251" y="2926080"/>
                  </a:lnTo>
                  <a:lnTo>
                    <a:pt x="7088251" y="2942971"/>
                  </a:lnTo>
                  <a:lnTo>
                    <a:pt x="7071360" y="2942971"/>
                  </a:lnTo>
                  <a:lnTo>
                    <a:pt x="7071360" y="16891"/>
                  </a:lnTo>
                  <a:lnTo>
                    <a:pt x="7088251" y="16891"/>
                  </a:lnTo>
                  <a:lnTo>
                    <a:pt x="70882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E2D45"/>
            </a:solidFill>
          </p:spPr>
        </p:sp>
      </p:grpSp>
      <p:grpSp>
        <p:nvGrpSpPr>
          <p:cNvPr id="41" name="Group 41"/>
          <p:cNvGrpSpPr/>
          <p:nvPr/>
        </p:nvGrpSpPr>
        <p:grpSpPr>
          <a:xfrm rot="0">
            <a:off x="1097280" y="4809744"/>
            <a:ext cx="4754880" cy="585216"/>
            <a:chOff x="0" y="0"/>
            <a:chExt cx="6339840" cy="780288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6339840" cy="780288"/>
            </a:xfrm>
            <a:custGeom>
              <a:avLst/>
              <a:gdLst/>
              <a:ahLst/>
              <a:cxnLst/>
              <a:rect l="l" t="t" r="r" b="b"/>
              <a:pathLst>
                <a:path w="6339840" h="780288">
                  <a:moveTo>
                    <a:pt x="0" y="0"/>
                  </a:moveTo>
                  <a:lnTo>
                    <a:pt x="6339840" y="0"/>
                  </a:lnTo>
                  <a:lnTo>
                    <a:pt x="633984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1">
                <a:alphaModFix amt="0"/>
              </a:blip>
              <a:stretch>
                <a:fillRect t="-108315" b="-108315"/>
              </a:stretch>
            </a:blipFill>
          </p:spPr>
        </p:sp>
        <p:sp>
          <p:nvSpPr>
            <p:cNvPr id="43" name="TextBox 43"/>
            <p:cNvSpPr txBox="1"/>
            <p:nvPr/>
          </p:nvSpPr>
          <p:spPr>
            <a:xfrm>
              <a:off x="0" y="-38100"/>
              <a:ext cx="6339840" cy="81838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00"/>
                </a:lnSpc>
              </a:pPr>
              <a:r>
                <a:rPr lang="en-US" sz="2000" b="1">
                  <a:solidFill>
                    <a:srgbClr val="34D399"/>
                  </a:solidFill>
                  <a:latin typeface="Calibri (MS) Bold" panose="020F0702030404030204"/>
                  <a:ea typeface="Calibri (MS) Bold" panose="020F0702030404030204"/>
                  <a:cs typeface="Calibri (MS) Bold" panose="020F0702030404030204"/>
                  <a:sym typeface="Calibri (MS) Bold" panose="020F0702030404030204"/>
                </a:rPr>
                <a:t>🎨  Mockups Redesigned</a:t>
              </a:r>
              <a:endParaRPr lang="en-US" sz="2000" b="1">
                <a:solidFill>
                  <a:srgbClr val="34D399"/>
                </a:solidFill>
                <a:latin typeface="Calibri (MS) Bold" panose="020F0702030404030204"/>
                <a:ea typeface="Calibri (MS) Bold" panose="020F0702030404030204"/>
                <a:cs typeface="Calibri (MS) Bold" panose="020F0702030404030204"/>
                <a:sym typeface="Calibri (MS) Bold" panose="020F0702030404030204"/>
              </a:endParaRPr>
            </a:p>
          </p:txBody>
        </p:sp>
      </p:grpSp>
      <p:grpSp>
        <p:nvGrpSpPr>
          <p:cNvPr id="44" name="Group 44"/>
          <p:cNvGrpSpPr/>
          <p:nvPr/>
        </p:nvGrpSpPr>
        <p:grpSpPr>
          <a:xfrm rot="0">
            <a:off x="1097280" y="5394960"/>
            <a:ext cx="4754880" cy="1243584"/>
            <a:chOff x="0" y="0"/>
            <a:chExt cx="6339840" cy="1658112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6339840" cy="1658112"/>
            </a:xfrm>
            <a:custGeom>
              <a:avLst/>
              <a:gdLst/>
              <a:ahLst/>
              <a:cxnLst/>
              <a:rect l="l" t="t" r="r" b="b"/>
              <a:pathLst>
                <a:path w="6339840" h="1658112">
                  <a:moveTo>
                    <a:pt x="0" y="0"/>
                  </a:moveTo>
                  <a:lnTo>
                    <a:pt x="6339840" y="0"/>
                  </a:lnTo>
                  <a:lnTo>
                    <a:pt x="6339840" y="1658112"/>
                  </a:lnTo>
                  <a:lnTo>
                    <a:pt x="0" y="1658112"/>
                  </a:lnTo>
                  <a:close/>
                </a:path>
              </a:pathLst>
            </a:custGeom>
            <a:blipFill>
              <a:blip r:embed="rId1">
                <a:alphaModFix amt="0"/>
              </a:blip>
              <a:stretch>
                <a:fillRect t="-24501" b="-24501"/>
              </a:stretch>
            </a:blipFill>
          </p:spPr>
        </p:sp>
        <p:sp>
          <p:nvSpPr>
            <p:cNvPr id="46" name="TextBox 46"/>
            <p:cNvSpPr txBox="1"/>
            <p:nvPr/>
          </p:nvSpPr>
          <p:spPr>
            <a:xfrm>
              <a:off x="0" y="-38100"/>
              <a:ext cx="6339840" cy="169621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94A3B8"/>
                  </a:solidFill>
                  <a:latin typeface="Calibri (MS)" panose="020F0502020204030204"/>
                  <a:ea typeface="Calibri (MS)" panose="020F0502020204030204"/>
                  <a:cs typeface="Calibri (MS)" panose="020F0502020204030204"/>
                  <a:sym typeface="Calibri (MS)" panose="020F0502020204030204"/>
                </a:rPr>
                <a:t>UI redesign, accessibility improvements, clinical features added</a:t>
              </a:r>
              <a:endParaRPr lang="en-US" sz="2000">
                <a:solidFill>
                  <a:srgbClr val="94A3B8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endParaRPr>
            </a:p>
          </p:txBody>
        </p:sp>
      </p:grpSp>
      <p:grpSp>
        <p:nvGrpSpPr>
          <p:cNvPr id="47" name="Group 47"/>
          <p:cNvGrpSpPr/>
          <p:nvPr/>
        </p:nvGrpSpPr>
        <p:grpSpPr>
          <a:xfrm rot="0">
            <a:off x="6442967" y="4614167"/>
            <a:ext cx="5328923" cy="2219963"/>
            <a:chOff x="0" y="0"/>
            <a:chExt cx="7105231" cy="2959951"/>
          </a:xfrm>
        </p:grpSpPr>
        <p:sp>
          <p:nvSpPr>
            <p:cNvPr id="48" name="Freeform 48"/>
            <p:cNvSpPr/>
            <p:nvPr/>
          </p:nvSpPr>
          <p:spPr>
            <a:xfrm>
              <a:off x="16891" y="16891"/>
              <a:ext cx="7071360" cy="2926080"/>
            </a:xfrm>
            <a:custGeom>
              <a:avLst/>
              <a:gdLst/>
              <a:ahLst/>
              <a:cxnLst/>
              <a:rect l="l" t="t" r="r" b="b"/>
              <a:pathLst>
                <a:path w="7071360" h="2926080">
                  <a:moveTo>
                    <a:pt x="0" y="0"/>
                  </a:moveTo>
                  <a:lnTo>
                    <a:pt x="7071360" y="0"/>
                  </a:lnTo>
                  <a:lnTo>
                    <a:pt x="7071360" y="2926080"/>
                  </a:lnTo>
                  <a:lnTo>
                    <a:pt x="0" y="2926080"/>
                  </a:lnTo>
                  <a:close/>
                </a:path>
              </a:pathLst>
            </a:custGeom>
            <a:solidFill>
              <a:srgbClr val="141C2E"/>
            </a:solidFill>
          </p:spPr>
        </p:sp>
        <p:sp>
          <p:nvSpPr>
            <p:cNvPr id="49" name="Freeform 49"/>
            <p:cNvSpPr/>
            <p:nvPr/>
          </p:nvSpPr>
          <p:spPr>
            <a:xfrm>
              <a:off x="0" y="0"/>
              <a:ext cx="7105142" cy="2959862"/>
            </a:xfrm>
            <a:custGeom>
              <a:avLst/>
              <a:gdLst/>
              <a:ahLst/>
              <a:cxnLst/>
              <a:rect l="l" t="t" r="r" b="b"/>
              <a:pathLst>
                <a:path w="7105142" h="2959862">
                  <a:moveTo>
                    <a:pt x="16891" y="0"/>
                  </a:moveTo>
                  <a:lnTo>
                    <a:pt x="7088251" y="0"/>
                  </a:lnTo>
                  <a:cubicBezTo>
                    <a:pt x="7097649" y="0"/>
                    <a:pt x="7105142" y="7620"/>
                    <a:pt x="7105142" y="16891"/>
                  </a:cubicBezTo>
                  <a:lnTo>
                    <a:pt x="7105142" y="2942971"/>
                  </a:lnTo>
                  <a:cubicBezTo>
                    <a:pt x="7105142" y="2952369"/>
                    <a:pt x="7097522" y="2959862"/>
                    <a:pt x="7088251" y="2959862"/>
                  </a:cubicBezTo>
                  <a:lnTo>
                    <a:pt x="16891" y="2959862"/>
                  </a:lnTo>
                  <a:cubicBezTo>
                    <a:pt x="7493" y="2959862"/>
                    <a:pt x="0" y="2952242"/>
                    <a:pt x="0" y="29429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942971"/>
                  </a:lnTo>
                  <a:lnTo>
                    <a:pt x="16891" y="2942971"/>
                  </a:lnTo>
                  <a:lnTo>
                    <a:pt x="16891" y="2926080"/>
                  </a:lnTo>
                  <a:lnTo>
                    <a:pt x="7088251" y="2926080"/>
                  </a:lnTo>
                  <a:lnTo>
                    <a:pt x="7088251" y="2942971"/>
                  </a:lnTo>
                  <a:lnTo>
                    <a:pt x="7071360" y="2942971"/>
                  </a:lnTo>
                  <a:lnTo>
                    <a:pt x="7071360" y="16891"/>
                  </a:lnTo>
                  <a:lnTo>
                    <a:pt x="7088251" y="16891"/>
                  </a:lnTo>
                  <a:lnTo>
                    <a:pt x="70882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E2D45"/>
            </a:solidFill>
          </p:spPr>
        </p:sp>
      </p:grpSp>
      <p:grpSp>
        <p:nvGrpSpPr>
          <p:cNvPr id="50" name="Group 50"/>
          <p:cNvGrpSpPr/>
          <p:nvPr/>
        </p:nvGrpSpPr>
        <p:grpSpPr>
          <a:xfrm rot="0">
            <a:off x="6729984" y="4809744"/>
            <a:ext cx="4754880" cy="585216"/>
            <a:chOff x="0" y="0"/>
            <a:chExt cx="6339840" cy="780288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6339840" cy="780288"/>
            </a:xfrm>
            <a:custGeom>
              <a:avLst/>
              <a:gdLst/>
              <a:ahLst/>
              <a:cxnLst/>
              <a:rect l="l" t="t" r="r" b="b"/>
              <a:pathLst>
                <a:path w="6339840" h="780288">
                  <a:moveTo>
                    <a:pt x="0" y="0"/>
                  </a:moveTo>
                  <a:lnTo>
                    <a:pt x="6339840" y="0"/>
                  </a:lnTo>
                  <a:lnTo>
                    <a:pt x="633984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1">
                <a:alphaModFix amt="0"/>
              </a:blip>
              <a:stretch>
                <a:fillRect t="-108315" b="-108315"/>
              </a:stretch>
            </a:blipFill>
          </p:spPr>
        </p:sp>
        <p:sp>
          <p:nvSpPr>
            <p:cNvPr id="52" name="TextBox 52"/>
            <p:cNvSpPr txBox="1"/>
            <p:nvPr/>
          </p:nvSpPr>
          <p:spPr>
            <a:xfrm>
              <a:off x="0" y="-38100"/>
              <a:ext cx="6339840" cy="81838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00"/>
                </a:lnSpc>
              </a:pPr>
              <a:r>
                <a:rPr lang="en-US" sz="2000" b="1">
                  <a:solidFill>
                    <a:srgbClr val="34D399"/>
                  </a:solidFill>
                  <a:latin typeface="Calibri (MS) Bold" panose="020F0702030404030204"/>
                  <a:ea typeface="Calibri (MS) Bold" panose="020F0702030404030204"/>
                  <a:cs typeface="Calibri (MS) Bold" panose="020F0702030404030204"/>
                  <a:sym typeface="Calibri (MS) Bold" panose="020F0702030404030204"/>
                </a:rPr>
                <a:t>📱  Functional Prototype</a:t>
              </a:r>
              <a:endParaRPr lang="en-US" sz="2000" b="1">
                <a:solidFill>
                  <a:srgbClr val="34D399"/>
                </a:solidFill>
                <a:latin typeface="Calibri (MS) Bold" panose="020F0702030404030204"/>
                <a:ea typeface="Calibri (MS) Bold" panose="020F0702030404030204"/>
                <a:cs typeface="Calibri (MS) Bold" panose="020F0702030404030204"/>
                <a:sym typeface="Calibri (MS) Bold" panose="020F0702030404030204"/>
              </a:endParaRPr>
            </a:p>
          </p:txBody>
        </p:sp>
      </p:grpSp>
      <p:grpSp>
        <p:nvGrpSpPr>
          <p:cNvPr id="53" name="Group 53"/>
          <p:cNvGrpSpPr/>
          <p:nvPr/>
        </p:nvGrpSpPr>
        <p:grpSpPr>
          <a:xfrm rot="0">
            <a:off x="6729984" y="5394960"/>
            <a:ext cx="4754880" cy="1243584"/>
            <a:chOff x="0" y="0"/>
            <a:chExt cx="6339840" cy="1658112"/>
          </a:xfrm>
        </p:grpSpPr>
        <p:sp>
          <p:nvSpPr>
            <p:cNvPr id="54" name="Freeform 54"/>
            <p:cNvSpPr/>
            <p:nvPr/>
          </p:nvSpPr>
          <p:spPr>
            <a:xfrm>
              <a:off x="0" y="0"/>
              <a:ext cx="6339840" cy="1658112"/>
            </a:xfrm>
            <a:custGeom>
              <a:avLst/>
              <a:gdLst/>
              <a:ahLst/>
              <a:cxnLst/>
              <a:rect l="l" t="t" r="r" b="b"/>
              <a:pathLst>
                <a:path w="6339840" h="1658112">
                  <a:moveTo>
                    <a:pt x="0" y="0"/>
                  </a:moveTo>
                  <a:lnTo>
                    <a:pt x="6339840" y="0"/>
                  </a:lnTo>
                  <a:lnTo>
                    <a:pt x="6339840" y="1658112"/>
                  </a:lnTo>
                  <a:lnTo>
                    <a:pt x="0" y="1658112"/>
                  </a:lnTo>
                  <a:close/>
                </a:path>
              </a:pathLst>
            </a:custGeom>
            <a:blipFill>
              <a:blip r:embed="rId1">
                <a:alphaModFix amt="0"/>
              </a:blip>
              <a:stretch>
                <a:fillRect t="-24501" b="-24501"/>
              </a:stretch>
            </a:blipFill>
          </p:spPr>
        </p:sp>
        <p:sp>
          <p:nvSpPr>
            <p:cNvPr id="55" name="TextBox 55"/>
            <p:cNvSpPr txBox="1"/>
            <p:nvPr/>
          </p:nvSpPr>
          <p:spPr>
            <a:xfrm>
              <a:off x="0" y="-38100"/>
              <a:ext cx="6339840" cy="169621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94A3B8"/>
                  </a:solidFill>
                  <a:latin typeface="Calibri (MS)" panose="020F0502020204030204"/>
                  <a:ea typeface="Calibri (MS)" panose="020F0502020204030204"/>
                  <a:cs typeface="Calibri (MS)" panose="020F0502020204030204"/>
                  <a:sym typeface="Calibri (MS)" panose="020F0502020204030204"/>
                </a:rPr>
                <a:t>Login, exercise flow, sensor screens, history — in development</a:t>
              </a:r>
              <a:endParaRPr lang="en-US" sz="2000">
                <a:solidFill>
                  <a:srgbClr val="94A3B8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endParaRPr>
            </a:p>
          </p:txBody>
        </p:sp>
      </p:grpSp>
      <p:grpSp>
        <p:nvGrpSpPr>
          <p:cNvPr id="56" name="Group 56"/>
          <p:cNvGrpSpPr/>
          <p:nvPr/>
        </p:nvGrpSpPr>
        <p:grpSpPr>
          <a:xfrm rot="0">
            <a:off x="12075671" y="4614167"/>
            <a:ext cx="5328923" cy="2219963"/>
            <a:chOff x="0" y="0"/>
            <a:chExt cx="7105231" cy="2959951"/>
          </a:xfrm>
        </p:grpSpPr>
        <p:sp>
          <p:nvSpPr>
            <p:cNvPr id="57" name="Freeform 57"/>
            <p:cNvSpPr/>
            <p:nvPr/>
          </p:nvSpPr>
          <p:spPr>
            <a:xfrm>
              <a:off x="16891" y="16891"/>
              <a:ext cx="7071360" cy="2926080"/>
            </a:xfrm>
            <a:custGeom>
              <a:avLst/>
              <a:gdLst/>
              <a:ahLst/>
              <a:cxnLst/>
              <a:rect l="l" t="t" r="r" b="b"/>
              <a:pathLst>
                <a:path w="7071360" h="2926080">
                  <a:moveTo>
                    <a:pt x="0" y="0"/>
                  </a:moveTo>
                  <a:lnTo>
                    <a:pt x="7071360" y="0"/>
                  </a:lnTo>
                  <a:lnTo>
                    <a:pt x="7071360" y="2926080"/>
                  </a:lnTo>
                  <a:lnTo>
                    <a:pt x="0" y="2926080"/>
                  </a:lnTo>
                  <a:close/>
                </a:path>
              </a:pathLst>
            </a:custGeom>
            <a:solidFill>
              <a:srgbClr val="141C2E"/>
            </a:solidFill>
          </p:spPr>
        </p:sp>
        <p:sp>
          <p:nvSpPr>
            <p:cNvPr id="58" name="Freeform 58"/>
            <p:cNvSpPr/>
            <p:nvPr/>
          </p:nvSpPr>
          <p:spPr>
            <a:xfrm>
              <a:off x="0" y="0"/>
              <a:ext cx="7105142" cy="2959862"/>
            </a:xfrm>
            <a:custGeom>
              <a:avLst/>
              <a:gdLst/>
              <a:ahLst/>
              <a:cxnLst/>
              <a:rect l="l" t="t" r="r" b="b"/>
              <a:pathLst>
                <a:path w="7105142" h="2959862">
                  <a:moveTo>
                    <a:pt x="16891" y="0"/>
                  </a:moveTo>
                  <a:lnTo>
                    <a:pt x="7088251" y="0"/>
                  </a:lnTo>
                  <a:cubicBezTo>
                    <a:pt x="7097649" y="0"/>
                    <a:pt x="7105142" y="7620"/>
                    <a:pt x="7105142" y="16891"/>
                  </a:cubicBezTo>
                  <a:lnTo>
                    <a:pt x="7105142" y="2942971"/>
                  </a:lnTo>
                  <a:cubicBezTo>
                    <a:pt x="7105142" y="2952369"/>
                    <a:pt x="7097522" y="2959862"/>
                    <a:pt x="7088251" y="2959862"/>
                  </a:cubicBezTo>
                  <a:lnTo>
                    <a:pt x="16891" y="2959862"/>
                  </a:lnTo>
                  <a:cubicBezTo>
                    <a:pt x="7493" y="2959862"/>
                    <a:pt x="0" y="2952242"/>
                    <a:pt x="0" y="29429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942971"/>
                  </a:lnTo>
                  <a:lnTo>
                    <a:pt x="16891" y="2942971"/>
                  </a:lnTo>
                  <a:lnTo>
                    <a:pt x="16891" y="2926080"/>
                  </a:lnTo>
                  <a:lnTo>
                    <a:pt x="7088251" y="2926080"/>
                  </a:lnTo>
                  <a:lnTo>
                    <a:pt x="7088251" y="2942971"/>
                  </a:lnTo>
                  <a:lnTo>
                    <a:pt x="7071360" y="2942971"/>
                  </a:lnTo>
                  <a:lnTo>
                    <a:pt x="7071360" y="16891"/>
                  </a:lnTo>
                  <a:lnTo>
                    <a:pt x="7088251" y="16891"/>
                  </a:lnTo>
                  <a:lnTo>
                    <a:pt x="70882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E2D45"/>
            </a:solidFill>
          </p:spPr>
        </p:sp>
      </p:grpSp>
      <p:grpSp>
        <p:nvGrpSpPr>
          <p:cNvPr id="59" name="Group 59"/>
          <p:cNvGrpSpPr/>
          <p:nvPr/>
        </p:nvGrpSpPr>
        <p:grpSpPr>
          <a:xfrm rot="0">
            <a:off x="12362688" y="4809744"/>
            <a:ext cx="4754880" cy="585216"/>
            <a:chOff x="0" y="0"/>
            <a:chExt cx="6339840" cy="780288"/>
          </a:xfrm>
        </p:grpSpPr>
        <p:sp>
          <p:nvSpPr>
            <p:cNvPr id="60" name="Freeform 60"/>
            <p:cNvSpPr/>
            <p:nvPr/>
          </p:nvSpPr>
          <p:spPr>
            <a:xfrm>
              <a:off x="0" y="0"/>
              <a:ext cx="6339840" cy="780288"/>
            </a:xfrm>
            <a:custGeom>
              <a:avLst/>
              <a:gdLst/>
              <a:ahLst/>
              <a:cxnLst/>
              <a:rect l="l" t="t" r="r" b="b"/>
              <a:pathLst>
                <a:path w="6339840" h="780288">
                  <a:moveTo>
                    <a:pt x="0" y="0"/>
                  </a:moveTo>
                  <a:lnTo>
                    <a:pt x="6339840" y="0"/>
                  </a:lnTo>
                  <a:lnTo>
                    <a:pt x="633984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1">
                <a:alphaModFix amt="0"/>
              </a:blip>
              <a:stretch>
                <a:fillRect t="-108315" b="-108315"/>
              </a:stretch>
            </a:blipFill>
          </p:spPr>
        </p:sp>
        <p:sp>
          <p:nvSpPr>
            <p:cNvPr id="61" name="TextBox 61"/>
            <p:cNvSpPr txBox="1"/>
            <p:nvPr/>
          </p:nvSpPr>
          <p:spPr>
            <a:xfrm>
              <a:off x="0" y="-38100"/>
              <a:ext cx="6339840" cy="81838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00"/>
                </a:lnSpc>
              </a:pPr>
              <a:r>
                <a:rPr lang="en-US" sz="2000" b="1">
                  <a:solidFill>
                    <a:srgbClr val="34D399"/>
                  </a:solidFill>
                  <a:latin typeface="Calibri (MS) Bold" panose="020F0702030404030204"/>
                  <a:ea typeface="Calibri (MS) Bold" panose="020F0702030404030204"/>
                  <a:cs typeface="Calibri (MS) Bold" panose="020F0702030404030204"/>
                  <a:sym typeface="Calibri (MS) Bold" panose="020F0702030404030204"/>
                </a:rPr>
                <a:t>🧪  Backend Interface Tested</a:t>
              </a:r>
              <a:endParaRPr lang="en-US" sz="2000" b="1">
                <a:solidFill>
                  <a:srgbClr val="34D399"/>
                </a:solidFill>
                <a:latin typeface="Calibri (MS) Bold" panose="020F0702030404030204"/>
                <a:ea typeface="Calibri (MS) Bold" panose="020F0702030404030204"/>
                <a:cs typeface="Calibri (MS) Bold" panose="020F0702030404030204"/>
                <a:sym typeface="Calibri (MS) Bold" panose="020F0702030404030204"/>
              </a:endParaRPr>
            </a:p>
          </p:txBody>
        </p:sp>
      </p:grpSp>
      <p:grpSp>
        <p:nvGrpSpPr>
          <p:cNvPr id="62" name="Group 62"/>
          <p:cNvGrpSpPr/>
          <p:nvPr/>
        </p:nvGrpSpPr>
        <p:grpSpPr>
          <a:xfrm rot="0">
            <a:off x="12362688" y="5394960"/>
            <a:ext cx="4754880" cy="1243584"/>
            <a:chOff x="0" y="0"/>
            <a:chExt cx="6339840" cy="1658112"/>
          </a:xfrm>
        </p:grpSpPr>
        <p:sp>
          <p:nvSpPr>
            <p:cNvPr id="63" name="Freeform 63"/>
            <p:cNvSpPr/>
            <p:nvPr/>
          </p:nvSpPr>
          <p:spPr>
            <a:xfrm>
              <a:off x="0" y="0"/>
              <a:ext cx="6339840" cy="1658112"/>
            </a:xfrm>
            <a:custGeom>
              <a:avLst/>
              <a:gdLst/>
              <a:ahLst/>
              <a:cxnLst/>
              <a:rect l="l" t="t" r="r" b="b"/>
              <a:pathLst>
                <a:path w="6339840" h="1658112">
                  <a:moveTo>
                    <a:pt x="0" y="0"/>
                  </a:moveTo>
                  <a:lnTo>
                    <a:pt x="6339840" y="0"/>
                  </a:lnTo>
                  <a:lnTo>
                    <a:pt x="6339840" y="1658112"/>
                  </a:lnTo>
                  <a:lnTo>
                    <a:pt x="0" y="1658112"/>
                  </a:lnTo>
                  <a:close/>
                </a:path>
              </a:pathLst>
            </a:custGeom>
            <a:blipFill>
              <a:blip r:embed="rId1">
                <a:alphaModFix amt="0"/>
              </a:blip>
              <a:stretch>
                <a:fillRect t="-24501" b="-24501"/>
              </a:stretch>
            </a:blipFill>
          </p:spPr>
        </p:sp>
        <p:sp>
          <p:nvSpPr>
            <p:cNvPr id="64" name="TextBox 64"/>
            <p:cNvSpPr txBox="1"/>
            <p:nvPr/>
          </p:nvSpPr>
          <p:spPr>
            <a:xfrm>
              <a:off x="0" y="-38100"/>
              <a:ext cx="6339840" cy="169621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94A3B8"/>
                  </a:solidFill>
                  <a:latin typeface="Calibri (MS)" panose="020F0502020204030204"/>
                  <a:ea typeface="Calibri (MS)" panose="020F0502020204030204"/>
                  <a:cs typeface="Calibri (MS)" panose="020F0502020204030204"/>
                  <a:sym typeface="Calibri (MS)" panose="020F0502020204030204"/>
                </a:rPr>
                <a:t>V2 interface tested by Wang (initial version)</a:t>
              </a:r>
              <a:endParaRPr lang="en-US" sz="2000">
                <a:solidFill>
                  <a:srgbClr val="94A3B8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endParaRPr>
            </a:p>
          </p:txBody>
        </p:sp>
      </p:grpSp>
      <p:grpSp>
        <p:nvGrpSpPr>
          <p:cNvPr id="65" name="Group 65"/>
          <p:cNvGrpSpPr/>
          <p:nvPr/>
        </p:nvGrpSpPr>
        <p:grpSpPr>
          <a:xfrm rot="0">
            <a:off x="810263" y="7083047"/>
            <a:ext cx="5328923" cy="2219963"/>
            <a:chOff x="0" y="0"/>
            <a:chExt cx="7105231" cy="2959951"/>
          </a:xfrm>
        </p:grpSpPr>
        <p:sp>
          <p:nvSpPr>
            <p:cNvPr id="66" name="Freeform 66"/>
            <p:cNvSpPr/>
            <p:nvPr/>
          </p:nvSpPr>
          <p:spPr>
            <a:xfrm>
              <a:off x="16891" y="16891"/>
              <a:ext cx="7071360" cy="2926080"/>
            </a:xfrm>
            <a:custGeom>
              <a:avLst/>
              <a:gdLst/>
              <a:ahLst/>
              <a:cxnLst/>
              <a:rect l="l" t="t" r="r" b="b"/>
              <a:pathLst>
                <a:path w="7071360" h="2926080">
                  <a:moveTo>
                    <a:pt x="0" y="0"/>
                  </a:moveTo>
                  <a:lnTo>
                    <a:pt x="7071360" y="0"/>
                  </a:lnTo>
                  <a:lnTo>
                    <a:pt x="7071360" y="2926080"/>
                  </a:lnTo>
                  <a:lnTo>
                    <a:pt x="0" y="2926080"/>
                  </a:lnTo>
                  <a:close/>
                </a:path>
              </a:pathLst>
            </a:custGeom>
            <a:solidFill>
              <a:srgbClr val="141C2E"/>
            </a:solidFill>
          </p:spPr>
        </p:sp>
        <p:sp>
          <p:nvSpPr>
            <p:cNvPr id="67" name="Freeform 67"/>
            <p:cNvSpPr/>
            <p:nvPr/>
          </p:nvSpPr>
          <p:spPr>
            <a:xfrm>
              <a:off x="0" y="0"/>
              <a:ext cx="7105142" cy="2959862"/>
            </a:xfrm>
            <a:custGeom>
              <a:avLst/>
              <a:gdLst/>
              <a:ahLst/>
              <a:cxnLst/>
              <a:rect l="l" t="t" r="r" b="b"/>
              <a:pathLst>
                <a:path w="7105142" h="2959862">
                  <a:moveTo>
                    <a:pt x="16891" y="0"/>
                  </a:moveTo>
                  <a:lnTo>
                    <a:pt x="7088251" y="0"/>
                  </a:lnTo>
                  <a:cubicBezTo>
                    <a:pt x="7097649" y="0"/>
                    <a:pt x="7105142" y="7620"/>
                    <a:pt x="7105142" y="16891"/>
                  </a:cubicBezTo>
                  <a:lnTo>
                    <a:pt x="7105142" y="2942971"/>
                  </a:lnTo>
                  <a:cubicBezTo>
                    <a:pt x="7105142" y="2952369"/>
                    <a:pt x="7097522" y="2959862"/>
                    <a:pt x="7088251" y="2959862"/>
                  </a:cubicBezTo>
                  <a:lnTo>
                    <a:pt x="16891" y="2959862"/>
                  </a:lnTo>
                  <a:cubicBezTo>
                    <a:pt x="7493" y="2959862"/>
                    <a:pt x="0" y="2952242"/>
                    <a:pt x="0" y="29429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942971"/>
                  </a:lnTo>
                  <a:lnTo>
                    <a:pt x="16891" y="2942971"/>
                  </a:lnTo>
                  <a:lnTo>
                    <a:pt x="16891" y="2926080"/>
                  </a:lnTo>
                  <a:lnTo>
                    <a:pt x="7088251" y="2926080"/>
                  </a:lnTo>
                  <a:lnTo>
                    <a:pt x="7088251" y="2942971"/>
                  </a:lnTo>
                  <a:lnTo>
                    <a:pt x="7071360" y="2942971"/>
                  </a:lnTo>
                  <a:lnTo>
                    <a:pt x="7071360" y="16891"/>
                  </a:lnTo>
                  <a:lnTo>
                    <a:pt x="7088251" y="16891"/>
                  </a:lnTo>
                  <a:lnTo>
                    <a:pt x="70882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E2D45"/>
            </a:solidFill>
          </p:spPr>
        </p:sp>
      </p:grpSp>
      <p:grpSp>
        <p:nvGrpSpPr>
          <p:cNvPr id="68" name="Group 68"/>
          <p:cNvGrpSpPr/>
          <p:nvPr/>
        </p:nvGrpSpPr>
        <p:grpSpPr>
          <a:xfrm rot="0">
            <a:off x="1097280" y="7278624"/>
            <a:ext cx="4754880" cy="585216"/>
            <a:chOff x="0" y="0"/>
            <a:chExt cx="6339840" cy="780288"/>
          </a:xfrm>
        </p:grpSpPr>
        <p:sp>
          <p:nvSpPr>
            <p:cNvPr id="69" name="Freeform 69"/>
            <p:cNvSpPr/>
            <p:nvPr/>
          </p:nvSpPr>
          <p:spPr>
            <a:xfrm>
              <a:off x="0" y="0"/>
              <a:ext cx="6339840" cy="780288"/>
            </a:xfrm>
            <a:custGeom>
              <a:avLst/>
              <a:gdLst/>
              <a:ahLst/>
              <a:cxnLst/>
              <a:rect l="l" t="t" r="r" b="b"/>
              <a:pathLst>
                <a:path w="6339840" h="780288">
                  <a:moveTo>
                    <a:pt x="0" y="0"/>
                  </a:moveTo>
                  <a:lnTo>
                    <a:pt x="6339840" y="0"/>
                  </a:lnTo>
                  <a:lnTo>
                    <a:pt x="633984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1">
                <a:alphaModFix amt="0"/>
              </a:blip>
              <a:stretch>
                <a:fillRect t="-108315" b="-108315"/>
              </a:stretch>
            </a:blipFill>
          </p:spPr>
        </p:sp>
        <p:sp>
          <p:nvSpPr>
            <p:cNvPr id="70" name="TextBox 70"/>
            <p:cNvSpPr txBox="1"/>
            <p:nvPr/>
          </p:nvSpPr>
          <p:spPr>
            <a:xfrm>
              <a:off x="0" y="-38100"/>
              <a:ext cx="6339840" cy="81838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00"/>
                </a:lnSpc>
              </a:pPr>
              <a:r>
                <a:rPr lang="en-US" sz="2000" b="1">
                  <a:solidFill>
                    <a:srgbClr val="34D399"/>
                  </a:solidFill>
                  <a:latin typeface="Calibri (MS) Bold" panose="020F0702030404030204"/>
                  <a:ea typeface="Calibri (MS) Bold" panose="020F0702030404030204"/>
                  <a:cs typeface="Calibri (MS) Bold" panose="020F0702030404030204"/>
                  <a:sym typeface="Calibri (MS) Bold" panose="020F0702030404030204"/>
                </a:rPr>
                <a:t>🤝  Cross-Team Collaboration</a:t>
              </a:r>
              <a:endParaRPr lang="en-US" sz="2000" b="1">
                <a:solidFill>
                  <a:srgbClr val="34D399"/>
                </a:solidFill>
                <a:latin typeface="Calibri (MS) Bold" panose="020F0702030404030204"/>
                <a:ea typeface="Calibri (MS) Bold" panose="020F0702030404030204"/>
                <a:cs typeface="Calibri (MS) Bold" panose="020F0702030404030204"/>
                <a:sym typeface="Calibri (MS) Bold" panose="020F0702030404030204"/>
              </a:endParaRPr>
            </a:p>
          </p:txBody>
        </p:sp>
      </p:grpSp>
      <p:grpSp>
        <p:nvGrpSpPr>
          <p:cNvPr id="71" name="Group 71"/>
          <p:cNvGrpSpPr/>
          <p:nvPr/>
        </p:nvGrpSpPr>
        <p:grpSpPr>
          <a:xfrm rot="0">
            <a:off x="1097280" y="7863840"/>
            <a:ext cx="4754880" cy="1243584"/>
            <a:chOff x="0" y="0"/>
            <a:chExt cx="6339840" cy="1658112"/>
          </a:xfrm>
        </p:grpSpPr>
        <p:sp>
          <p:nvSpPr>
            <p:cNvPr id="72" name="Freeform 72"/>
            <p:cNvSpPr/>
            <p:nvPr/>
          </p:nvSpPr>
          <p:spPr>
            <a:xfrm>
              <a:off x="0" y="0"/>
              <a:ext cx="6339840" cy="1658112"/>
            </a:xfrm>
            <a:custGeom>
              <a:avLst/>
              <a:gdLst/>
              <a:ahLst/>
              <a:cxnLst/>
              <a:rect l="l" t="t" r="r" b="b"/>
              <a:pathLst>
                <a:path w="6339840" h="1658112">
                  <a:moveTo>
                    <a:pt x="0" y="0"/>
                  </a:moveTo>
                  <a:lnTo>
                    <a:pt x="6339840" y="0"/>
                  </a:lnTo>
                  <a:lnTo>
                    <a:pt x="6339840" y="1658112"/>
                  </a:lnTo>
                  <a:lnTo>
                    <a:pt x="0" y="1658112"/>
                  </a:lnTo>
                  <a:close/>
                </a:path>
              </a:pathLst>
            </a:custGeom>
            <a:blipFill>
              <a:blip r:embed="rId1">
                <a:alphaModFix amt="0"/>
              </a:blip>
              <a:stretch>
                <a:fillRect t="-24501" b="-24501"/>
              </a:stretch>
            </a:blipFill>
          </p:spPr>
        </p:sp>
        <p:sp>
          <p:nvSpPr>
            <p:cNvPr id="73" name="TextBox 73"/>
            <p:cNvSpPr txBox="1"/>
            <p:nvPr/>
          </p:nvSpPr>
          <p:spPr>
            <a:xfrm>
              <a:off x="0" y="-38100"/>
              <a:ext cx="6339840" cy="169621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94A3B8"/>
                  </a:solidFill>
                  <a:latin typeface="Calibri (MS)" panose="020F0502020204030204"/>
                  <a:ea typeface="Calibri (MS)" panose="020F0502020204030204"/>
                  <a:cs typeface="Calibri (MS)" panose="020F0502020204030204"/>
                  <a:sym typeface="Calibri (MS)" panose="020F0502020204030204"/>
                </a:rPr>
                <a:t>Active cooperation with V2 Backend, S1 and S2 teams</a:t>
              </a:r>
              <a:endParaRPr lang="en-US" sz="2000">
                <a:solidFill>
                  <a:srgbClr val="94A3B8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endParaRPr>
            </a:p>
          </p:txBody>
        </p:sp>
      </p:grpSp>
      <p:grpSp>
        <p:nvGrpSpPr>
          <p:cNvPr id="74" name="Group 74"/>
          <p:cNvGrpSpPr/>
          <p:nvPr/>
        </p:nvGrpSpPr>
        <p:grpSpPr>
          <a:xfrm rot="0">
            <a:off x="6442967" y="7083047"/>
            <a:ext cx="5328923" cy="2219963"/>
            <a:chOff x="0" y="0"/>
            <a:chExt cx="7105231" cy="2959951"/>
          </a:xfrm>
        </p:grpSpPr>
        <p:sp>
          <p:nvSpPr>
            <p:cNvPr id="75" name="Freeform 75"/>
            <p:cNvSpPr/>
            <p:nvPr/>
          </p:nvSpPr>
          <p:spPr>
            <a:xfrm>
              <a:off x="16891" y="16891"/>
              <a:ext cx="7071360" cy="2926080"/>
            </a:xfrm>
            <a:custGeom>
              <a:avLst/>
              <a:gdLst/>
              <a:ahLst/>
              <a:cxnLst/>
              <a:rect l="l" t="t" r="r" b="b"/>
              <a:pathLst>
                <a:path w="7071360" h="2926080">
                  <a:moveTo>
                    <a:pt x="0" y="0"/>
                  </a:moveTo>
                  <a:lnTo>
                    <a:pt x="7071360" y="0"/>
                  </a:lnTo>
                  <a:lnTo>
                    <a:pt x="7071360" y="2926080"/>
                  </a:lnTo>
                  <a:lnTo>
                    <a:pt x="0" y="2926080"/>
                  </a:lnTo>
                  <a:close/>
                </a:path>
              </a:pathLst>
            </a:custGeom>
            <a:solidFill>
              <a:srgbClr val="141C2E"/>
            </a:solidFill>
          </p:spPr>
        </p:sp>
        <p:sp>
          <p:nvSpPr>
            <p:cNvPr id="76" name="Freeform 76"/>
            <p:cNvSpPr/>
            <p:nvPr/>
          </p:nvSpPr>
          <p:spPr>
            <a:xfrm>
              <a:off x="0" y="0"/>
              <a:ext cx="7105142" cy="2959862"/>
            </a:xfrm>
            <a:custGeom>
              <a:avLst/>
              <a:gdLst/>
              <a:ahLst/>
              <a:cxnLst/>
              <a:rect l="l" t="t" r="r" b="b"/>
              <a:pathLst>
                <a:path w="7105142" h="2959862">
                  <a:moveTo>
                    <a:pt x="16891" y="0"/>
                  </a:moveTo>
                  <a:lnTo>
                    <a:pt x="7088251" y="0"/>
                  </a:lnTo>
                  <a:cubicBezTo>
                    <a:pt x="7097649" y="0"/>
                    <a:pt x="7105142" y="7620"/>
                    <a:pt x="7105142" y="16891"/>
                  </a:cubicBezTo>
                  <a:lnTo>
                    <a:pt x="7105142" y="2942971"/>
                  </a:lnTo>
                  <a:cubicBezTo>
                    <a:pt x="7105142" y="2952369"/>
                    <a:pt x="7097522" y="2959862"/>
                    <a:pt x="7088251" y="2959862"/>
                  </a:cubicBezTo>
                  <a:lnTo>
                    <a:pt x="16891" y="2959862"/>
                  </a:lnTo>
                  <a:cubicBezTo>
                    <a:pt x="7493" y="2959862"/>
                    <a:pt x="0" y="2952242"/>
                    <a:pt x="0" y="29429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942971"/>
                  </a:lnTo>
                  <a:lnTo>
                    <a:pt x="16891" y="2942971"/>
                  </a:lnTo>
                  <a:lnTo>
                    <a:pt x="16891" y="2926080"/>
                  </a:lnTo>
                  <a:lnTo>
                    <a:pt x="7088251" y="2926080"/>
                  </a:lnTo>
                  <a:lnTo>
                    <a:pt x="7088251" y="2942971"/>
                  </a:lnTo>
                  <a:lnTo>
                    <a:pt x="7071360" y="2942971"/>
                  </a:lnTo>
                  <a:lnTo>
                    <a:pt x="7071360" y="16891"/>
                  </a:lnTo>
                  <a:lnTo>
                    <a:pt x="7088251" y="16891"/>
                  </a:lnTo>
                  <a:lnTo>
                    <a:pt x="70882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E2D45"/>
            </a:solidFill>
          </p:spPr>
        </p:sp>
      </p:grpSp>
      <p:grpSp>
        <p:nvGrpSpPr>
          <p:cNvPr id="77" name="Group 77"/>
          <p:cNvGrpSpPr/>
          <p:nvPr/>
        </p:nvGrpSpPr>
        <p:grpSpPr>
          <a:xfrm rot="0">
            <a:off x="6729984" y="7278624"/>
            <a:ext cx="4754880" cy="585216"/>
            <a:chOff x="0" y="0"/>
            <a:chExt cx="6339840" cy="780288"/>
          </a:xfrm>
        </p:grpSpPr>
        <p:sp>
          <p:nvSpPr>
            <p:cNvPr id="78" name="Freeform 78"/>
            <p:cNvSpPr/>
            <p:nvPr/>
          </p:nvSpPr>
          <p:spPr>
            <a:xfrm>
              <a:off x="0" y="0"/>
              <a:ext cx="6339840" cy="780288"/>
            </a:xfrm>
            <a:custGeom>
              <a:avLst/>
              <a:gdLst/>
              <a:ahLst/>
              <a:cxnLst/>
              <a:rect l="l" t="t" r="r" b="b"/>
              <a:pathLst>
                <a:path w="6339840" h="780288">
                  <a:moveTo>
                    <a:pt x="0" y="0"/>
                  </a:moveTo>
                  <a:lnTo>
                    <a:pt x="6339840" y="0"/>
                  </a:lnTo>
                  <a:lnTo>
                    <a:pt x="633984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1">
                <a:alphaModFix amt="0"/>
              </a:blip>
              <a:stretch>
                <a:fillRect t="-108315" b="-108315"/>
              </a:stretch>
            </a:blipFill>
          </p:spPr>
        </p:sp>
        <p:sp>
          <p:nvSpPr>
            <p:cNvPr id="79" name="TextBox 79"/>
            <p:cNvSpPr txBox="1"/>
            <p:nvPr/>
          </p:nvSpPr>
          <p:spPr>
            <a:xfrm>
              <a:off x="0" y="-38100"/>
              <a:ext cx="6339840" cy="81838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00"/>
                </a:lnSpc>
              </a:pPr>
              <a:r>
                <a:rPr lang="en-US" sz="2000" b="1">
                  <a:solidFill>
                    <a:srgbClr val="34D399"/>
                  </a:solidFill>
                  <a:latin typeface="Calibri (MS) Bold" panose="020F0702030404030204"/>
                  <a:ea typeface="Calibri (MS) Bold" panose="020F0702030404030204"/>
                  <a:cs typeface="Calibri (MS) Bold" panose="020F0702030404030204"/>
                  <a:sym typeface="Calibri (MS) Bold" panose="020F0702030404030204"/>
                </a:rPr>
                <a:t>🌐  Website / News Updates</a:t>
              </a:r>
              <a:endParaRPr lang="en-US" sz="2000" b="1">
                <a:solidFill>
                  <a:srgbClr val="34D399"/>
                </a:solidFill>
                <a:latin typeface="Calibri (MS) Bold" panose="020F0702030404030204"/>
                <a:ea typeface="Calibri (MS) Bold" panose="020F0702030404030204"/>
                <a:cs typeface="Calibri (MS) Bold" panose="020F0702030404030204"/>
                <a:sym typeface="Calibri (MS) Bold" panose="020F0702030404030204"/>
              </a:endParaRPr>
            </a:p>
          </p:txBody>
        </p:sp>
      </p:grpSp>
      <p:grpSp>
        <p:nvGrpSpPr>
          <p:cNvPr id="80" name="Group 80"/>
          <p:cNvGrpSpPr/>
          <p:nvPr/>
        </p:nvGrpSpPr>
        <p:grpSpPr>
          <a:xfrm rot="0">
            <a:off x="6729984" y="7863840"/>
            <a:ext cx="4754880" cy="1243584"/>
            <a:chOff x="0" y="0"/>
            <a:chExt cx="6339840" cy="1658112"/>
          </a:xfrm>
        </p:grpSpPr>
        <p:sp>
          <p:nvSpPr>
            <p:cNvPr id="81" name="Freeform 81"/>
            <p:cNvSpPr/>
            <p:nvPr/>
          </p:nvSpPr>
          <p:spPr>
            <a:xfrm>
              <a:off x="0" y="0"/>
              <a:ext cx="6339840" cy="1658112"/>
            </a:xfrm>
            <a:custGeom>
              <a:avLst/>
              <a:gdLst/>
              <a:ahLst/>
              <a:cxnLst/>
              <a:rect l="l" t="t" r="r" b="b"/>
              <a:pathLst>
                <a:path w="6339840" h="1658112">
                  <a:moveTo>
                    <a:pt x="0" y="0"/>
                  </a:moveTo>
                  <a:lnTo>
                    <a:pt x="6339840" y="0"/>
                  </a:lnTo>
                  <a:lnTo>
                    <a:pt x="6339840" y="1658112"/>
                  </a:lnTo>
                  <a:lnTo>
                    <a:pt x="0" y="1658112"/>
                  </a:lnTo>
                  <a:close/>
                </a:path>
              </a:pathLst>
            </a:custGeom>
            <a:blipFill>
              <a:blip r:embed="rId1">
                <a:alphaModFix amt="0"/>
              </a:blip>
              <a:stretch>
                <a:fillRect t="-24501" b="-24501"/>
              </a:stretch>
            </a:blipFill>
          </p:spPr>
        </p:sp>
        <p:sp>
          <p:nvSpPr>
            <p:cNvPr id="82" name="TextBox 82"/>
            <p:cNvSpPr txBox="1"/>
            <p:nvPr/>
          </p:nvSpPr>
          <p:spPr>
            <a:xfrm>
              <a:off x="0" y="-38100"/>
              <a:ext cx="6339840" cy="169621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94A3B8"/>
                  </a:solidFill>
                  <a:latin typeface="Calibri (MS)" panose="020F0502020204030204"/>
                  <a:ea typeface="Calibri (MS)" panose="020F0502020204030204"/>
                  <a:cs typeface="Calibri (MS)" panose="020F0502020204030204"/>
                  <a:sym typeface="Calibri (MS)" panose="020F0502020204030204"/>
                </a:rPr>
                <a:t>Team site updated to improve communication with all teams</a:t>
              </a:r>
              <a:endParaRPr lang="en-US" sz="2000">
                <a:solidFill>
                  <a:srgbClr val="94A3B8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endParaRPr>
            </a:p>
          </p:txBody>
        </p:sp>
      </p:grpSp>
      <p:grpSp>
        <p:nvGrpSpPr>
          <p:cNvPr id="83" name="Group 83"/>
          <p:cNvGrpSpPr/>
          <p:nvPr/>
        </p:nvGrpSpPr>
        <p:grpSpPr>
          <a:xfrm rot="0">
            <a:off x="12075671" y="7083047"/>
            <a:ext cx="5328923" cy="2219963"/>
            <a:chOff x="0" y="0"/>
            <a:chExt cx="7105231" cy="2959951"/>
          </a:xfrm>
        </p:grpSpPr>
        <p:sp>
          <p:nvSpPr>
            <p:cNvPr id="84" name="Freeform 84"/>
            <p:cNvSpPr/>
            <p:nvPr/>
          </p:nvSpPr>
          <p:spPr>
            <a:xfrm>
              <a:off x="16891" y="16891"/>
              <a:ext cx="7071360" cy="2926080"/>
            </a:xfrm>
            <a:custGeom>
              <a:avLst/>
              <a:gdLst/>
              <a:ahLst/>
              <a:cxnLst/>
              <a:rect l="l" t="t" r="r" b="b"/>
              <a:pathLst>
                <a:path w="7071360" h="2926080">
                  <a:moveTo>
                    <a:pt x="0" y="0"/>
                  </a:moveTo>
                  <a:lnTo>
                    <a:pt x="7071360" y="0"/>
                  </a:lnTo>
                  <a:lnTo>
                    <a:pt x="7071360" y="2926080"/>
                  </a:lnTo>
                  <a:lnTo>
                    <a:pt x="0" y="2926080"/>
                  </a:lnTo>
                  <a:close/>
                </a:path>
              </a:pathLst>
            </a:custGeom>
            <a:solidFill>
              <a:srgbClr val="141C2E"/>
            </a:solidFill>
          </p:spPr>
        </p:sp>
        <p:sp>
          <p:nvSpPr>
            <p:cNvPr id="85" name="Freeform 85"/>
            <p:cNvSpPr/>
            <p:nvPr/>
          </p:nvSpPr>
          <p:spPr>
            <a:xfrm>
              <a:off x="0" y="0"/>
              <a:ext cx="7105142" cy="2959862"/>
            </a:xfrm>
            <a:custGeom>
              <a:avLst/>
              <a:gdLst/>
              <a:ahLst/>
              <a:cxnLst/>
              <a:rect l="l" t="t" r="r" b="b"/>
              <a:pathLst>
                <a:path w="7105142" h="2959862">
                  <a:moveTo>
                    <a:pt x="16891" y="0"/>
                  </a:moveTo>
                  <a:lnTo>
                    <a:pt x="7088251" y="0"/>
                  </a:lnTo>
                  <a:cubicBezTo>
                    <a:pt x="7097649" y="0"/>
                    <a:pt x="7105142" y="7620"/>
                    <a:pt x="7105142" y="16891"/>
                  </a:cubicBezTo>
                  <a:lnTo>
                    <a:pt x="7105142" y="2942971"/>
                  </a:lnTo>
                  <a:cubicBezTo>
                    <a:pt x="7105142" y="2952369"/>
                    <a:pt x="7097522" y="2959862"/>
                    <a:pt x="7088251" y="2959862"/>
                  </a:cubicBezTo>
                  <a:lnTo>
                    <a:pt x="16891" y="2959862"/>
                  </a:lnTo>
                  <a:cubicBezTo>
                    <a:pt x="7493" y="2959862"/>
                    <a:pt x="0" y="2952242"/>
                    <a:pt x="0" y="29429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942971"/>
                  </a:lnTo>
                  <a:lnTo>
                    <a:pt x="16891" y="2942971"/>
                  </a:lnTo>
                  <a:lnTo>
                    <a:pt x="16891" y="2926080"/>
                  </a:lnTo>
                  <a:lnTo>
                    <a:pt x="7088251" y="2926080"/>
                  </a:lnTo>
                  <a:lnTo>
                    <a:pt x="7088251" y="2942971"/>
                  </a:lnTo>
                  <a:lnTo>
                    <a:pt x="7071360" y="2942971"/>
                  </a:lnTo>
                  <a:lnTo>
                    <a:pt x="7071360" y="16891"/>
                  </a:lnTo>
                  <a:lnTo>
                    <a:pt x="7088251" y="16891"/>
                  </a:lnTo>
                  <a:lnTo>
                    <a:pt x="70882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E2D45"/>
            </a:solidFill>
          </p:spPr>
        </p:sp>
      </p:grpSp>
      <p:grpSp>
        <p:nvGrpSpPr>
          <p:cNvPr id="86" name="Group 86"/>
          <p:cNvGrpSpPr/>
          <p:nvPr/>
        </p:nvGrpSpPr>
        <p:grpSpPr>
          <a:xfrm rot="0">
            <a:off x="12362688" y="7278624"/>
            <a:ext cx="4754880" cy="585216"/>
            <a:chOff x="0" y="0"/>
            <a:chExt cx="6339840" cy="780288"/>
          </a:xfrm>
        </p:grpSpPr>
        <p:sp>
          <p:nvSpPr>
            <p:cNvPr id="87" name="Freeform 87"/>
            <p:cNvSpPr/>
            <p:nvPr/>
          </p:nvSpPr>
          <p:spPr>
            <a:xfrm>
              <a:off x="0" y="0"/>
              <a:ext cx="6339840" cy="780288"/>
            </a:xfrm>
            <a:custGeom>
              <a:avLst/>
              <a:gdLst/>
              <a:ahLst/>
              <a:cxnLst/>
              <a:rect l="l" t="t" r="r" b="b"/>
              <a:pathLst>
                <a:path w="6339840" h="780288">
                  <a:moveTo>
                    <a:pt x="0" y="0"/>
                  </a:moveTo>
                  <a:lnTo>
                    <a:pt x="6339840" y="0"/>
                  </a:lnTo>
                  <a:lnTo>
                    <a:pt x="633984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1">
                <a:alphaModFix amt="0"/>
              </a:blip>
              <a:stretch>
                <a:fillRect t="-108315" b="-108315"/>
              </a:stretch>
            </a:blipFill>
          </p:spPr>
        </p:sp>
        <p:sp>
          <p:nvSpPr>
            <p:cNvPr id="88" name="TextBox 88"/>
            <p:cNvSpPr txBox="1"/>
            <p:nvPr/>
          </p:nvSpPr>
          <p:spPr>
            <a:xfrm>
              <a:off x="0" y="-38100"/>
              <a:ext cx="6339840" cy="81838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00"/>
                </a:lnSpc>
              </a:pPr>
              <a:r>
                <a:rPr lang="en-US" sz="2000" b="1">
                  <a:solidFill>
                    <a:srgbClr val="34D399"/>
                  </a:solidFill>
                  <a:latin typeface="Calibri (MS) Bold" panose="020F0702030404030204"/>
                  <a:ea typeface="Calibri (MS) Bold" panose="020F0702030404030204"/>
                  <a:cs typeface="Calibri (MS) Bold" panose="020F0702030404030204"/>
                  <a:sym typeface="Calibri (MS) Bold" panose="020F0702030404030204"/>
                </a:rPr>
                <a:t>📋  Integration SRS</a:t>
              </a:r>
              <a:endParaRPr lang="en-US" sz="2000" b="1">
                <a:solidFill>
                  <a:srgbClr val="34D399"/>
                </a:solidFill>
                <a:latin typeface="Calibri (MS) Bold" panose="020F0702030404030204"/>
                <a:ea typeface="Calibri (MS) Bold" panose="020F0702030404030204"/>
                <a:cs typeface="Calibri (MS) Bold" panose="020F0702030404030204"/>
                <a:sym typeface="Calibri (MS) Bold" panose="020F0702030404030204"/>
              </a:endParaRPr>
            </a:p>
          </p:txBody>
        </p:sp>
      </p:grpSp>
      <p:grpSp>
        <p:nvGrpSpPr>
          <p:cNvPr id="89" name="Group 89"/>
          <p:cNvGrpSpPr/>
          <p:nvPr/>
        </p:nvGrpSpPr>
        <p:grpSpPr>
          <a:xfrm rot="0">
            <a:off x="12362688" y="7863840"/>
            <a:ext cx="4754880" cy="1243584"/>
            <a:chOff x="0" y="0"/>
            <a:chExt cx="6339840" cy="1658112"/>
          </a:xfrm>
        </p:grpSpPr>
        <p:sp>
          <p:nvSpPr>
            <p:cNvPr id="90" name="Freeform 90"/>
            <p:cNvSpPr/>
            <p:nvPr/>
          </p:nvSpPr>
          <p:spPr>
            <a:xfrm>
              <a:off x="0" y="0"/>
              <a:ext cx="6339840" cy="1658112"/>
            </a:xfrm>
            <a:custGeom>
              <a:avLst/>
              <a:gdLst/>
              <a:ahLst/>
              <a:cxnLst/>
              <a:rect l="l" t="t" r="r" b="b"/>
              <a:pathLst>
                <a:path w="6339840" h="1658112">
                  <a:moveTo>
                    <a:pt x="0" y="0"/>
                  </a:moveTo>
                  <a:lnTo>
                    <a:pt x="6339840" y="0"/>
                  </a:lnTo>
                  <a:lnTo>
                    <a:pt x="6339840" y="1658112"/>
                  </a:lnTo>
                  <a:lnTo>
                    <a:pt x="0" y="1658112"/>
                  </a:lnTo>
                  <a:close/>
                </a:path>
              </a:pathLst>
            </a:custGeom>
            <a:blipFill>
              <a:blip r:embed="rId1">
                <a:alphaModFix amt="0"/>
              </a:blip>
              <a:stretch>
                <a:fillRect t="-24501" b="-24501"/>
              </a:stretch>
            </a:blipFill>
          </p:spPr>
        </p:sp>
        <p:sp>
          <p:nvSpPr>
            <p:cNvPr id="91" name="TextBox 91"/>
            <p:cNvSpPr txBox="1"/>
            <p:nvPr/>
          </p:nvSpPr>
          <p:spPr>
            <a:xfrm>
              <a:off x="0" y="-38100"/>
              <a:ext cx="6339840" cy="169621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94A3B8"/>
                  </a:solidFill>
                  <a:latin typeface="Calibri (MS)" panose="020F0502020204030204"/>
                  <a:ea typeface="Calibri (MS)" panose="020F0502020204030204"/>
                  <a:cs typeface="Calibri (MS)" panose="020F0502020204030204"/>
                  <a:sym typeface="Calibri (MS)" panose="020F0502020204030204"/>
                </a:rPr>
                <a:t>All teams SRS integrated into a single reference document</a:t>
              </a:r>
              <a:endParaRPr lang="en-US" sz="2000">
                <a:solidFill>
                  <a:srgbClr val="94A3B8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endParaRP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822960" y="402336"/>
            <a:ext cx="16642080" cy="402336"/>
            <a:chOff x="0" y="0"/>
            <a:chExt cx="22189440" cy="53644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2189439" cy="536448"/>
            </a:xfrm>
            <a:custGeom>
              <a:avLst/>
              <a:gdLst/>
              <a:ahLst/>
              <a:cxnLst/>
              <a:rect l="l" t="t" r="r" b="b"/>
              <a:pathLst>
                <a:path w="22189439" h="536448">
                  <a:moveTo>
                    <a:pt x="0" y="0"/>
                  </a:moveTo>
                  <a:lnTo>
                    <a:pt x="22189439" y="0"/>
                  </a:lnTo>
                  <a:lnTo>
                    <a:pt x="22189439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1">
                <a:alphaModFix amt="0"/>
              </a:blip>
              <a:stretch>
                <a:fillRect t="-755972" b="-755972"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2189440" cy="57454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800"/>
                </a:lnSpc>
              </a:pPr>
              <a:r>
                <a:rPr lang="en-US" sz="1500" b="1" spc="600">
                  <a:solidFill>
                    <a:srgbClr val="34D399"/>
                  </a:solidFill>
                  <a:latin typeface="Calibri (MS) Bold" panose="020F0702030404030204"/>
                  <a:ea typeface="Calibri (MS) Bold" panose="020F0702030404030204"/>
                  <a:cs typeface="Calibri (MS) Bold" panose="020F0702030404030204"/>
                  <a:sym typeface="Calibri (MS) Bold" panose="020F0702030404030204"/>
                </a:rPr>
                <a:t>ROADMAP — UPCOMING FOCUS</a:t>
              </a:r>
              <a:endParaRPr lang="en-US" sz="1500" b="1" spc="600">
                <a:solidFill>
                  <a:srgbClr val="34D399"/>
                </a:solidFill>
                <a:latin typeface="Calibri (MS) Bold" panose="020F0702030404030204"/>
                <a:ea typeface="Calibri (MS) Bold" panose="020F0702030404030204"/>
                <a:cs typeface="Calibri (MS) Bold" panose="020F0702030404030204"/>
                <a:sym typeface="Calibri (MS) Bold" panose="020F0702030404030204"/>
              </a:endParaRPr>
            </a:p>
          </p:txBody>
        </p:sp>
      </p:grpSp>
      <p:grpSp>
        <p:nvGrpSpPr>
          <p:cNvPr id="5" name="Group 5"/>
          <p:cNvGrpSpPr/>
          <p:nvPr/>
        </p:nvGrpSpPr>
        <p:grpSpPr>
          <a:xfrm rot="0">
            <a:off x="822960" y="804672"/>
            <a:ext cx="16642080" cy="1005840"/>
            <a:chOff x="0" y="0"/>
            <a:chExt cx="22189440" cy="134112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2189439" cy="1341120"/>
            </a:xfrm>
            <a:custGeom>
              <a:avLst/>
              <a:gdLst/>
              <a:ahLst/>
              <a:cxnLst/>
              <a:rect l="l" t="t" r="r" b="b"/>
              <a:pathLst>
                <a:path w="22189439" h="1341120">
                  <a:moveTo>
                    <a:pt x="0" y="0"/>
                  </a:moveTo>
                  <a:lnTo>
                    <a:pt x="22189439" y="0"/>
                  </a:lnTo>
                  <a:lnTo>
                    <a:pt x="22189439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1">
                <a:alphaModFix amt="0"/>
              </a:blip>
              <a:stretch>
                <a:fillRect t="-272388" b="-272388"/>
              </a:stretch>
            </a:blipFill>
          </p:spPr>
        </p:sp>
        <p:sp>
          <p:nvSpPr>
            <p:cNvPr id="7" name="TextBox 7"/>
            <p:cNvSpPr txBox="1"/>
            <p:nvPr/>
          </p:nvSpPr>
          <p:spPr>
            <a:xfrm>
              <a:off x="0" y="-85725"/>
              <a:ext cx="22189440" cy="14268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760"/>
                </a:lnSpc>
              </a:pPr>
              <a:r>
                <a:rPr lang="en-US" sz="4800" b="1">
                  <a:solidFill>
                    <a:srgbClr val="E2E8F0"/>
                  </a:solidFill>
                  <a:latin typeface="Calibri (MS) Bold" panose="020F0702030404030204"/>
                  <a:ea typeface="Calibri (MS) Bold" panose="020F0702030404030204"/>
                  <a:cs typeface="Calibri (MS) Bold" panose="020F0702030404030204"/>
                  <a:sym typeface="Calibri (MS) Bold" panose="020F0702030404030204"/>
                </a:rPr>
                <a:t>Next Steps</a:t>
              </a:r>
              <a:endParaRPr lang="en-US" sz="4800" b="1">
                <a:solidFill>
                  <a:srgbClr val="E2E8F0"/>
                </a:solidFill>
                <a:latin typeface="Calibri (MS) Bold" panose="020F0702030404030204"/>
                <a:ea typeface="Calibri (MS) Bold" panose="020F0702030404030204"/>
                <a:cs typeface="Calibri (MS) Bold" panose="020F0702030404030204"/>
                <a:sym typeface="Calibri (MS) Bold" panose="020F0702030404030204"/>
              </a:endParaRPr>
            </a:p>
          </p:txBody>
        </p:sp>
      </p:grpSp>
      <p:grpSp>
        <p:nvGrpSpPr>
          <p:cNvPr id="8" name="Group 8"/>
          <p:cNvGrpSpPr/>
          <p:nvPr/>
        </p:nvGrpSpPr>
        <p:grpSpPr>
          <a:xfrm rot="0">
            <a:off x="810263" y="1834391"/>
            <a:ext cx="16667483" cy="71123"/>
            <a:chOff x="0" y="0"/>
            <a:chExt cx="22223311" cy="94831"/>
          </a:xfrm>
        </p:grpSpPr>
        <p:sp>
          <p:nvSpPr>
            <p:cNvPr id="9" name="Freeform 9"/>
            <p:cNvSpPr/>
            <p:nvPr/>
          </p:nvSpPr>
          <p:spPr>
            <a:xfrm>
              <a:off x="16891" y="16891"/>
              <a:ext cx="22189439" cy="60960"/>
            </a:xfrm>
            <a:custGeom>
              <a:avLst/>
              <a:gdLst/>
              <a:ahLst/>
              <a:cxnLst/>
              <a:rect l="l" t="t" r="r" b="b"/>
              <a:pathLst>
                <a:path w="22189439" h="60960">
                  <a:moveTo>
                    <a:pt x="0" y="0"/>
                  </a:moveTo>
                  <a:lnTo>
                    <a:pt x="22189439" y="0"/>
                  </a:lnTo>
                  <a:lnTo>
                    <a:pt x="22189439" y="60960"/>
                  </a:lnTo>
                  <a:lnTo>
                    <a:pt x="0" y="60960"/>
                  </a:lnTo>
                  <a:close/>
                </a:path>
              </a:pathLst>
            </a:custGeom>
            <a:solidFill>
              <a:srgbClr val="1E2D45"/>
            </a:solidFill>
          </p:spPr>
        </p:sp>
        <p:sp>
          <p:nvSpPr>
            <p:cNvPr id="10" name="Freeform 10"/>
            <p:cNvSpPr/>
            <p:nvPr/>
          </p:nvSpPr>
          <p:spPr>
            <a:xfrm>
              <a:off x="0" y="0"/>
              <a:ext cx="22223222" cy="94744"/>
            </a:xfrm>
            <a:custGeom>
              <a:avLst/>
              <a:gdLst/>
              <a:ahLst/>
              <a:cxnLst/>
              <a:rect l="l" t="t" r="r" b="b"/>
              <a:pathLst>
                <a:path w="22223222" h="94744">
                  <a:moveTo>
                    <a:pt x="16891" y="0"/>
                  </a:moveTo>
                  <a:lnTo>
                    <a:pt x="22206330" y="0"/>
                  </a:lnTo>
                  <a:cubicBezTo>
                    <a:pt x="22215729" y="0"/>
                    <a:pt x="22223222" y="7620"/>
                    <a:pt x="22223222" y="16891"/>
                  </a:cubicBezTo>
                  <a:lnTo>
                    <a:pt x="22223222" y="77851"/>
                  </a:lnTo>
                  <a:cubicBezTo>
                    <a:pt x="22223222" y="87249"/>
                    <a:pt x="22215602" y="94742"/>
                    <a:pt x="22206330" y="94742"/>
                  </a:cubicBezTo>
                  <a:lnTo>
                    <a:pt x="16891" y="94742"/>
                  </a:lnTo>
                  <a:cubicBezTo>
                    <a:pt x="7620" y="94869"/>
                    <a:pt x="0" y="87249"/>
                    <a:pt x="0" y="778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77851"/>
                  </a:lnTo>
                  <a:lnTo>
                    <a:pt x="16891" y="77851"/>
                  </a:lnTo>
                  <a:lnTo>
                    <a:pt x="16891" y="60960"/>
                  </a:lnTo>
                  <a:lnTo>
                    <a:pt x="22206330" y="60960"/>
                  </a:lnTo>
                  <a:lnTo>
                    <a:pt x="22206330" y="77851"/>
                  </a:lnTo>
                  <a:lnTo>
                    <a:pt x="22189439" y="77851"/>
                  </a:lnTo>
                  <a:lnTo>
                    <a:pt x="22189439" y="16891"/>
                  </a:lnTo>
                  <a:lnTo>
                    <a:pt x="22206330" y="16891"/>
                  </a:lnTo>
                  <a:lnTo>
                    <a:pt x="2220633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E2D45"/>
            </a:solidFill>
          </p:spPr>
        </p:sp>
      </p:grpSp>
      <p:grpSp>
        <p:nvGrpSpPr>
          <p:cNvPr id="11" name="Group 11"/>
          <p:cNvGrpSpPr/>
          <p:nvPr/>
        </p:nvGrpSpPr>
        <p:grpSpPr>
          <a:xfrm rot="0">
            <a:off x="810263" y="2218439"/>
            <a:ext cx="5328923" cy="3372107"/>
            <a:chOff x="0" y="0"/>
            <a:chExt cx="7105231" cy="4496143"/>
          </a:xfrm>
        </p:grpSpPr>
        <p:sp>
          <p:nvSpPr>
            <p:cNvPr id="12" name="Freeform 12"/>
            <p:cNvSpPr/>
            <p:nvPr/>
          </p:nvSpPr>
          <p:spPr>
            <a:xfrm>
              <a:off x="16891" y="16891"/>
              <a:ext cx="7071360" cy="4462272"/>
            </a:xfrm>
            <a:custGeom>
              <a:avLst/>
              <a:gdLst/>
              <a:ahLst/>
              <a:cxnLst/>
              <a:rect l="l" t="t" r="r" b="b"/>
              <a:pathLst>
                <a:path w="7071360" h="4462272">
                  <a:moveTo>
                    <a:pt x="0" y="0"/>
                  </a:moveTo>
                  <a:lnTo>
                    <a:pt x="7071360" y="0"/>
                  </a:lnTo>
                  <a:lnTo>
                    <a:pt x="7071360" y="4462272"/>
                  </a:lnTo>
                  <a:lnTo>
                    <a:pt x="0" y="4462272"/>
                  </a:lnTo>
                  <a:close/>
                </a:path>
              </a:pathLst>
            </a:custGeom>
            <a:solidFill>
              <a:srgbClr val="141C2E"/>
            </a:solidFill>
          </p:spPr>
        </p:sp>
        <p:sp>
          <p:nvSpPr>
            <p:cNvPr id="13" name="Freeform 13"/>
            <p:cNvSpPr/>
            <p:nvPr/>
          </p:nvSpPr>
          <p:spPr>
            <a:xfrm>
              <a:off x="0" y="0"/>
              <a:ext cx="7105142" cy="4496054"/>
            </a:xfrm>
            <a:custGeom>
              <a:avLst/>
              <a:gdLst/>
              <a:ahLst/>
              <a:cxnLst/>
              <a:rect l="l" t="t" r="r" b="b"/>
              <a:pathLst>
                <a:path w="7105142" h="4496054">
                  <a:moveTo>
                    <a:pt x="16891" y="0"/>
                  </a:moveTo>
                  <a:lnTo>
                    <a:pt x="7088251" y="0"/>
                  </a:lnTo>
                  <a:cubicBezTo>
                    <a:pt x="7097649" y="0"/>
                    <a:pt x="7105142" y="7620"/>
                    <a:pt x="7105142" y="16891"/>
                  </a:cubicBezTo>
                  <a:lnTo>
                    <a:pt x="7105142" y="4479163"/>
                  </a:lnTo>
                  <a:cubicBezTo>
                    <a:pt x="7105142" y="4488561"/>
                    <a:pt x="7097522" y="4496054"/>
                    <a:pt x="7088251" y="4496054"/>
                  </a:cubicBezTo>
                  <a:lnTo>
                    <a:pt x="16891" y="4496054"/>
                  </a:lnTo>
                  <a:cubicBezTo>
                    <a:pt x="7493" y="4496054"/>
                    <a:pt x="0" y="4488434"/>
                    <a:pt x="0" y="447916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479163"/>
                  </a:lnTo>
                  <a:lnTo>
                    <a:pt x="16891" y="4479163"/>
                  </a:lnTo>
                  <a:lnTo>
                    <a:pt x="16891" y="4462272"/>
                  </a:lnTo>
                  <a:lnTo>
                    <a:pt x="7088251" y="4462272"/>
                  </a:lnTo>
                  <a:lnTo>
                    <a:pt x="7088251" y="4479163"/>
                  </a:lnTo>
                  <a:lnTo>
                    <a:pt x="7071360" y="4479163"/>
                  </a:lnTo>
                  <a:lnTo>
                    <a:pt x="7071360" y="16891"/>
                  </a:lnTo>
                  <a:lnTo>
                    <a:pt x="7088251" y="16891"/>
                  </a:lnTo>
                  <a:lnTo>
                    <a:pt x="70882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E2D45"/>
            </a:solidFill>
          </p:spPr>
        </p:sp>
      </p:grpSp>
      <p:grpSp>
        <p:nvGrpSpPr>
          <p:cNvPr id="14" name="Group 14"/>
          <p:cNvGrpSpPr/>
          <p:nvPr/>
        </p:nvGrpSpPr>
        <p:grpSpPr>
          <a:xfrm rot="0">
            <a:off x="1084583" y="2492759"/>
            <a:ext cx="793499" cy="793499"/>
            <a:chOff x="0" y="0"/>
            <a:chExt cx="1057999" cy="1057999"/>
          </a:xfrm>
        </p:grpSpPr>
        <p:sp>
          <p:nvSpPr>
            <p:cNvPr id="15" name="Freeform 15"/>
            <p:cNvSpPr/>
            <p:nvPr/>
          </p:nvSpPr>
          <p:spPr>
            <a:xfrm>
              <a:off x="16891" y="16891"/>
              <a:ext cx="1024128" cy="1024128"/>
            </a:xfrm>
            <a:custGeom>
              <a:avLst/>
              <a:gdLst/>
              <a:ahLst/>
              <a:cxnLst/>
              <a:rect l="l" t="t" r="r" b="b"/>
              <a:pathLst>
                <a:path w="1024128" h="1024128">
                  <a:moveTo>
                    <a:pt x="0" y="512064"/>
                  </a:moveTo>
                  <a:cubicBezTo>
                    <a:pt x="0" y="229235"/>
                    <a:pt x="229235" y="0"/>
                    <a:pt x="512064" y="0"/>
                  </a:cubicBezTo>
                  <a:cubicBezTo>
                    <a:pt x="794893" y="0"/>
                    <a:pt x="1024128" y="229362"/>
                    <a:pt x="1024128" y="512064"/>
                  </a:cubicBezTo>
                  <a:cubicBezTo>
                    <a:pt x="1024128" y="794766"/>
                    <a:pt x="794893" y="1024128"/>
                    <a:pt x="512064" y="1024128"/>
                  </a:cubicBezTo>
                  <a:cubicBezTo>
                    <a:pt x="229235" y="1024128"/>
                    <a:pt x="0" y="794893"/>
                    <a:pt x="0" y="512064"/>
                  </a:cubicBezTo>
                  <a:close/>
                </a:path>
              </a:pathLst>
            </a:custGeom>
            <a:solidFill>
              <a:srgbClr val="38BDF8"/>
            </a:solidFill>
          </p:spPr>
        </p:sp>
        <p:sp>
          <p:nvSpPr>
            <p:cNvPr id="16" name="Freeform 16"/>
            <p:cNvSpPr/>
            <p:nvPr/>
          </p:nvSpPr>
          <p:spPr>
            <a:xfrm>
              <a:off x="0" y="0"/>
              <a:ext cx="1057910" cy="1057910"/>
            </a:xfrm>
            <a:custGeom>
              <a:avLst/>
              <a:gdLst/>
              <a:ahLst/>
              <a:cxnLst/>
              <a:rect l="l" t="t" r="r" b="b"/>
              <a:pathLst>
                <a:path w="1057910" h="1057910">
                  <a:moveTo>
                    <a:pt x="0" y="528955"/>
                  </a:moveTo>
                  <a:cubicBezTo>
                    <a:pt x="0" y="236855"/>
                    <a:pt x="236855" y="0"/>
                    <a:pt x="528955" y="0"/>
                  </a:cubicBezTo>
                  <a:lnTo>
                    <a:pt x="528955" y="16891"/>
                  </a:lnTo>
                  <a:lnTo>
                    <a:pt x="528955" y="0"/>
                  </a:lnTo>
                  <a:cubicBezTo>
                    <a:pt x="821055" y="0"/>
                    <a:pt x="1057910" y="236855"/>
                    <a:pt x="1057910" y="528955"/>
                  </a:cubicBezTo>
                  <a:lnTo>
                    <a:pt x="1041019" y="528955"/>
                  </a:lnTo>
                  <a:lnTo>
                    <a:pt x="1057910" y="528955"/>
                  </a:lnTo>
                  <a:cubicBezTo>
                    <a:pt x="1057910" y="821055"/>
                    <a:pt x="821055" y="1057910"/>
                    <a:pt x="528955" y="1057910"/>
                  </a:cubicBezTo>
                  <a:lnTo>
                    <a:pt x="528955" y="1041019"/>
                  </a:lnTo>
                  <a:lnTo>
                    <a:pt x="528955" y="1057910"/>
                  </a:lnTo>
                  <a:cubicBezTo>
                    <a:pt x="236855" y="1058037"/>
                    <a:pt x="0" y="821182"/>
                    <a:pt x="0" y="528955"/>
                  </a:cubicBezTo>
                  <a:lnTo>
                    <a:pt x="16891" y="528955"/>
                  </a:lnTo>
                  <a:lnTo>
                    <a:pt x="33909" y="528955"/>
                  </a:lnTo>
                  <a:lnTo>
                    <a:pt x="16891" y="528955"/>
                  </a:lnTo>
                  <a:lnTo>
                    <a:pt x="0" y="528955"/>
                  </a:lnTo>
                  <a:moveTo>
                    <a:pt x="33909" y="528955"/>
                  </a:moveTo>
                  <a:cubicBezTo>
                    <a:pt x="33909" y="538353"/>
                    <a:pt x="26289" y="545846"/>
                    <a:pt x="17018" y="545846"/>
                  </a:cubicBezTo>
                  <a:cubicBezTo>
                    <a:pt x="7747" y="545846"/>
                    <a:pt x="0" y="538353"/>
                    <a:pt x="0" y="528955"/>
                  </a:cubicBezTo>
                  <a:cubicBezTo>
                    <a:pt x="0" y="519557"/>
                    <a:pt x="7620" y="512064"/>
                    <a:pt x="16891" y="512064"/>
                  </a:cubicBezTo>
                  <a:cubicBezTo>
                    <a:pt x="26162" y="512064"/>
                    <a:pt x="33782" y="519684"/>
                    <a:pt x="33782" y="528955"/>
                  </a:cubicBezTo>
                  <a:cubicBezTo>
                    <a:pt x="33782" y="802386"/>
                    <a:pt x="255397" y="1024128"/>
                    <a:pt x="528955" y="1024128"/>
                  </a:cubicBezTo>
                  <a:cubicBezTo>
                    <a:pt x="802386" y="1024128"/>
                    <a:pt x="1024128" y="802513"/>
                    <a:pt x="1024128" y="528955"/>
                  </a:cubicBezTo>
                  <a:cubicBezTo>
                    <a:pt x="1024128" y="255524"/>
                    <a:pt x="802513" y="33782"/>
                    <a:pt x="528955" y="33782"/>
                  </a:cubicBezTo>
                  <a:lnTo>
                    <a:pt x="528955" y="16891"/>
                  </a:lnTo>
                  <a:lnTo>
                    <a:pt x="528955" y="33909"/>
                  </a:lnTo>
                  <a:cubicBezTo>
                    <a:pt x="255524" y="33909"/>
                    <a:pt x="33909" y="255524"/>
                    <a:pt x="33909" y="528955"/>
                  </a:cubicBezTo>
                  <a:close/>
                </a:path>
              </a:pathLst>
            </a:custGeom>
            <a:solidFill>
              <a:srgbClr val="38BDF8"/>
            </a:solidFill>
          </p:spPr>
        </p:sp>
      </p:grpSp>
      <p:grpSp>
        <p:nvGrpSpPr>
          <p:cNvPr id="17" name="Group 17"/>
          <p:cNvGrpSpPr/>
          <p:nvPr/>
        </p:nvGrpSpPr>
        <p:grpSpPr>
          <a:xfrm rot="0">
            <a:off x="1097280" y="2505456"/>
            <a:ext cx="768096" cy="768096"/>
            <a:chOff x="0" y="0"/>
            <a:chExt cx="1024128" cy="1024128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024128" cy="1024128"/>
            </a:xfrm>
            <a:custGeom>
              <a:avLst/>
              <a:gdLst/>
              <a:ahLst/>
              <a:cxnLst/>
              <a:rect l="l" t="t" r="r" b="b"/>
              <a:pathLst>
                <a:path w="1024128" h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1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19" name="TextBox 19"/>
            <p:cNvSpPr txBox="1"/>
            <p:nvPr/>
          </p:nvSpPr>
          <p:spPr>
            <a:xfrm>
              <a:off x="0" y="-38100"/>
              <a:ext cx="1024128" cy="106222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400"/>
                </a:lnSpc>
              </a:pPr>
              <a:r>
                <a:rPr lang="en-US" sz="2000" b="1">
                  <a:solidFill>
                    <a:srgbClr val="0B0F1A"/>
                  </a:solidFill>
                  <a:latin typeface="Calibri (MS) Bold" panose="020F0702030404030204"/>
                  <a:ea typeface="Calibri (MS) Bold" panose="020F0702030404030204"/>
                  <a:cs typeface="Calibri (MS) Bold" panose="020F0702030404030204"/>
                  <a:sym typeface="Calibri (MS) Bold" panose="020F0702030404030204"/>
                </a:rPr>
                <a:t>01</a:t>
              </a:r>
              <a:endParaRPr lang="en-US" sz="2000" b="1">
                <a:solidFill>
                  <a:srgbClr val="0B0F1A"/>
                </a:solidFill>
                <a:latin typeface="Calibri (MS) Bold" panose="020F0702030404030204"/>
                <a:ea typeface="Calibri (MS) Bold" panose="020F0702030404030204"/>
                <a:cs typeface="Calibri (MS) Bold" panose="020F0702030404030204"/>
                <a:sym typeface="Calibri (MS) Bold" panose="020F0702030404030204"/>
              </a:endParaRPr>
            </a:p>
          </p:txBody>
        </p:sp>
      </p:grpSp>
      <p:grpSp>
        <p:nvGrpSpPr>
          <p:cNvPr id="20" name="Group 20"/>
          <p:cNvGrpSpPr/>
          <p:nvPr/>
        </p:nvGrpSpPr>
        <p:grpSpPr>
          <a:xfrm rot="0">
            <a:off x="2011680" y="2523744"/>
            <a:ext cx="3840480" cy="658368"/>
            <a:chOff x="0" y="0"/>
            <a:chExt cx="5120640" cy="877824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5120640" cy="877824"/>
            </a:xfrm>
            <a:custGeom>
              <a:avLst/>
              <a:gdLst/>
              <a:ahLst/>
              <a:cxnLst/>
              <a:rect l="l" t="t" r="r" b="b"/>
              <a:pathLst>
                <a:path w="5120640" h="877824">
                  <a:moveTo>
                    <a:pt x="0" y="0"/>
                  </a:moveTo>
                  <a:lnTo>
                    <a:pt x="5120640" y="0"/>
                  </a:lnTo>
                  <a:lnTo>
                    <a:pt x="512064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1">
                <a:alphaModFix amt="0"/>
              </a:blip>
              <a:stretch>
                <a:fillRect t="-63662" b="-63662"/>
              </a:stretch>
            </a:blipFill>
          </p:spPr>
        </p:sp>
        <p:sp>
          <p:nvSpPr>
            <p:cNvPr id="22" name="TextBox 22"/>
            <p:cNvSpPr txBox="1"/>
            <p:nvPr/>
          </p:nvSpPr>
          <p:spPr>
            <a:xfrm>
              <a:off x="0" y="-38100"/>
              <a:ext cx="5120640" cy="91592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80"/>
                </a:lnSpc>
              </a:pPr>
              <a:r>
                <a:rPr lang="en-US" sz="2400" b="1">
                  <a:solidFill>
                    <a:srgbClr val="E2E8F0"/>
                  </a:solidFill>
                  <a:latin typeface="Calibri (MS) Bold" panose="020F0702030404030204"/>
                  <a:ea typeface="Calibri (MS) Bold" panose="020F0702030404030204"/>
                  <a:cs typeface="Calibri (MS) Bold" panose="020F0702030404030204"/>
                  <a:sym typeface="Calibri (MS) Bold" panose="020F0702030404030204"/>
                </a:rPr>
                <a:t>Finish Mobile Prototype</a:t>
              </a:r>
              <a:endParaRPr lang="en-US" sz="2400" b="1">
                <a:solidFill>
                  <a:srgbClr val="E2E8F0"/>
                </a:solidFill>
                <a:latin typeface="Calibri (MS) Bold" panose="020F0702030404030204"/>
                <a:ea typeface="Calibri (MS) Bold" panose="020F0702030404030204"/>
                <a:cs typeface="Calibri (MS) Bold" panose="020F0702030404030204"/>
                <a:sym typeface="Calibri (MS) Bold" panose="020F0702030404030204"/>
              </a:endParaRPr>
            </a:p>
          </p:txBody>
        </p:sp>
      </p:grpSp>
      <p:grpSp>
        <p:nvGrpSpPr>
          <p:cNvPr id="23" name="Group 23"/>
          <p:cNvGrpSpPr/>
          <p:nvPr/>
        </p:nvGrpSpPr>
        <p:grpSpPr>
          <a:xfrm rot="0">
            <a:off x="1097280" y="3419856"/>
            <a:ext cx="4975184" cy="1243584"/>
            <a:chOff x="0" y="0"/>
            <a:chExt cx="6633578" cy="1658112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6633579" cy="1658112"/>
            </a:xfrm>
            <a:custGeom>
              <a:avLst/>
              <a:gdLst/>
              <a:ahLst/>
              <a:cxnLst/>
              <a:rect l="l" t="t" r="r" b="b"/>
              <a:pathLst>
                <a:path w="6633579" h="1658112">
                  <a:moveTo>
                    <a:pt x="0" y="0"/>
                  </a:moveTo>
                  <a:lnTo>
                    <a:pt x="6633579" y="0"/>
                  </a:lnTo>
                  <a:lnTo>
                    <a:pt x="6633579" y="1658112"/>
                  </a:lnTo>
                  <a:lnTo>
                    <a:pt x="0" y="1658112"/>
                  </a:lnTo>
                  <a:close/>
                </a:path>
              </a:pathLst>
            </a:custGeom>
            <a:blipFill>
              <a:blip r:embed="rId1">
                <a:alphaModFix amt="0"/>
              </a:blip>
              <a:stretch>
                <a:fillRect t="-27953" b="-27953"/>
              </a:stretch>
            </a:blipFill>
          </p:spPr>
        </p:sp>
        <p:sp>
          <p:nvSpPr>
            <p:cNvPr id="25" name="TextBox 25"/>
            <p:cNvSpPr txBox="1"/>
            <p:nvPr/>
          </p:nvSpPr>
          <p:spPr>
            <a:xfrm>
              <a:off x="0" y="-38100"/>
              <a:ext cx="6633578" cy="169621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94A3B8"/>
                  </a:solidFill>
                  <a:latin typeface="Calibri (MS)" panose="020F0502020204030204"/>
                  <a:ea typeface="Calibri (MS)" panose="020F0502020204030204"/>
                  <a:cs typeface="Calibri (MS)" panose="020F0502020204030204"/>
                  <a:sym typeface="Calibri (MS)" panose="020F0502020204030204"/>
                </a:rPr>
                <a:t>Complete remaining screens and navigation flows</a:t>
              </a:r>
              <a:endParaRPr lang="en-US" sz="2000">
                <a:solidFill>
                  <a:srgbClr val="94A3B8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endParaRPr>
            </a:p>
          </p:txBody>
        </p:sp>
      </p:grpSp>
      <p:grpSp>
        <p:nvGrpSpPr>
          <p:cNvPr id="26" name="Group 26"/>
          <p:cNvGrpSpPr/>
          <p:nvPr/>
        </p:nvGrpSpPr>
        <p:grpSpPr>
          <a:xfrm rot="0">
            <a:off x="1084583" y="4888487"/>
            <a:ext cx="2037083" cy="464315"/>
            <a:chOff x="0" y="0"/>
            <a:chExt cx="2716111" cy="619087"/>
          </a:xfrm>
        </p:grpSpPr>
        <p:sp>
          <p:nvSpPr>
            <p:cNvPr id="27" name="Freeform 27"/>
            <p:cNvSpPr/>
            <p:nvPr/>
          </p:nvSpPr>
          <p:spPr>
            <a:xfrm>
              <a:off x="16891" y="16891"/>
              <a:ext cx="2682240" cy="585216"/>
            </a:xfrm>
            <a:custGeom>
              <a:avLst/>
              <a:gdLst/>
              <a:ahLst/>
              <a:cxnLst/>
              <a:rect l="l" t="t" r="r" b="b"/>
              <a:pathLst>
                <a:path w="2682240" h="585216">
                  <a:moveTo>
                    <a:pt x="0" y="0"/>
                  </a:moveTo>
                  <a:lnTo>
                    <a:pt x="2682240" y="0"/>
                  </a:lnTo>
                  <a:lnTo>
                    <a:pt x="2682240" y="585216"/>
                  </a:lnTo>
                  <a:lnTo>
                    <a:pt x="0" y="585216"/>
                  </a:lnTo>
                  <a:close/>
                </a:path>
              </a:pathLst>
            </a:custGeom>
            <a:solidFill>
              <a:srgbClr val="1A2236"/>
            </a:solidFill>
          </p:spPr>
        </p:sp>
        <p:sp>
          <p:nvSpPr>
            <p:cNvPr id="28" name="Freeform 28"/>
            <p:cNvSpPr/>
            <p:nvPr/>
          </p:nvSpPr>
          <p:spPr>
            <a:xfrm>
              <a:off x="0" y="0"/>
              <a:ext cx="2716022" cy="619000"/>
            </a:xfrm>
            <a:custGeom>
              <a:avLst/>
              <a:gdLst/>
              <a:ahLst/>
              <a:cxnLst/>
              <a:rect l="l" t="t" r="r" b="b"/>
              <a:pathLst>
                <a:path w="2716022" h="619000">
                  <a:moveTo>
                    <a:pt x="16891" y="0"/>
                  </a:moveTo>
                  <a:lnTo>
                    <a:pt x="2699131" y="0"/>
                  </a:lnTo>
                  <a:cubicBezTo>
                    <a:pt x="2708529" y="0"/>
                    <a:pt x="2716022" y="7620"/>
                    <a:pt x="2716022" y="16891"/>
                  </a:cubicBezTo>
                  <a:lnTo>
                    <a:pt x="2716022" y="602107"/>
                  </a:lnTo>
                  <a:cubicBezTo>
                    <a:pt x="2716022" y="611505"/>
                    <a:pt x="2708402" y="618998"/>
                    <a:pt x="2699131" y="618998"/>
                  </a:cubicBezTo>
                  <a:lnTo>
                    <a:pt x="16891" y="618998"/>
                  </a:lnTo>
                  <a:cubicBezTo>
                    <a:pt x="7620" y="619125"/>
                    <a:pt x="0" y="611505"/>
                    <a:pt x="0" y="60210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02107"/>
                  </a:lnTo>
                  <a:lnTo>
                    <a:pt x="16891" y="602107"/>
                  </a:lnTo>
                  <a:lnTo>
                    <a:pt x="16891" y="585216"/>
                  </a:lnTo>
                  <a:lnTo>
                    <a:pt x="2699131" y="585216"/>
                  </a:lnTo>
                  <a:lnTo>
                    <a:pt x="2699131" y="602107"/>
                  </a:lnTo>
                  <a:lnTo>
                    <a:pt x="2682240" y="602107"/>
                  </a:lnTo>
                  <a:lnTo>
                    <a:pt x="2682240" y="16891"/>
                  </a:lnTo>
                  <a:lnTo>
                    <a:pt x="2699131" y="16891"/>
                  </a:lnTo>
                  <a:lnTo>
                    <a:pt x="26991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E2D45"/>
            </a:solidFill>
          </p:spPr>
        </p:sp>
      </p:grpSp>
      <p:grpSp>
        <p:nvGrpSpPr>
          <p:cNvPr id="29" name="Group 29"/>
          <p:cNvGrpSpPr/>
          <p:nvPr/>
        </p:nvGrpSpPr>
        <p:grpSpPr>
          <a:xfrm rot="0">
            <a:off x="1097280" y="4901184"/>
            <a:ext cx="2011680" cy="438912"/>
            <a:chOff x="0" y="0"/>
            <a:chExt cx="2682240" cy="585216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2682240" cy="585216"/>
            </a:xfrm>
            <a:custGeom>
              <a:avLst/>
              <a:gdLst/>
              <a:ahLst/>
              <a:cxnLst/>
              <a:rect l="l" t="t" r="r" b="b"/>
              <a:pathLst>
                <a:path w="2682240" h="585216">
                  <a:moveTo>
                    <a:pt x="0" y="0"/>
                  </a:moveTo>
                  <a:lnTo>
                    <a:pt x="2682240" y="0"/>
                  </a:lnTo>
                  <a:lnTo>
                    <a:pt x="268224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1">
                <a:alphaModFix amt="0"/>
              </a:blip>
              <a:stretch>
                <a:fillRect t="-39306" b="-39306"/>
              </a:stretch>
            </a:blipFill>
          </p:spPr>
        </p:sp>
        <p:sp>
          <p:nvSpPr>
            <p:cNvPr id="31" name="TextBox 31"/>
            <p:cNvSpPr txBox="1"/>
            <p:nvPr/>
          </p:nvSpPr>
          <p:spPr>
            <a:xfrm>
              <a:off x="0" y="-28575"/>
              <a:ext cx="2682240" cy="61379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680"/>
                </a:lnSpc>
              </a:pPr>
              <a:r>
                <a:rPr lang="en-US" sz="1400" b="1">
                  <a:solidFill>
                    <a:srgbClr val="34D399"/>
                  </a:solidFill>
                  <a:latin typeface="Calibri (MS) Bold" panose="020F0702030404030204"/>
                  <a:ea typeface="Calibri (MS) Bold" panose="020F0702030404030204"/>
                  <a:cs typeface="Calibri (MS) Bold" panose="020F0702030404030204"/>
                  <a:sym typeface="Calibri (MS) Bold" panose="020F0702030404030204"/>
                </a:rPr>
                <a:t>👤 Enhe</a:t>
              </a:r>
              <a:endParaRPr lang="en-US" sz="1400" b="1">
                <a:solidFill>
                  <a:srgbClr val="34D399"/>
                </a:solidFill>
                <a:latin typeface="Calibri (MS) Bold" panose="020F0702030404030204"/>
                <a:ea typeface="Calibri (MS) Bold" panose="020F0702030404030204"/>
                <a:cs typeface="Calibri (MS) Bold" panose="020F0702030404030204"/>
                <a:sym typeface="Calibri (MS) Bold" panose="020F0702030404030204"/>
              </a:endParaRPr>
            </a:p>
          </p:txBody>
        </p:sp>
      </p:grpSp>
      <p:grpSp>
        <p:nvGrpSpPr>
          <p:cNvPr id="32" name="Group 32"/>
          <p:cNvGrpSpPr/>
          <p:nvPr/>
        </p:nvGrpSpPr>
        <p:grpSpPr>
          <a:xfrm rot="0">
            <a:off x="6442967" y="2218439"/>
            <a:ext cx="5328923" cy="3372098"/>
            <a:chOff x="0" y="0"/>
            <a:chExt cx="7105231" cy="4496130"/>
          </a:xfrm>
        </p:grpSpPr>
        <p:sp>
          <p:nvSpPr>
            <p:cNvPr id="33" name="Freeform 33"/>
            <p:cNvSpPr/>
            <p:nvPr/>
          </p:nvSpPr>
          <p:spPr>
            <a:xfrm>
              <a:off x="16891" y="16891"/>
              <a:ext cx="7071360" cy="4462272"/>
            </a:xfrm>
            <a:custGeom>
              <a:avLst/>
              <a:gdLst/>
              <a:ahLst/>
              <a:cxnLst/>
              <a:rect l="l" t="t" r="r" b="b"/>
              <a:pathLst>
                <a:path w="7071360" h="4462272">
                  <a:moveTo>
                    <a:pt x="0" y="0"/>
                  </a:moveTo>
                  <a:lnTo>
                    <a:pt x="7071360" y="0"/>
                  </a:lnTo>
                  <a:lnTo>
                    <a:pt x="7071360" y="4462272"/>
                  </a:lnTo>
                  <a:lnTo>
                    <a:pt x="0" y="4462272"/>
                  </a:lnTo>
                  <a:close/>
                </a:path>
              </a:pathLst>
            </a:custGeom>
            <a:solidFill>
              <a:srgbClr val="141C2E"/>
            </a:solidFill>
          </p:spPr>
        </p:sp>
        <p:sp>
          <p:nvSpPr>
            <p:cNvPr id="34" name="Freeform 34"/>
            <p:cNvSpPr/>
            <p:nvPr/>
          </p:nvSpPr>
          <p:spPr>
            <a:xfrm>
              <a:off x="0" y="0"/>
              <a:ext cx="7105142" cy="4496054"/>
            </a:xfrm>
            <a:custGeom>
              <a:avLst/>
              <a:gdLst/>
              <a:ahLst/>
              <a:cxnLst/>
              <a:rect l="l" t="t" r="r" b="b"/>
              <a:pathLst>
                <a:path w="7105142" h="4496054">
                  <a:moveTo>
                    <a:pt x="16891" y="0"/>
                  </a:moveTo>
                  <a:lnTo>
                    <a:pt x="7088251" y="0"/>
                  </a:lnTo>
                  <a:cubicBezTo>
                    <a:pt x="7097649" y="0"/>
                    <a:pt x="7105142" y="7620"/>
                    <a:pt x="7105142" y="16891"/>
                  </a:cubicBezTo>
                  <a:lnTo>
                    <a:pt x="7105142" y="4479163"/>
                  </a:lnTo>
                  <a:cubicBezTo>
                    <a:pt x="7105142" y="4488561"/>
                    <a:pt x="7097522" y="4496054"/>
                    <a:pt x="7088251" y="4496054"/>
                  </a:cubicBezTo>
                  <a:lnTo>
                    <a:pt x="16891" y="4496054"/>
                  </a:lnTo>
                  <a:cubicBezTo>
                    <a:pt x="7493" y="4496054"/>
                    <a:pt x="0" y="4488434"/>
                    <a:pt x="0" y="447916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479163"/>
                  </a:lnTo>
                  <a:lnTo>
                    <a:pt x="16891" y="4479163"/>
                  </a:lnTo>
                  <a:lnTo>
                    <a:pt x="16891" y="4462272"/>
                  </a:lnTo>
                  <a:lnTo>
                    <a:pt x="7088251" y="4462272"/>
                  </a:lnTo>
                  <a:lnTo>
                    <a:pt x="7088251" y="4479163"/>
                  </a:lnTo>
                  <a:lnTo>
                    <a:pt x="7071360" y="4479163"/>
                  </a:lnTo>
                  <a:lnTo>
                    <a:pt x="7071360" y="16891"/>
                  </a:lnTo>
                  <a:lnTo>
                    <a:pt x="7088251" y="16891"/>
                  </a:lnTo>
                  <a:lnTo>
                    <a:pt x="70882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E2D45"/>
            </a:solidFill>
          </p:spPr>
        </p:sp>
      </p:grpSp>
      <p:grpSp>
        <p:nvGrpSpPr>
          <p:cNvPr id="35" name="Group 35"/>
          <p:cNvGrpSpPr/>
          <p:nvPr/>
        </p:nvGrpSpPr>
        <p:grpSpPr>
          <a:xfrm rot="0">
            <a:off x="6717287" y="2492759"/>
            <a:ext cx="793499" cy="793499"/>
            <a:chOff x="0" y="0"/>
            <a:chExt cx="1057999" cy="1057999"/>
          </a:xfrm>
        </p:grpSpPr>
        <p:sp>
          <p:nvSpPr>
            <p:cNvPr id="36" name="Freeform 36"/>
            <p:cNvSpPr/>
            <p:nvPr/>
          </p:nvSpPr>
          <p:spPr>
            <a:xfrm>
              <a:off x="16891" y="16891"/>
              <a:ext cx="1024128" cy="1024128"/>
            </a:xfrm>
            <a:custGeom>
              <a:avLst/>
              <a:gdLst/>
              <a:ahLst/>
              <a:cxnLst/>
              <a:rect l="l" t="t" r="r" b="b"/>
              <a:pathLst>
                <a:path w="1024128" h="1024128">
                  <a:moveTo>
                    <a:pt x="0" y="512064"/>
                  </a:moveTo>
                  <a:cubicBezTo>
                    <a:pt x="0" y="229235"/>
                    <a:pt x="229235" y="0"/>
                    <a:pt x="512064" y="0"/>
                  </a:cubicBezTo>
                  <a:cubicBezTo>
                    <a:pt x="794893" y="0"/>
                    <a:pt x="1024128" y="229362"/>
                    <a:pt x="1024128" y="512064"/>
                  </a:cubicBezTo>
                  <a:cubicBezTo>
                    <a:pt x="1024128" y="794766"/>
                    <a:pt x="794893" y="1024128"/>
                    <a:pt x="512064" y="1024128"/>
                  </a:cubicBezTo>
                  <a:cubicBezTo>
                    <a:pt x="229235" y="1024128"/>
                    <a:pt x="0" y="794893"/>
                    <a:pt x="0" y="512064"/>
                  </a:cubicBezTo>
                  <a:close/>
                </a:path>
              </a:pathLst>
            </a:custGeom>
            <a:solidFill>
              <a:srgbClr val="38BDF8"/>
            </a:solidFill>
          </p:spPr>
        </p:sp>
        <p:sp>
          <p:nvSpPr>
            <p:cNvPr id="37" name="Freeform 37"/>
            <p:cNvSpPr/>
            <p:nvPr/>
          </p:nvSpPr>
          <p:spPr>
            <a:xfrm>
              <a:off x="0" y="0"/>
              <a:ext cx="1057910" cy="1057910"/>
            </a:xfrm>
            <a:custGeom>
              <a:avLst/>
              <a:gdLst/>
              <a:ahLst/>
              <a:cxnLst/>
              <a:rect l="l" t="t" r="r" b="b"/>
              <a:pathLst>
                <a:path w="1057910" h="1057910">
                  <a:moveTo>
                    <a:pt x="0" y="528955"/>
                  </a:moveTo>
                  <a:cubicBezTo>
                    <a:pt x="0" y="236855"/>
                    <a:pt x="236855" y="0"/>
                    <a:pt x="528955" y="0"/>
                  </a:cubicBezTo>
                  <a:lnTo>
                    <a:pt x="528955" y="16891"/>
                  </a:lnTo>
                  <a:lnTo>
                    <a:pt x="528955" y="0"/>
                  </a:lnTo>
                  <a:cubicBezTo>
                    <a:pt x="821055" y="0"/>
                    <a:pt x="1057910" y="236855"/>
                    <a:pt x="1057910" y="528955"/>
                  </a:cubicBezTo>
                  <a:lnTo>
                    <a:pt x="1041019" y="528955"/>
                  </a:lnTo>
                  <a:lnTo>
                    <a:pt x="1057910" y="528955"/>
                  </a:lnTo>
                  <a:cubicBezTo>
                    <a:pt x="1057910" y="821055"/>
                    <a:pt x="821055" y="1057910"/>
                    <a:pt x="528955" y="1057910"/>
                  </a:cubicBezTo>
                  <a:lnTo>
                    <a:pt x="528955" y="1041019"/>
                  </a:lnTo>
                  <a:lnTo>
                    <a:pt x="528955" y="1057910"/>
                  </a:lnTo>
                  <a:cubicBezTo>
                    <a:pt x="236855" y="1058037"/>
                    <a:pt x="0" y="821182"/>
                    <a:pt x="0" y="528955"/>
                  </a:cubicBezTo>
                  <a:lnTo>
                    <a:pt x="16891" y="528955"/>
                  </a:lnTo>
                  <a:lnTo>
                    <a:pt x="33909" y="528955"/>
                  </a:lnTo>
                  <a:lnTo>
                    <a:pt x="16891" y="528955"/>
                  </a:lnTo>
                  <a:lnTo>
                    <a:pt x="0" y="528955"/>
                  </a:lnTo>
                  <a:moveTo>
                    <a:pt x="33909" y="528955"/>
                  </a:moveTo>
                  <a:cubicBezTo>
                    <a:pt x="33909" y="538353"/>
                    <a:pt x="26289" y="545846"/>
                    <a:pt x="17018" y="545846"/>
                  </a:cubicBezTo>
                  <a:cubicBezTo>
                    <a:pt x="7747" y="545846"/>
                    <a:pt x="0" y="538353"/>
                    <a:pt x="0" y="528955"/>
                  </a:cubicBezTo>
                  <a:cubicBezTo>
                    <a:pt x="0" y="519557"/>
                    <a:pt x="7620" y="512064"/>
                    <a:pt x="16891" y="512064"/>
                  </a:cubicBezTo>
                  <a:cubicBezTo>
                    <a:pt x="26162" y="512064"/>
                    <a:pt x="33782" y="519684"/>
                    <a:pt x="33782" y="528955"/>
                  </a:cubicBezTo>
                  <a:cubicBezTo>
                    <a:pt x="33782" y="802386"/>
                    <a:pt x="255397" y="1024128"/>
                    <a:pt x="528955" y="1024128"/>
                  </a:cubicBezTo>
                  <a:cubicBezTo>
                    <a:pt x="802386" y="1024128"/>
                    <a:pt x="1024128" y="802513"/>
                    <a:pt x="1024128" y="528955"/>
                  </a:cubicBezTo>
                  <a:cubicBezTo>
                    <a:pt x="1024128" y="255524"/>
                    <a:pt x="802513" y="33782"/>
                    <a:pt x="528955" y="33782"/>
                  </a:cubicBezTo>
                  <a:lnTo>
                    <a:pt x="528955" y="16891"/>
                  </a:lnTo>
                  <a:lnTo>
                    <a:pt x="528955" y="33909"/>
                  </a:lnTo>
                  <a:cubicBezTo>
                    <a:pt x="255524" y="33909"/>
                    <a:pt x="33909" y="255524"/>
                    <a:pt x="33909" y="528955"/>
                  </a:cubicBezTo>
                  <a:close/>
                </a:path>
              </a:pathLst>
            </a:custGeom>
            <a:solidFill>
              <a:srgbClr val="38BDF8"/>
            </a:solidFill>
          </p:spPr>
        </p:sp>
      </p:grpSp>
      <p:grpSp>
        <p:nvGrpSpPr>
          <p:cNvPr id="38" name="Group 38"/>
          <p:cNvGrpSpPr/>
          <p:nvPr/>
        </p:nvGrpSpPr>
        <p:grpSpPr>
          <a:xfrm rot="0">
            <a:off x="6729984" y="2505456"/>
            <a:ext cx="768096" cy="768096"/>
            <a:chOff x="0" y="0"/>
            <a:chExt cx="1024128" cy="1024128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1024128" cy="1024128"/>
            </a:xfrm>
            <a:custGeom>
              <a:avLst/>
              <a:gdLst/>
              <a:ahLst/>
              <a:cxnLst/>
              <a:rect l="l" t="t" r="r" b="b"/>
              <a:pathLst>
                <a:path w="1024128" h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1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40" name="TextBox 40"/>
            <p:cNvSpPr txBox="1"/>
            <p:nvPr/>
          </p:nvSpPr>
          <p:spPr>
            <a:xfrm>
              <a:off x="0" y="-38100"/>
              <a:ext cx="1024128" cy="106222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400"/>
                </a:lnSpc>
              </a:pPr>
              <a:r>
                <a:rPr lang="en-US" sz="2000" b="1">
                  <a:solidFill>
                    <a:srgbClr val="0B0F1A"/>
                  </a:solidFill>
                  <a:latin typeface="Calibri (MS) Bold" panose="020F0702030404030204"/>
                  <a:ea typeface="Calibri (MS) Bold" panose="020F0702030404030204"/>
                  <a:cs typeface="Calibri (MS) Bold" panose="020F0702030404030204"/>
                  <a:sym typeface="Calibri (MS) Bold" panose="020F0702030404030204"/>
                </a:rPr>
                <a:t>02</a:t>
              </a:r>
              <a:endParaRPr lang="en-US" sz="2000" b="1">
                <a:solidFill>
                  <a:srgbClr val="0B0F1A"/>
                </a:solidFill>
                <a:latin typeface="Calibri (MS) Bold" panose="020F0702030404030204"/>
                <a:ea typeface="Calibri (MS) Bold" panose="020F0702030404030204"/>
                <a:cs typeface="Calibri (MS) Bold" panose="020F0702030404030204"/>
                <a:sym typeface="Calibri (MS) Bold" panose="020F0702030404030204"/>
              </a:endParaRPr>
            </a:p>
          </p:txBody>
        </p:sp>
      </p:grpSp>
      <p:grpSp>
        <p:nvGrpSpPr>
          <p:cNvPr id="41" name="Group 41"/>
          <p:cNvGrpSpPr/>
          <p:nvPr/>
        </p:nvGrpSpPr>
        <p:grpSpPr>
          <a:xfrm rot="0">
            <a:off x="7644384" y="2523744"/>
            <a:ext cx="3840480" cy="658368"/>
            <a:chOff x="0" y="0"/>
            <a:chExt cx="5120640" cy="877824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5120640" cy="877824"/>
            </a:xfrm>
            <a:custGeom>
              <a:avLst/>
              <a:gdLst/>
              <a:ahLst/>
              <a:cxnLst/>
              <a:rect l="l" t="t" r="r" b="b"/>
              <a:pathLst>
                <a:path w="5120640" h="877824">
                  <a:moveTo>
                    <a:pt x="0" y="0"/>
                  </a:moveTo>
                  <a:lnTo>
                    <a:pt x="5120640" y="0"/>
                  </a:lnTo>
                  <a:lnTo>
                    <a:pt x="512064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1">
                <a:alphaModFix amt="0"/>
              </a:blip>
              <a:stretch>
                <a:fillRect t="-63662" b="-63662"/>
              </a:stretch>
            </a:blipFill>
          </p:spPr>
        </p:sp>
        <p:sp>
          <p:nvSpPr>
            <p:cNvPr id="43" name="TextBox 43"/>
            <p:cNvSpPr txBox="1"/>
            <p:nvPr/>
          </p:nvSpPr>
          <p:spPr>
            <a:xfrm>
              <a:off x="0" y="-38100"/>
              <a:ext cx="5120640" cy="91592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80"/>
                </a:lnSpc>
              </a:pPr>
              <a:r>
                <a:rPr lang="en-US" sz="2400" b="1">
                  <a:solidFill>
                    <a:srgbClr val="E2E8F0"/>
                  </a:solidFill>
                  <a:latin typeface="Calibri (MS) Bold" panose="020F0702030404030204"/>
                  <a:ea typeface="Calibri (MS) Bold" panose="020F0702030404030204"/>
                  <a:cs typeface="Calibri (MS) Bold" panose="020F0702030404030204"/>
                  <a:sym typeface="Calibri (MS) Bold" panose="020F0702030404030204"/>
                </a:rPr>
                <a:t>Integrate V2 Backend</a:t>
              </a:r>
              <a:endParaRPr lang="en-US" sz="2400" b="1">
                <a:solidFill>
                  <a:srgbClr val="E2E8F0"/>
                </a:solidFill>
                <a:latin typeface="Calibri (MS) Bold" panose="020F0702030404030204"/>
                <a:ea typeface="Calibri (MS) Bold" panose="020F0702030404030204"/>
                <a:cs typeface="Calibri (MS) Bold" panose="020F0702030404030204"/>
                <a:sym typeface="Calibri (MS) Bold" panose="020F0702030404030204"/>
              </a:endParaRPr>
            </a:p>
          </p:txBody>
        </p:sp>
      </p:grpSp>
      <p:grpSp>
        <p:nvGrpSpPr>
          <p:cNvPr id="44" name="Group 44"/>
          <p:cNvGrpSpPr/>
          <p:nvPr/>
        </p:nvGrpSpPr>
        <p:grpSpPr>
          <a:xfrm rot="0">
            <a:off x="6729984" y="3419856"/>
            <a:ext cx="4846320" cy="1243584"/>
            <a:chOff x="0" y="0"/>
            <a:chExt cx="6461760" cy="1658112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6461760" cy="1658112"/>
            </a:xfrm>
            <a:custGeom>
              <a:avLst/>
              <a:gdLst/>
              <a:ahLst/>
              <a:cxnLst/>
              <a:rect l="l" t="t" r="r" b="b"/>
              <a:pathLst>
                <a:path w="6461760" h="1658112">
                  <a:moveTo>
                    <a:pt x="0" y="0"/>
                  </a:moveTo>
                  <a:lnTo>
                    <a:pt x="6461760" y="0"/>
                  </a:lnTo>
                  <a:lnTo>
                    <a:pt x="6461760" y="1658112"/>
                  </a:lnTo>
                  <a:lnTo>
                    <a:pt x="0" y="1658112"/>
                  </a:lnTo>
                  <a:close/>
                </a:path>
              </a:pathLst>
            </a:custGeom>
            <a:blipFill>
              <a:blip r:embed="rId1">
                <a:alphaModFix amt="0"/>
              </a:blip>
              <a:stretch>
                <a:fillRect t="-25934" b="-25934"/>
              </a:stretch>
            </a:blipFill>
          </p:spPr>
        </p:sp>
        <p:sp>
          <p:nvSpPr>
            <p:cNvPr id="46" name="TextBox 46"/>
            <p:cNvSpPr txBox="1"/>
            <p:nvPr/>
          </p:nvSpPr>
          <p:spPr>
            <a:xfrm>
              <a:off x="0" y="-38100"/>
              <a:ext cx="6461760" cy="169621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94A3B8"/>
                  </a:solidFill>
                  <a:latin typeface="Calibri (MS)" panose="020F0502020204030204"/>
                  <a:ea typeface="Calibri (MS)" panose="020F0502020204030204"/>
                  <a:cs typeface="Calibri (MS)" panose="020F0502020204030204"/>
                  <a:sym typeface="Calibri (MS)" panose="020F0502020204030204"/>
                </a:rPr>
                <a:t>Connect the app to V2 API — auth, exercises, measurements</a:t>
              </a:r>
              <a:endParaRPr lang="en-US" sz="2000">
                <a:solidFill>
                  <a:srgbClr val="94A3B8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endParaRPr>
            </a:p>
          </p:txBody>
        </p:sp>
      </p:grpSp>
      <p:grpSp>
        <p:nvGrpSpPr>
          <p:cNvPr id="47" name="Group 47"/>
          <p:cNvGrpSpPr/>
          <p:nvPr/>
        </p:nvGrpSpPr>
        <p:grpSpPr>
          <a:xfrm rot="0">
            <a:off x="6717287" y="4883258"/>
            <a:ext cx="2293115" cy="464315"/>
            <a:chOff x="0" y="0"/>
            <a:chExt cx="3057487" cy="619087"/>
          </a:xfrm>
        </p:grpSpPr>
        <p:sp>
          <p:nvSpPr>
            <p:cNvPr id="48" name="Freeform 48"/>
            <p:cNvSpPr/>
            <p:nvPr/>
          </p:nvSpPr>
          <p:spPr>
            <a:xfrm>
              <a:off x="16891" y="16891"/>
              <a:ext cx="3023616" cy="585216"/>
            </a:xfrm>
            <a:custGeom>
              <a:avLst/>
              <a:gdLst/>
              <a:ahLst/>
              <a:cxnLst/>
              <a:rect l="l" t="t" r="r" b="b"/>
              <a:pathLst>
                <a:path w="3023616" h="585216">
                  <a:moveTo>
                    <a:pt x="0" y="0"/>
                  </a:moveTo>
                  <a:lnTo>
                    <a:pt x="3023616" y="0"/>
                  </a:lnTo>
                  <a:lnTo>
                    <a:pt x="3023616" y="585216"/>
                  </a:lnTo>
                  <a:lnTo>
                    <a:pt x="0" y="585216"/>
                  </a:lnTo>
                  <a:close/>
                </a:path>
              </a:pathLst>
            </a:custGeom>
            <a:solidFill>
              <a:srgbClr val="1A2236"/>
            </a:solidFill>
          </p:spPr>
        </p:sp>
        <p:sp>
          <p:nvSpPr>
            <p:cNvPr id="49" name="Freeform 49"/>
            <p:cNvSpPr/>
            <p:nvPr/>
          </p:nvSpPr>
          <p:spPr>
            <a:xfrm>
              <a:off x="0" y="0"/>
              <a:ext cx="3057398" cy="619000"/>
            </a:xfrm>
            <a:custGeom>
              <a:avLst/>
              <a:gdLst/>
              <a:ahLst/>
              <a:cxnLst/>
              <a:rect l="l" t="t" r="r" b="b"/>
              <a:pathLst>
                <a:path w="3057398" h="619000">
                  <a:moveTo>
                    <a:pt x="16891" y="0"/>
                  </a:moveTo>
                  <a:lnTo>
                    <a:pt x="3040507" y="0"/>
                  </a:lnTo>
                  <a:cubicBezTo>
                    <a:pt x="3049905" y="0"/>
                    <a:pt x="3057398" y="7620"/>
                    <a:pt x="3057398" y="16891"/>
                  </a:cubicBezTo>
                  <a:lnTo>
                    <a:pt x="3057398" y="602107"/>
                  </a:lnTo>
                  <a:cubicBezTo>
                    <a:pt x="3057398" y="611505"/>
                    <a:pt x="3049778" y="618998"/>
                    <a:pt x="3040507" y="618998"/>
                  </a:cubicBezTo>
                  <a:lnTo>
                    <a:pt x="16891" y="618998"/>
                  </a:lnTo>
                  <a:cubicBezTo>
                    <a:pt x="7620" y="619125"/>
                    <a:pt x="0" y="611505"/>
                    <a:pt x="0" y="60210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02107"/>
                  </a:lnTo>
                  <a:lnTo>
                    <a:pt x="16891" y="602107"/>
                  </a:lnTo>
                  <a:lnTo>
                    <a:pt x="16891" y="585216"/>
                  </a:lnTo>
                  <a:lnTo>
                    <a:pt x="3040507" y="585216"/>
                  </a:lnTo>
                  <a:lnTo>
                    <a:pt x="3040507" y="602107"/>
                  </a:lnTo>
                  <a:lnTo>
                    <a:pt x="3023616" y="602107"/>
                  </a:lnTo>
                  <a:lnTo>
                    <a:pt x="3023616" y="16891"/>
                  </a:lnTo>
                  <a:lnTo>
                    <a:pt x="3040507" y="16891"/>
                  </a:lnTo>
                  <a:lnTo>
                    <a:pt x="3040507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E2D45"/>
            </a:solidFill>
          </p:spPr>
        </p:sp>
      </p:grpSp>
      <p:grpSp>
        <p:nvGrpSpPr>
          <p:cNvPr id="50" name="Group 50"/>
          <p:cNvGrpSpPr/>
          <p:nvPr/>
        </p:nvGrpSpPr>
        <p:grpSpPr>
          <a:xfrm rot="0">
            <a:off x="6729984" y="4899879"/>
            <a:ext cx="2267712" cy="438912"/>
            <a:chOff x="0" y="0"/>
            <a:chExt cx="3023616" cy="585216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3023616" cy="585216"/>
            </a:xfrm>
            <a:custGeom>
              <a:avLst/>
              <a:gdLst/>
              <a:ahLst/>
              <a:cxnLst/>
              <a:rect l="l" t="t" r="r" b="b"/>
              <a:pathLst>
                <a:path w="3023616" h="585216">
                  <a:moveTo>
                    <a:pt x="0" y="0"/>
                  </a:moveTo>
                  <a:lnTo>
                    <a:pt x="3023616" y="0"/>
                  </a:lnTo>
                  <a:lnTo>
                    <a:pt x="3023616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1">
                <a:alphaModFix amt="0"/>
              </a:blip>
              <a:stretch>
                <a:fillRect t="-50672" b="-50672"/>
              </a:stretch>
            </a:blipFill>
          </p:spPr>
        </p:sp>
        <p:sp>
          <p:nvSpPr>
            <p:cNvPr id="52" name="TextBox 52"/>
            <p:cNvSpPr txBox="1"/>
            <p:nvPr/>
          </p:nvSpPr>
          <p:spPr>
            <a:xfrm>
              <a:off x="0" y="-28575"/>
              <a:ext cx="3023616" cy="61379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680"/>
                </a:lnSpc>
              </a:pPr>
              <a:r>
                <a:rPr lang="en-US" sz="1400" b="1">
                  <a:solidFill>
                    <a:srgbClr val="34D399"/>
                  </a:solidFill>
                  <a:latin typeface="Calibri (MS) Bold" panose="020F0702030404030204"/>
                  <a:ea typeface="Calibri (MS) Bold" panose="020F0702030404030204"/>
                  <a:cs typeface="Calibri (MS) Bold" panose="020F0702030404030204"/>
                  <a:sym typeface="Calibri (MS) Bold" panose="020F0702030404030204"/>
                </a:rPr>
                <a:t>👤 Pinhel + Wang + Enhe</a:t>
              </a:r>
              <a:endParaRPr lang="en-US" sz="1400" b="1">
                <a:solidFill>
                  <a:srgbClr val="34D399"/>
                </a:solidFill>
                <a:latin typeface="Calibri (MS) Bold" panose="020F0702030404030204"/>
                <a:ea typeface="Calibri (MS) Bold" panose="020F0702030404030204"/>
                <a:cs typeface="Calibri (MS) Bold" panose="020F0702030404030204"/>
                <a:sym typeface="Calibri (MS) Bold" panose="020F0702030404030204"/>
              </a:endParaRPr>
            </a:p>
          </p:txBody>
        </p:sp>
      </p:grpSp>
      <p:grpSp>
        <p:nvGrpSpPr>
          <p:cNvPr id="53" name="Group 53"/>
          <p:cNvGrpSpPr/>
          <p:nvPr/>
        </p:nvGrpSpPr>
        <p:grpSpPr>
          <a:xfrm rot="0">
            <a:off x="12075671" y="2218439"/>
            <a:ext cx="5402075" cy="3372098"/>
            <a:chOff x="0" y="0"/>
            <a:chExt cx="7202767" cy="4496130"/>
          </a:xfrm>
        </p:grpSpPr>
        <p:sp>
          <p:nvSpPr>
            <p:cNvPr id="54" name="Freeform 54"/>
            <p:cNvSpPr/>
            <p:nvPr/>
          </p:nvSpPr>
          <p:spPr>
            <a:xfrm>
              <a:off x="16891" y="16891"/>
              <a:ext cx="7168896" cy="4462272"/>
            </a:xfrm>
            <a:custGeom>
              <a:avLst/>
              <a:gdLst/>
              <a:ahLst/>
              <a:cxnLst/>
              <a:rect l="l" t="t" r="r" b="b"/>
              <a:pathLst>
                <a:path w="7168896" h="4462272">
                  <a:moveTo>
                    <a:pt x="0" y="0"/>
                  </a:moveTo>
                  <a:lnTo>
                    <a:pt x="7168896" y="0"/>
                  </a:lnTo>
                  <a:lnTo>
                    <a:pt x="7168896" y="4462272"/>
                  </a:lnTo>
                  <a:lnTo>
                    <a:pt x="0" y="4462272"/>
                  </a:lnTo>
                  <a:close/>
                </a:path>
              </a:pathLst>
            </a:custGeom>
            <a:solidFill>
              <a:srgbClr val="141C2E"/>
            </a:solidFill>
          </p:spPr>
        </p:sp>
        <p:sp>
          <p:nvSpPr>
            <p:cNvPr id="55" name="Freeform 55"/>
            <p:cNvSpPr/>
            <p:nvPr/>
          </p:nvSpPr>
          <p:spPr>
            <a:xfrm>
              <a:off x="0" y="0"/>
              <a:ext cx="7202678" cy="4496054"/>
            </a:xfrm>
            <a:custGeom>
              <a:avLst/>
              <a:gdLst/>
              <a:ahLst/>
              <a:cxnLst/>
              <a:rect l="l" t="t" r="r" b="b"/>
              <a:pathLst>
                <a:path w="7202678" h="4496054">
                  <a:moveTo>
                    <a:pt x="16891" y="0"/>
                  </a:moveTo>
                  <a:lnTo>
                    <a:pt x="7185787" y="0"/>
                  </a:lnTo>
                  <a:cubicBezTo>
                    <a:pt x="7195185" y="0"/>
                    <a:pt x="7202678" y="7620"/>
                    <a:pt x="7202678" y="16891"/>
                  </a:cubicBezTo>
                  <a:lnTo>
                    <a:pt x="7202678" y="4479163"/>
                  </a:lnTo>
                  <a:cubicBezTo>
                    <a:pt x="7202678" y="4488561"/>
                    <a:pt x="7195058" y="4496054"/>
                    <a:pt x="7185787" y="4496054"/>
                  </a:cubicBezTo>
                  <a:lnTo>
                    <a:pt x="16891" y="4496054"/>
                  </a:lnTo>
                  <a:cubicBezTo>
                    <a:pt x="7493" y="4496054"/>
                    <a:pt x="0" y="4488434"/>
                    <a:pt x="0" y="447916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479163"/>
                  </a:lnTo>
                  <a:lnTo>
                    <a:pt x="16891" y="4479163"/>
                  </a:lnTo>
                  <a:lnTo>
                    <a:pt x="16891" y="4462272"/>
                  </a:lnTo>
                  <a:lnTo>
                    <a:pt x="7185787" y="4462272"/>
                  </a:lnTo>
                  <a:lnTo>
                    <a:pt x="7185787" y="4479163"/>
                  </a:lnTo>
                  <a:lnTo>
                    <a:pt x="7168896" y="4479163"/>
                  </a:lnTo>
                  <a:lnTo>
                    <a:pt x="7168896" y="16891"/>
                  </a:lnTo>
                  <a:lnTo>
                    <a:pt x="7185787" y="16891"/>
                  </a:lnTo>
                  <a:lnTo>
                    <a:pt x="7185787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E2D45"/>
            </a:solidFill>
          </p:spPr>
        </p:sp>
      </p:grpSp>
      <p:grpSp>
        <p:nvGrpSpPr>
          <p:cNvPr id="56" name="Group 56"/>
          <p:cNvGrpSpPr/>
          <p:nvPr/>
        </p:nvGrpSpPr>
        <p:grpSpPr>
          <a:xfrm rot="0">
            <a:off x="12349991" y="2492759"/>
            <a:ext cx="793499" cy="793499"/>
            <a:chOff x="0" y="0"/>
            <a:chExt cx="1057999" cy="1057999"/>
          </a:xfrm>
        </p:grpSpPr>
        <p:sp>
          <p:nvSpPr>
            <p:cNvPr id="57" name="Freeform 57"/>
            <p:cNvSpPr/>
            <p:nvPr/>
          </p:nvSpPr>
          <p:spPr>
            <a:xfrm>
              <a:off x="16891" y="16891"/>
              <a:ext cx="1024128" cy="1024128"/>
            </a:xfrm>
            <a:custGeom>
              <a:avLst/>
              <a:gdLst/>
              <a:ahLst/>
              <a:cxnLst/>
              <a:rect l="l" t="t" r="r" b="b"/>
              <a:pathLst>
                <a:path w="1024128" h="1024128">
                  <a:moveTo>
                    <a:pt x="0" y="512064"/>
                  </a:moveTo>
                  <a:cubicBezTo>
                    <a:pt x="0" y="229235"/>
                    <a:pt x="229235" y="0"/>
                    <a:pt x="512064" y="0"/>
                  </a:cubicBezTo>
                  <a:cubicBezTo>
                    <a:pt x="794893" y="0"/>
                    <a:pt x="1024128" y="229362"/>
                    <a:pt x="1024128" y="512064"/>
                  </a:cubicBezTo>
                  <a:cubicBezTo>
                    <a:pt x="1024128" y="794766"/>
                    <a:pt x="794893" y="1024128"/>
                    <a:pt x="512064" y="1024128"/>
                  </a:cubicBezTo>
                  <a:cubicBezTo>
                    <a:pt x="229235" y="1024128"/>
                    <a:pt x="0" y="794893"/>
                    <a:pt x="0" y="512064"/>
                  </a:cubicBezTo>
                  <a:close/>
                </a:path>
              </a:pathLst>
            </a:custGeom>
            <a:solidFill>
              <a:srgbClr val="38BDF8"/>
            </a:solidFill>
          </p:spPr>
        </p:sp>
        <p:sp>
          <p:nvSpPr>
            <p:cNvPr id="58" name="Freeform 58"/>
            <p:cNvSpPr/>
            <p:nvPr/>
          </p:nvSpPr>
          <p:spPr>
            <a:xfrm>
              <a:off x="0" y="0"/>
              <a:ext cx="1057910" cy="1057910"/>
            </a:xfrm>
            <a:custGeom>
              <a:avLst/>
              <a:gdLst/>
              <a:ahLst/>
              <a:cxnLst/>
              <a:rect l="l" t="t" r="r" b="b"/>
              <a:pathLst>
                <a:path w="1057910" h="1057910">
                  <a:moveTo>
                    <a:pt x="0" y="528955"/>
                  </a:moveTo>
                  <a:cubicBezTo>
                    <a:pt x="0" y="236855"/>
                    <a:pt x="236855" y="0"/>
                    <a:pt x="528955" y="0"/>
                  </a:cubicBezTo>
                  <a:lnTo>
                    <a:pt x="528955" y="16891"/>
                  </a:lnTo>
                  <a:lnTo>
                    <a:pt x="528955" y="0"/>
                  </a:lnTo>
                  <a:cubicBezTo>
                    <a:pt x="821055" y="0"/>
                    <a:pt x="1057910" y="236855"/>
                    <a:pt x="1057910" y="528955"/>
                  </a:cubicBezTo>
                  <a:lnTo>
                    <a:pt x="1041019" y="528955"/>
                  </a:lnTo>
                  <a:lnTo>
                    <a:pt x="1057910" y="528955"/>
                  </a:lnTo>
                  <a:cubicBezTo>
                    <a:pt x="1057910" y="821055"/>
                    <a:pt x="821055" y="1057910"/>
                    <a:pt x="528955" y="1057910"/>
                  </a:cubicBezTo>
                  <a:lnTo>
                    <a:pt x="528955" y="1041019"/>
                  </a:lnTo>
                  <a:lnTo>
                    <a:pt x="528955" y="1057910"/>
                  </a:lnTo>
                  <a:cubicBezTo>
                    <a:pt x="236855" y="1058037"/>
                    <a:pt x="0" y="821182"/>
                    <a:pt x="0" y="528955"/>
                  </a:cubicBezTo>
                  <a:lnTo>
                    <a:pt x="16891" y="528955"/>
                  </a:lnTo>
                  <a:lnTo>
                    <a:pt x="33909" y="528955"/>
                  </a:lnTo>
                  <a:lnTo>
                    <a:pt x="16891" y="528955"/>
                  </a:lnTo>
                  <a:lnTo>
                    <a:pt x="0" y="528955"/>
                  </a:lnTo>
                  <a:moveTo>
                    <a:pt x="33909" y="528955"/>
                  </a:moveTo>
                  <a:cubicBezTo>
                    <a:pt x="33909" y="538353"/>
                    <a:pt x="26289" y="545846"/>
                    <a:pt x="17018" y="545846"/>
                  </a:cubicBezTo>
                  <a:cubicBezTo>
                    <a:pt x="7747" y="545846"/>
                    <a:pt x="0" y="538353"/>
                    <a:pt x="0" y="528955"/>
                  </a:cubicBezTo>
                  <a:cubicBezTo>
                    <a:pt x="0" y="519557"/>
                    <a:pt x="7620" y="512064"/>
                    <a:pt x="16891" y="512064"/>
                  </a:cubicBezTo>
                  <a:cubicBezTo>
                    <a:pt x="26162" y="512064"/>
                    <a:pt x="33782" y="519684"/>
                    <a:pt x="33782" y="528955"/>
                  </a:cubicBezTo>
                  <a:cubicBezTo>
                    <a:pt x="33782" y="802386"/>
                    <a:pt x="255397" y="1024128"/>
                    <a:pt x="528955" y="1024128"/>
                  </a:cubicBezTo>
                  <a:cubicBezTo>
                    <a:pt x="802386" y="1024128"/>
                    <a:pt x="1024128" y="802513"/>
                    <a:pt x="1024128" y="528955"/>
                  </a:cubicBezTo>
                  <a:cubicBezTo>
                    <a:pt x="1024128" y="255524"/>
                    <a:pt x="802513" y="33782"/>
                    <a:pt x="528955" y="33782"/>
                  </a:cubicBezTo>
                  <a:lnTo>
                    <a:pt x="528955" y="16891"/>
                  </a:lnTo>
                  <a:lnTo>
                    <a:pt x="528955" y="33909"/>
                  </a:lnTo>
                  <a:cubicBezTo>
                    <a:pt x="255524" y="33909"/>
                    <a:pt x="33909" y="255524"/>
                    <a:pt x="33909" y="528955"/>
                  </a:cubicBezTo>
                  <a:close/>
                </a:path>
              </a:pathLst>
            </a:custGeom>
            <a:solidFill>
              <a:srgbClr val="38BDF8"/>
            </a:solidFill>
          </p:spPr>
        </p:sp>
      </p:grpSp>
      <p:grpSp>
        <p:nvGrpSpPr>
          <p:cNvPr id="59" name="Group 59"/>
          <p:cNvGrpSpPr/>
          <p:nvPr/>
        </p:nvGrpSpPr>
        <p:grpSpPr>
          <a:xfrm rot="0">
            <a:off x="12362688" y="2505456"/>
            <a:ext cx="768096" cy="768096"/>
            <a:chOff x="0" y="0"/>
            <a:chExt cx="1024128" cy="1024128"/>
          </a:xfrm>
        </p:grpSpPr>
        <p:sp>
          <p:nvSpPr>
            <p:cNvPr id="60" name="Freeform 60"/>
            <p:cNvSpPr/>
            <p:nvPr/>
          </p:nvSpPr>
          <p:spPr>
            <a:xfrm>
              <a:off x="0" y="0"/>
              <a:ext cx="1024128" cy="1024128"/>
            </a:xfrm>
            <a:custGeom>
              <a:avLst/>
              <a:gdLst/>
              <a:ahLst/>
              <a:cxnLst/>
              <a:rect l="l" t="t" r="r" b="b"/>
              <a:pathLst>
                <a:path w="1024128" h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1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61" name="TextBox 61"/>
            <p:cNvSpPr txBox="1"/>
            <p:nvPr/>
          </p:nvSpPr>
          <p:spPr>
            <a:xfrm>
              <a:off x="0" y="-38100"/>
              <a:ext cx="1024128" cy="106222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400"/>
                </a:lnSpc>
              </a:pPr>
              <a:r>
                <a:rPr lang="en-US" sz="2000" b="1">
                  <a:solidFill>
                    <a:srgbClr val="0B0F1A"/>
                  </a:solidFill>
                  <a:latin typeface="Calibri (MS) Bold" panose="020F0702030404030204"/>
                  <a:ea typeface="Calibri (MS) Bold" panose="020F0702030404030204"/>
                  <a:cs typeface="Calibri (MS) Bold" panose="020F0702030404030204"/>
                  <a:sym typeface="Calibri (MS) Bold" panose="020F0702030404030204"/>
                </a:rPr>
                <a:t>03</a:t>
              </a:r>
              <a:endParaRPr lang="en-US" sz="2000" b="1">
                <a:solidFill>
                  <a:srgbClr val="0B0F1A"/>
                </a:solidFill>
                <a:latin typeface="Calibri (MS) Bold" panose="020F0702030404030204"/>
                <a:ea typeface="Calibri (MS) Bold" panose="020F0702030404030204"/>
                <a:cs typeface="Calibri (MS) Bold" panose="020F0702030404030204"/>
                <a:sym typeface="Calibri (MS) Bold" panose="020F0702030404030204"/>
              </a:endParaRPr>
            </a:p>
          </p:txBody>
        </p:sp>
      </p:grpSp>
      <p:grpSp>
        <p:nvGrpSpPr>
          <p:cNvPr id="62" name="Group 62"/>
          <p:cNvGrpSpPr/>
          <p:nvPr/>
        </p:nvGrpSpPr>
        <p:grpSpPr>
          <a:xfrm rot="0">
            <a:off x="12365660" y="4887182"/>
            <a:ext cx="2037083" cy="464315"/>
            <a:chOff x="0" y="0"/>
            <a:chExt cx="2716111" cy="619087"/>
          </a:xfrm>
        </p:grpSpPr>
        <p:sp>
          <p:nvSpPr>
            <p:cNvPr id="63" name="Freeform 63"/>
            <p:cNvSpPr/>
            <p:nvPr/>
          </p:nvSpPr>
          <p:spPr>
            <a:xfrm>
              <a:off x="16891" y="16891"/>
              <a:ext cx="2682240" cy="585216"/>
            </a:xfrm>
            <a:custGeom>
              <a:avLst/>
              <a:gdLst/>
              <a:ahLst/>
              <a:cxnLst/>
              <a:rect l="l" t="t" r="r" b="b"/>
              <a:pathLst>
                <a:path w="2682240" h="585216">
                  <a:moveTo>
                    <a:pt x="0" y="0"/>
                  </a:moveTo>
                  <a:lnTo>
                    <a:pt x="2682240" y="0"/>
                  </a:lnTo>
                  <a:lnTo>
                    <a:pt x="2682240" y="585216"/>
                  </a:lnTo>
                  <a:lnTo>
                    <a:pt x="0" y="585216"/>
                  </a:lnTo>
                  <a:close/>
                </a:path>
              </a:pathLst>
            </a:custGeom>
            <a:solidFill>
              <a:srgbClr val="1A2236"/>
            </a:solidFill>
          </p:spPr>
        </p:sp>
        <p:sp>
          <p:nvSpPr>
            <p:cNvPr id="64" name="Freeform 64"/>
            <p:cNvSpPr/>
            <p:nvPr/>
          </p:nvSpPr>
          <p:spPr>
            <a:xfrm>
              <a:off x="0" y="0"/>
              <a:ext cx="2716022" cy="619000"/>
            </a:xfrm>
            <a:custGeom>
              <a:avLst/>
              <a:gdLst/>
              <a:ahLst/>
              <a:cxnLst/>
              <a:rect l="l" t="t" r="r" b="b"/>
              <a:pathLst>
                <a:path w="2716022" h="619000">
                  <a:moveTo>
                    <a:pt x="16891" y="0"/>
                  </a:moveTo>
                  <a:lnTo>
                    <a:pt x="2699131" y="0"/>
                  </a:lnTo>
                  <a:cubicBezTo>
                    <a:pt x="2708529" y="0"/>
                    <a:pt x="2716022" y="7620"/>
                    <a:pt x="2716022" y="16891"/>
                  </a:cubicBezTo>
                  <a:lnTo>
                    <a:pt x="2716022" y="602107"/>
                  </a:lnTo>
                  <a:cubicBezTo>
                    <a:pt x="2716022" y="611505"/>
                    <a:pt x="2708402" y="618998"/>
                    <a:pt x="2699131" y="618998"/>
                  </a:cubicBezTo>
                  <a:lnTo>
                    <a:pt x="16891" y="618998"/>
                  </a:lnTo>
                  <a:cubicBezTo>
                    <a:pt x="7620" y="619125"/>
                    <a:pt x="0" y="611505"/>
                    <a:pt x="0" y="60210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02107"/>
                  </a:lnTo>
                  <a:lnTo>
                    <a:pt x="16891" y="602107"/>
                  </a:lnTo>
                  <a:lnTo>
                    <a:pt x="16891" y="585216"/>
                  </a:lnTo>
                  <a:lnTo>
                    <a:pt x="2699131" y="585216"/>
                  </a:lnTo>
                  <a:lnTo>
                    <a:pt x="2699131" y="602107"/>
                  </a:lnTo>
                  <a:lnTo>
                    <a:pt x="2682240" y="602107"/>
                  </a:lnTo>
                  <a:lnTo>
                    <a:pt x="2682240" y="16891"/>
                  </a:lnTo>
                  <a:lnTo>
                    <a:pt x="2699131" y="16891"/>
                  </a:lnTo>
                  <a:lnTo>
                    <a:pt x="26991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E2D45"/>
            </a:solidFill>
          </p:spPr>
        </p:sp>
      </p:grpSp>
      <p:grpSp>
        <p:nvGrpSpPr>
          <p:cNvPr id="65" name="Group 65"/>
          <p:cNvGrpSpPr/>
          <p:nvPr/>
        </p:nvGrpSpPr>
        <p:grpSpPr>
          <a:xfrm rot="0">
            <a:off x="12378366" y="4911633"/>
            <a:ext cx="2011680" cy="438912"/>
            <a:chOff x="0" y="0"/>
            <a:chExt cx="2682240" cy="585216"/>
          </a:xfrm>
        </p:grpSpPr>
        <p:sp>
          <p:nvSpPr>
            <p:cNvPr id="66" name="Freeform 66"/>
            <p:cNvSpPr/>
            <p:nvPr/>
          </p:nvSpPr>
          <p:spPr>
            <a:xfrm>
              <a:off x="0" y="0"/>
              <a:ext cx="2682240" cy="585216"/>
            </a:xfrm>
            <a:custGeom>
              <a:avLst/>
              <a:gdLst/>
              <a:ahLst/>
              <a:cxnLst/>
              <a:rect l="l" t="t" r="r" b="b"/>
              <a:pathLst>
                <a:path w="2682240" h="585216">
                  <a:moveTo>
                    <a:pt x="0" y="0"/>
                  </a:moveTo>
                  <a:lnTo>
                    <a:pt x="2682240" y="0"/>
                  </a:lnTo>
                  <a:lnTo>
                    <a:pt x="268224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1">
                <a:alphaModFix amt="0"/>
              </a:blip>
              <a:stretch>
                <a:fillRect t="-39306" b="-39306"/>
              </a:stretch>
            </a:blipFill>
          </p:spPr>
        </p:sp>
        <p:sp>
          <p:nvSpPr>
            <p:cNvPr id="67" name="TextBox 67"/>
            <p:cNvSpPr txBox="1"/>
            <p:nvPr/>
          </p:nvSpPr>
          <p:spPr>
            <a:xfrm>
              <a:off x="0" y="-28575"/>
              <a:ext cx="2682240" cy="61379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680"/>
                </a:lnSpc>
              </a:pPr>
              <a:r>
                <a:rPr lang="en-US" sz="1400" b="1">
                  <a:solidFill>
                    <a:srgbClr val="34D399"/>
                  </a:solidFill>
                  <a:latin typeface="Calibri (MS) Bold" panose="020F0702030404030204"/>
                  <a:ea typeface="Calibri (MS) Bold" panose="020F0702030404030204"/>
                  <a:cs typeface="Calibri (MS) Bold" panose="020F0702030404030204"/>
                  <a:sym typeface="Calibri (MS) Bold" panose="020F0702030404030204"/>
                </a:rPr>
                <a:t>👤 Pinhel + Wang</a:t>
              </a:r>
              <a:endParaRPr lang="en-US" sz="1400" b="1">
                <a:solidFill>
                  <a:srgbClr val="34D399"/>
                </a:solidFill>
                <a:latin typeface="Calibri (MS) Bold" panose="020F0702030404030204"/>
                <a:ea typeface="Calibri (MS) Bold" panose="020F0702030404030204"/>
                <a:cs typeface="Calibri (MS) Bold" panose="020F0702030404030204"/>
                <a:sym typeface="Calibri (MS) Bold" panose="020F0702030404030204"/>
              </a:endParaRPr>
            </a:p>
          </p:txBody>
        </p:sp>
      </p:grpSp>
      <p:grpSp>
        <p:nvGrpSpPr>
          <p:cNvPr id="68" name="Group 68"/>
          <p:cNvGrpSpPr/>
          <p:nvPr/>
        </p:nvGrpSpPr>
        <p:grpSpPr>
          <a:xfrm rot="0">
            <a:off x="810263" y="5985767"/>
            <a:ext cx="5328923" cy="3372107"/>
            <a:chOff x="0" y="0"/>
            <a:chExt cx="7105231" cy="4496143"/>
          </a:xfrm>
        </p:grpSpPr>
        <p:sp>
          <p:nvSpPr>
            <p:cNvPr id="69" name="Freeform 69"/>
            <p:cNvSpPr/>
            <p:nvPr/>
          </p:nvSpPr>
          <p:spPr>
            <a:xfrm>
              <a:off x="16891" y="16891"/>
              <a:ext cx="7071360" cy="4462272"/>
            </a:xfrm>
            <a:custGeom>
              <a:avLst/>
              <a:gdLst/>
              <a:ahLst/>
              <a:cxnLst/>
              <a:rect l="l" t="t" r="r" b="b"/>
              <a:pathLst>
                <a:path w="7071360" h="4462272">
                  <a:moveTo>
                    <a:pt x="0" y="0"/>
                  </a:moveTo>
                  <a:lnTo>
                    <a:pt x="7071360" y="0"/>
                  </a:lnTo>
                  <a:lnTo>
                    <a:pt x="7071360" y="4462272"/>
                  </a:lnTo>
                  <a:lnTo>
                    <a:pt x="0" y="4462272"/>
                  </a:lnTo>
                  <a:close/>
                </a:path>
              </a:pathLst>
            </a:custGeom>
            <a:solidFill>
              <a:srgbClr val="141C2E"/>
            </a:solidFill>
          </p:spPr>
        </p:sp>
        <p:sp>
          <p:nvSpPr>
            <p:cNvPr id="70" name="Freeform 70"/>
            <p:cNvSpPr/>
            <p:nvPr/>
          </p:nvSpPr>
          <p:spPr>
            <a:xfrm>
              <a:off x="0" y="0"/>
              <a:ext cx="7105142" cy="4496054"/>
            </a:xfrm>
            <a:custGeom>
              <a:avLst/>
              <a:gdLst/>
              <a:ahLst/>
              <a:cxnLst/>
              <a:rect l="l" t="t" r="r" b="b"/>
              <a:pathLst>
                <a:path w="7105142" h="4496054">
                  <a:moveTo>
                    <a:pt x="16891" y="0"/>
                  </a:moveTo>
                  <a:lnTo>
                    <a:pt x="7088251" y="0"/>
                  </a:lnTo>
                  <a:cubicBezTo>
                    <a:pt x="7097649" y="0"/>
                    <a:pt x="7105142" y="7620"/>
                    <a:pt x="7105142" y="16891"/>
                  </a:cubicBezTo>
                  <a:lnTo>
                    <a:pt x="7105142" y="4479163"/>
                  </a:lnTo>
                  <a:cubicBezTo>
                    <a:pt x="7105142" y="4488561"/>
                    <a:pt x="7097522" y="4496054"/>
                    <a:pt x="7088251" y="4496054"/>
                  </a:cubicBezTo>
                  <a:lnTo>
                    <a:pt x="16891" y="4496054"/>
                  </a:lnTo>
                  <a:cubicBezTo>
                    <a:pt x="7493" y="4496054"/>
                    <a:pt x="0" y="4488434"/>
                    <a:pt x="0" y="447916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479163"/>
                  </a:lnTo>
                  <a:lnTo>
                    <a:pt x="16891" y="4479163"/>
                  </a:lnTo>
                  <a:lnTo>
                    <a:pt x="16891" y="4462272"/>
                  </a:lnTo>
                  <a:lnTo>
                    <a:pt x="7088251" y="4462272"/>
                  </a:lnTo>
                  <a:lnTo>
                    <a:pt x="7088251" y="4479163"/>
                  </a:lnTo>
                  <a:lnTo>
                    <a:pt x="7071360" y="4479163"/>
                  </a:lnTo>
                  <a:lnTo>
                    <a:pt x="7071360" y="16891"/>
                  </a:lnTo>
                  <a:lnTo>
                    <a:pt x="7088251" y="16891"/>
                  </a:lnTo>
                  <a:lnTo>
                    <a:pt x="70882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E2D45"/>
            </a:solidFill>
          </p:spPr>
        </p:sp>
      </p:grpSp>
      <p:grpSp>
        <p:nvGrpSpPr>
          <p:cNvPr id="71" name="Group 71"/>
          <p:cNvGrpSpPr/>
          <p:nvPr/>
        </p:nvGrpSpPr>
        <p:grpSpPr>
          <a:xfrm rot="0">
            <a:off x="1084583" y="6260087"/>
            <a:ext cx="793499" cy="793499"/>
            <a:chOff x="0" y="0"/>
            <a:chExt cx="1057999" cy="1057999"/>
          </a:xfrm>
        </p:grpSpPr>
        <p:sp>
          <p:nvSpPr>
            <p:cNvPr id="72" name="Freeform 72"/>
            <p:cNvSpPr/>
            <p:nvPr/>
          </p:nvSpPr>
          <p:spPr>
            <a:xfrm>
              <a:off x="16891" y="16891"/>
              <a:ext cx="1024128" cy="1024128"/>
            </a:xfrm>
            <a:custGeom>
              <a:avLst/>
              <a:gdLst/>
              <a:ahLst/>
              <a:cxnLst/>
              <a:rect l="l" t="t" r="r" b="b"/>
              <a:pathLst>
                <a:path w="1024128" h="1024128">
                  <a:moveTo>
                    <a:pt x="0" y="512064"/>
                  </a:moveTo>
                  <a:cubicBezTo>
                    <a:pt x="0" y="229235"/>
                    <a:pt x="229235" y="0"/>
                    <a:pt x="512064" y="0"/>
                  </a:cubicBezTo>
                  <a:cubicBezTo>
                    <a:pt x="794893" y="0"/>
                    <a:pt x="1024128" y="229362"/>
                    <a:pt x="1024128" y="512064"/>
                  </a:cubicBezTo>
                  <a:cubicBezTo>
                    <a:pt x="1024128" y="794766"/>
                    <a:pt x="794893" y="1024128"/>
                    <a:pt x="512064" y="1024128"/>
                  </a:cubicBezTo>
                  <a:cubicBezTo>
                    <a:pt x="229235" y="1024128"/>
                    <a:pt x="0" y="794893"/>
                    <a:pt x="0" y="512064"/>
                  </a:cubicBezTo>
                  <a:close/>
                </a:path>
              </a:pathLst>
            </a:custGeom>
            <a:solidFill>
              <a:srgbClr val="38BDF8"/>
            </a:solidFill>
          </p:spPr>
        </p:sp>
        <p:sp>
          <p:nvSpPr>
            <p:cNvPr id="73" name="Freeform 73"/>
            <p:cNvSpPr/>
            <p:nvPr/>
          </p:nvSpPr>
          <p:spPr>
            <a:xfrm>
              <a:off x="0" y="0"/>
              <a:ext cx="1057910" cy="1057910"/>
            </a:xfrm>
            <a:custGeom>
              <a:avLst/>
              <a:gdLst/>
              <a:ahLst/>
              <a:cxnLst/>
              <a:rect l="l" t="t" r="r" b="b"/>
              <a:pathLst>
                <a:path w="1057910" h="1057910">
                  <a:moveTo>
                    <a:pt x="0" y="528955"/>
                  </a:moveTo>
                  <a:cubicBezTo>
                    <a:pt x="0" y="236855"/>
                    <a:pt x="236855" y="0"/>
                    <a:pt x="528955" y="0"/>
                  </a:cubicBezTo>
                  <a:lnTo>
                    <a:pt x="528955" y="16891"/>
                  </a:lnTo>
                  <a:lnTo>
                    <a:pt x="528955" y="0"/>
                  </a:lnTo>
                  <a:cubicBezTo>
                    <a:pt x="821055" y="0"/>
                    <a:pt x="1057910" y="236855"/>
                    <a:pt x="1057910" y="528955"/>
                  </a:cubicBezTo>
                  <a:lnTo>
                    <a:pt x="1041019" y="528955"/>
                  </a:lnTo>
                  <a:lnTo>
                    <a:pt x="1057910" y="528955"/>
                  </a:lnTo>
                  <a:cubicBezTo>
                    <a:pt x="1057910" y="821055"/>
                    <a:pt x="821055" y="1057910"/>
                    <a:pt x="528955" y="1057910"/>
                  </a:cubicBezTo>
                  <a:lnTo>
                    <a:pt x="528955" y="1041019"/>
                  </a:lnTo>
                  <a:lnTo>
                    <a:pt x="528955" y="1057910"/>
                  </a:lnTo>
                  <a:cubicBezTo>
                    <a:pt x="236855" y="1058037"/>
                    <a:pt x="0" y="821182"/>
                    <a:pt x="0" y="528955"/>
                  </a:cubicBezTo>
                  <a:lnTo>
                    <a:pt x="16891" y="528955"/>
                  </a:lnTo>
                  <a:lnTo>
                    <a:pt x="33909" y="528955"/>
                  </a:lnTo>
                  <a:lnTo>
                    <a:pt x="16891" y="528955"/>
                  </a:lnTo>
                  <a:lnTo>
                    <a:pt x="0" y="528955"/>
                  </a:lnTo>
                  <a:moveTo>
                    <a:pt x="33909" y="528955"/>
                  </a:moveTo>
                  <a:cubicBezTo>
                    <a:pt x="33909" y="538353"/>
                    <a:pt x="26289" y="545846"/>
                    <a:pt x="17018" y="545846"/>
                  </a:cubicBezTo>
                  <a:cubicBezTo>
                    <a:pt x="7747" y="545846"/>
                    <a:pt x="0" y="538353"/>
                    <a:pt x="0" y="528955"/>
                  </a:cubicBezTo>
                  <a:cubicBezTo>
                    <a:pt x="0" y="519557"/>
                    <a:pt x="7620" y="512064"/>
                    <a:pt x="16891" y="512064"/>
                  </a:cubicBezTo>
                  <a:cubicBezTo>
                    <a:pt x="26162" y="512064"/>
                    <a:pt x="33782" y="519684"/>
                    <a:pt x="33782" y="528955"/>
                  </a:cubicBezTo>
                  <a:cubicBezTo>
                    <a:pt x="33782" y="802386"/>
                    <a:pt x="255397" y="1024128"/>
                    <a:pt x="528955" y="1024128"/>
                  </a:cubicBezTo>
                  <a:cubicBezTo>
                    <a:pt x="802386" y="1024128"/>
                    <a:pt x="1024128" y="802513"/>
                    <a:pt x="1024128" y="528955"/>
                  </a:cubicBezTo>
                  <a:cubicBezTo>
                    <a:pt x="1024128" y="255524"/>
                    <a:pt x="802513" y="33782"/>
                    <a:pt x="528955" y="33782"/>
                  </a:cubicBezTo>
                  <a:lnTo>
                    <a:pt x="528955" y="16891"/>
                  </a:lnTo>
                  <a:lnTo>
                    <a:pt x="528955" y="33909"/>
                  </a:lnTo>
                  <a:cubicBezTo>
                    <a:pt x="255524" y="33909"/>
                    <a:pt x="33909" y="255524"/>
                    <a:pt x="33909" y="528955"/>
                  </a:cubicBezTo>
                  <a:close/>
                </a:path>
              </a:pathLst>
            </a:custGeom>
            <a:solidFill>
              <a:srgbClr val="38BDF8"/>
            </a:solidFill>
          </p:spPr>
        </p:sp>
      </p:grpSp>
      <p:grpSp>
        <p:nvGrpSpPr>
          <p:cNvPr id="74" name="Group 74"/>
          <p:cNvGrpSpPr/>
          <p:nvPr/>
        </p:nvGrpSpPr>
        <p:grpSpPr>
          <a:xfrm rot="0">
            <a:off x="1097280" y="6272784"/>
            <a:ext cx="768096" cy="768096"/>
            <a:chOff x="0" y="0"/>
            <a:chExt cx="1024128" cy="1024128"/>
          </a:xfrm>
        </p:grpSpPr>
        <p:sp>
          <p:nvSpPr>
            <p:cNvPr id="75" name="Freeform 75"/>
            <p:cNvSpPr/>
            <p:nvPr/>
          </p:nvSpPr>
          <p:spPr>
            <a:xfrm>
              <a:off x="0" y="0"/>
              <a:ext cx="1024128" cy="1024128"/>
            </a:xfrm>
            <a:custGeom>
              <a:avLst/>
              <a:gdLst/>
              <a:ahLst/>
              <a:cxnLst/>
              <a:rect l="l" t="t" r="r" b="b"/>
              <a:pathLst>
                <a:path w="1024128" h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1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76" name="TextBox 76"/>
            <p:cNvSpPr txBox="1"/>
            <p:nvPr/>
          </p:nvSpPr>
          <p:spPr>
            <a:xfrm>
              <a:off x="0" y="-38100"/>
              <a:ext cx="1024128" cy="106222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400"/>
                </a:lnSpc>
              </a:pPr>
              <a:r>
                <a:rPr lang="en-US" sz="2000" b="1">
                  <a:solidFill>
                    <a:srgbClr val="0B0F1A"/>
                  </a:solidFill>
                  <a:latin typeface="Calibri (MS) Bold" panose="020F0702030404030204"/>
                  <a:ea typeface="Calibri (MS) Bold" panose="020F0702030404030204"/>
                  <a:cs typeface="Calibri (MS) Bold" panose="020F0702030404030204"/>
                  <a:sym typeface="Calibri (MS) Bold" panose="020F0702030404030204"/>
                </a:rPr>
                <a:t>04</a:t>
              </a:r>
              <a:endParaRPr lang="en-US" sz="2000" b="1">
                <a:solidFill>
                  <a:srgbClr val="0B0F1A"/>
                </a:solidFill>
                <a:latin typeface="Calibri (MS) Bold" panose="020F0702030404030204"/>
                <a:ea typeface="Calibri (MS) Bold" panose="020F0702030404030204"/>
                <a:cs typeface="Calibri (MS) Bold" panose="020F0702030404030204"/>
                <a:sym typeface="Calibri (MS) Bold" panose="020F0702030404030204"/>
              </a:endParaRPr>
            </a:p>
          </p:txBody>
        </p:sp>
      </p:grpSp>
      <p:grpSp>
        <p:nvGrpSpPr>
          <p:cNvPr id="77" name="Group 77"/>
          <p:cNvGrpSpPr/>
          <p:nvPr/>
        </p:nvGrpSpPr>
        <p:grpSpPr>
          <a:xfrm rot="0">
            <a:off x="2011680" y="6291072"/>
            <a:ext cx="3840480" cy="658368"/>
            <a:chOff x="0" y="0"/>
            <a:chExt cx="5120640" cy="877824"/>
          </a:xfrm>
        </p:grpSpPr>
        <p:sp>
          <p:nvSpPr>
            <p:cNvPr id="78" name="Freeform 78"/>
            <p:cNvSpPr/>
            <p:nvPr/>
          </p:nvSpPr>
          <p:spPr>
            <a:xfrm>
              <a:off x="0" y="0"/>
              <a:ext cx="5120640" cy="877824"/>
            </a:xfrm>
            <a:custGeom>
              <a:avLst/>
              <a:gdLst/>
              <a:ahLst/>
              <a:cxnLst/>
              <a:rect l="l" t="t" r="r" b="b"/>
              <a:pathLst>
                <a:path w="5120640" h="877824">
                  <a:moveTo>
                    <a:pt x="0" y="0"/>
                  </a:moveTo>
                  <a:lnTo>
                    <a:pt x="5120640" y="0"/>
                  </a:lnTo>
                  <a:lnTo>
                    <a:pt x="512064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1">
                <a:alphaModFix amt="0"/>
              </a:blip>
              <a:stretch>
                <a:fillRect t="-63662" b="-63662"/>
              </a:stretch>
            </a:blipFill>
          </p:spPr>
        </p:sp>
        <p:sp>
          <p:nvSpPr>
            <p:cNvPr id="79" name="TextBox 79"/>
            <p:cNvSpPr txBox="1"/>
            <p:nvPr/>
          </p:nvSpPr>
          <p:spPr>
            <a:xfrm>
              <a:off x="0" y="-38100"/>
              <a:ext cx="5120640" cy="91592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80"/>
                </a:lnSpc>
              </a:pPr>
              <a:r>
                <a:rPr lang="en-US" sz="2400" b="1">
                  <a:solidFill>
                    <a:srgbClr val="E2E8F0"/>
                  </a:solidFill>
                  <a:latin typeface="Calibri (MS) Bold" panose="020F0702030404030204"/>
                  <a:ea typeface="Calibri (MS) Bold" panose="020F0702030404030204"/>
                  <a:cs typeface="Calibri (MS) Bold" panose="020F0702030404030204"/>
                  <a:sym typeface="Calibri (MS) Bold" panose="020F0702030404030204"/>
                </a:rPr>
                <a:t>Align with S1 &amp; S2</a:t>
              </a:r>
              <a:endParaRPr lang="en-US" sz="2400" b="1">
                <a:solidFill>
                  <a:srgbClr val="E2E8F0"/>
                </a:solidFill>
                <a:latin typeface="Calibri (MS) Bold" panose="020F0702030404030204"/>
                <a:ea typeface="Calibri (MS) Bold" panose="020F0702030404030204"/>
                <a:cs typeface="Calibri (MS) Bold" panose="020F0702030404030204"/>
                <a:sym typeface="Calibri (MS) Bold" panose="020F0702030404030204"/>
              </a:endParaRPr>
            </a:p>
          </p:txBody>
        </p:sp>
      </p:grpSp>
      <p:grpSp>
        <p:nvGrpSpPr>
          <p:cNvPr id="80" name="Group 80"/>
          <p:cNvGrpSpPr/>
          <p:nvPr/>
        </p:nvGrpSpPr>
        <p:grpSpPr>
          <a:xfrm rot="0">
            <a:off x="1097280" y="7141464"/>
            <a:ext cx="4846320" cy="1243584"/>
            <a:chOff x="0" y="0"/>
            <a:chExt cx="6461760" cy="1658112"/>
          </a:xfrm>
        </p:grpSpPr>
        <p:sp>
          <p:nvSpPr>
            <p:cNvPr id="81" name="Freeform 81"/>
            <p:cNvSpPr/>
            <p:nvPr/>
          </p:nvSpPr>
          <p:spPr>
            <a:xfrm>
              <a:off x="0" y="0"/>
              <a:ext cx="6461760" cy="1658112"/>
            </a:xfrm>
            <a:custGeom>
              <a:avLst/>
              <a:gdLst/>
              <a:ahLst/>
              <a:cxnLst/>
              <a:rect l="l" t="t" r="r" b="b"/>
              <a:pathLst>
                <a:path w="6461760" h="1658112">
                  <a:moveTo>
                    <a:pt x="0" y="0"/>
                  </a:moveTo>
                  <a:lnTo>
                    <a:pt x="6461760" y="0"/>
                  </a:lnTo>
                  <a:lnTo>
                    <a:pt x="6461760" y="1658112"/>
                  </a:lnTo>
                  <a:lnTo>
                    <a:pt x="0" y="1658112"/>
                  </a:lnTo>
                  <a:close/>
                </a:path>
              </a:pathLst>
            </a:custGeom>
            <a:blipFill>
              <a:blip r:embed="rId1">
                <a:alphaModFix amt="0"/>
              </a:blip>
              <a:stretch>
                <a:fillRect t="-25934" b="-25934"/>
              </a:stretch>
            </a:blipFill>
          </p:spPr>
        </p:sp>
        <p:sp>
          <p:nvSpPr>
            <p:cNvPr id="82" name="TextBox 82"/>
            <p:cNvSpPr txBox="1"/>
            <p:nvPr/>
          </p:nvSpPr>
          <p:spPr>
            <a:xfrm>
              <a:off x="0" y="-38100"/>
              <a:ext cx="6461760" cy="169621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94A3B8"/>
                  </a:solidFill>
                  <a:latin typeface="Calibri (MS)" panose="020F0502020204030204"/>
                  <a:ea typeface="Calibri (MS)" panose="020F0502020204030204"/>
                  <a:cs typeface="Calibri (MS)" panose="020F0502020204030204"/>
                  <a:sym typeface="Calibri (MS)" panose="020F0502020204030204"/>
                </a:rPr>
                <a:t>Discuss and confirm interface usage for sensor data flow</a:t>
              </a:r>
              <a:endParaRPr lang="en-US" sz="2000">
                <a:solidFill>
                  <a:srgbClr val="94A3B8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endParaRPr>
            </a:p>
          </p:txBody>
        </p:sp>
      </p:grpSp>
      <p:grpSp>
        <p:nvGrpSpPr>
          <p:cNvPr id="83" name="Group 83"/>
          <p:cNvGrpSpPr/>
          <p:nvPr/>
        </p:nvGrpSpPr>
        <p:grpSpPr>
          <a:xfrm rot="0">
            <a:off x="1084583" y="8509511"/>
            <a:ext cx="2037083" cy="464315"/>
            <a:chOff x="0" y="0"/>
            <a:chExt cx="2716111" cy="619087"/>
          </a:xfrm>
        </p:grpSpPr>
        <p:sp>
          <p:nvSpPr>
            <p:cNvPr id="84" name="Freeform 84"/>
            <p:cNvSpPr/>
            <p:nvPr/>
          </p:nvSpPr>
          <p:spPr>
            <a:xfrm>
              <a:off x="16891" y="16891"/>
              <a:ext cx="2682240" cy="585216"/>
            </a:xfrm>
            <a:custGeom>
              <a:avLst/>
              <a:gdLst/>
              <a:ahLst/>
              <a:cxnLst/>
              <a:rect l="l" t="t" r="r" b="b"/>
              <a:pathLst>
                <a:path w="2682240" h="585216">
                  <a:moveTo>
                    <a:pt x="0" y="0"/>
                  </a:moveTo>
                  <a:lnTo>
                    <a:pt x="2682240" y="0"/>
                  </a:lnTo>
                  <a:lnTo>
                    <a:pt x="2682240" y="585216"/>
                  </a:lnTo>
                  <a:lnTo>
                    <a:pt x="0" y="585216"/>
                  </a:lnTo>
                  <a:close/>
                </a:path>
              </a:pathLst>
            </a:custGeom>
            <a:solidFill>
              <a:srgbClr val="1A2236"/>
            </a:solidFill>
          </p:spPr>
        </p:sp>
        <p:sp>
          <p:nvSpPr>
            <p:cNvPr id="85" name="Freeform 85"/>
            <p:cNvSpPr/>
            <p:nvPr/>
          </p:nvSpPr>
          <p:spPr>
            <a:xfrm>
              <a:off x="0" y="0"/>
              <a:ext cx="2716022" cy="619000"/>
            </a:xfrm>
            <a:custGeom>
              <a:avLst/>
              <a:gdLst/>
              <a:ahLst/>
              <a:cxnLst/>
              <a:rect l="l" t="t" r="r" b="b"/>
              <a:pathLst>
                <a:path w="2716022" h="619000">
                  <a:moveTo>
                    <a:pt x="16891" y="0"/>
                  </a:moveTo>
                  <a:lnTo>
                    <a:pt x="2699131" y="0"/>
                  </a:lnTo>
                  <a:cubicBezTo>
                    <a:pt x="2708529" y="0"/>
                    <a:pt x="2716022" y="7620"/>
                    <a:pt x="2716022" y="16891"/>
                  </a:cubicBezTo>
                  <a:lnTo>
                    <a:pt x="2716022" y="602107"/>
                  </a:lnTo>
                  <a:cubicBezTo>
                    <a:pt x="2716022" y="611505"/>
                    <a:pt x="2708402" y="618998"/>
                    <a:pt x="2699131" y="618998"/>
                  </a:cubicBezTo>
                  <a:lnTo>
                    <a:pt x="16891" y="618998"/>
                  </a:lnTo>
                  <a:cubicBezTo>
                    <a:pt x="7620" y="619125"/>
                    <a:pt x="0" y="611505"/>
                    <a:pt x="0" y="60210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02107"/>
                  </a:lnTo>
                  <a:lnTo>
                    <a:pt x="16891" y="602107"/>
                  </a:lnTo>
                  <a:lnTo>
                    <a:pt x="16891" y="585216"/>
                  </a:lnTo>
                  <a:lnTo>
                    <a:pt x="2699131" y="585216"/>
                  </a:lnTo>
                  <a:lnTo>
                    <a:pt x="2699131" y="602107"/>
                  </a:lnTo>
                  <a:lnTo>
                    <a:pt x="2682240" y="602107"/>
                  </a:lnTo>
                  <a:lnTo>
                    <a:pt x="2682240" y="16891"/>
                  </a:lnTo>
                  <a:lnTo>
                    <a:pt x="2699131" y="16891"/>
                  </a:lnTo>
                  <a:lnTo>
                    <a:pt x="26991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E2D45"/>
            </a:solidFill>
          </p:spPr>
        </p:sp>
      </p:grpSp>
      <p:grpSp>
        <p:nvGrpSpPr>
          <p:cNvPr id="86" name="Group 86"/>
          <p:cNvGrpSpPr/>
          <p:nvPr/>
        </p:nvGrpSpPr>
        <p:grpSpPr>
          <a:xfrm rot="0">
            <a:off x="1097280" y="8522208"/>
            <a:ext cx="2011680" cy="438912"/>
            <a:chOff x="0" y="0"/>
            <a:chExt cx="2682240" cy="585216"/>
          </a:xfrm>
        </p:grpSpPr>
        <p:sp>
          <p:nvSpPr>
            <p:cNvPr id="87" name="Freeform 87"/>
            <p:cNvSpPr/>
            <p:nvPr/>
          </p:nvSpPr>
          <p:spPr>
            <a:xfrm>
              <a:off x="0" y="0"/>
              <a:ext cx="2682240" cy="585216"/>
            </a:xfrm>
            <a:custGeom>
              <a:avLst/>
              <a:gdLst/>
              <a:ahLst/>
              <a:cxnLst/>
              <a:rect l="l" t="t" r="r" b="b"/>
              <a:pathLst>
                <a:path w="2682240" h="585216">
                  <a:moveTo>
                    <a:pt x="0" y="0"/>
                  </a:moveTo>
                  <a:lnTo>
                    <a:pt x="2682240" y="0"/>
                  </a:lnTo>
                  <a:lnTo>
                    <a:pt x="268224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1">
                <a:alphaModFix amt="0"/>
              </a:blip>
              <a:stretch>
                <a:fillRect t="-39306" b="-39306"/>
              </a:stretch>
            </a:blipFill>
          </p:spPr>
        </p:sp>
        <p:sp>
          <p:nvSpPr>
            <p:cNvPr id="88" name="TextBox 88"/>
            <p:cNvSpPr txBox="1"/>
            <p:nvPr/>
          </p:nvSpPr>
          <p:spPr>
            <a:xfrm>
              <a:off x="0" y="-28575"/>
              <a:ext cx="2682240" cy="61379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680"/>
                </a:lnSpc>
              </a:pPr>
              <a:r>
                <a:rPr lang="en-US" sz="1400" b="1">
                  <a:solidFill>
                    <a:srgbClr val="34D399"/>
                  </a:solidFill>
                  <a:latin typeface="Calibri (MS) Bold" panose="020F0702030404030204"/>
                  <a:ea typeface="Calibri (MS) Bold" panose="020F0702030404030204"/>
                  <a:cs typeface="Calibri (MS) Bold" panose="020F0702030404030204"/>
                  <a:sym typeface="Calibri (MS) Bold" panose="020F0702030404030204"/>
                </a:rPr>
                <a:t>👤 Wang</a:t>
              </a:r>
              <a:endParaRPr lang="en-US" sz="1400" b="1">
                <a:solidFill>
                  <a:srgbClr val="34D399"/>
                </a:solidFill>
                <a:latin typeface="Calibri (MS) Bold" panose="020F0702030404030204"/>
                <a:ea typeface="Calibri (MS) Bold" panose="020F0702030404030204"/>
                <a:cs typeface="Calibri (MS) Bold" panose="020F0702030404030204"/>
                <a:sym typeface="Calibri (MS) Bold" panose="020F0702030404030204"/>
              </a:endParaRPr>
            </a:p>
          </p:txBody>
        </p:sp>
      </p:grpSp>
      <p:grpSp>
        <p:nvGrpSpPr>
          <p:cNvPr id="89" name="Group 89"/>
          <p:cNvGrpSpPr/>
          <p:nvPr/>
        </p:nvGrpSpPr>
        <p:grpSpPr>
          <a:xfrm rot="0">
            <a:off x="6442967" y="5985758"/>
            <a:ext cx="5328923" cy="3372098"/>
            <a:chOff x="0" y="0"/>
            <a:chExt cx="7105231" cy="4496130"/>
          </a:xfrm>
        </p:grpSpPr>
        <p:sp>
          <p:nvSpPr>
            <p:cNvPr id="90" name="Freeform 90"/>
            <p:cNvSpPr/>
            <p:nvPr/>
          </p:nvSpPr>
          <p:spPr>
            <a:xfrm>
              <a:off x="16891" y="16891"/>
              <a:ext cx="7071360" cy="4462272"/>
            </a:xfrm>
            <a:custGeom>
              <a:avLst/>
              <a:gdLst/>
              <a:ahLst/>
              <a:cxnLst/>
              <a:rect l="l" t="t" r="r" b="b"/>
              <a:pathLst>
                <a:path w="7071360" h="4462272">
                  <a:moveTo>
                    <a:pt x="0" y="0"/>
                  </a:moveTo>
                  <a:lnTo>
                    <a:pt x="7071360" y="0"/>
                  </a:lnTo>
                  <a:lnTo>
                    <a:pt x="7071360" y="4462272"/>
                  </a:lnTo>
                  <a:lnTo>
                    <a:pt x="0" y="4462272"/>
                  </a:lnTo>
                  <a:close/>
                </a:path>
              </a:pathLst>
            </a:custGeom>
            <a:solidFill>
              <a:srgbClr val="141C2E"/>
            </a:solidFill>
          </p:spPr>
        </p:sp>
        <p:sp>
          <p:nvSpPr>
            <p:cNvPr id="91" name="Freeform 91"/>
            <p:cNvSpPr/>
            <p:nvPr/>
          </p:nvSpPr>
          <p:spPr>
            <a:xfrm>
              <a:off x="0" y="0"/>
              <a:ext cx="7105142" cy="4496054"/>
            </a:xfrm>
            <a:custGeom>
              <a:avLst/>
              <a:gdLst/>
              <a:ahLst/>
              <a:cxnLst/>
              <a:rect l="l" t="t" r="r" b="b"/>
              <a:pathLst>
                <a:path w="7105142" h="4496054">
                  <a:moveTo>
                    <a:pt x="16891" y="0"/>
                  </a:moveTo>
                  <a:lnTo>
                    <a:pt x="7088251" y="0"/>
                  </a:lnTo>
                  <a:cubicBezTo>
                    <a:pt x="7097649" y="0"/>
                    <a:pt x="7105142" y="7620"/>
                    <a:pt x="7105142" y="16891"/>
                  </a:cubicBezTo>
                  <a:lnTo>
                    <a:pt x="7105142" y="4479163"/>
                  </a:lnTo>
                  <a:cubicBezTo>
                    <a:pt x="7105142" y="4488561"/>
                    <a:pt x="7097522" y="4496054"/>
                    <a:pt x="7088251" y="4496054"/>
                  </a:cubicBezTo>
                  <a:lnTo>
                    <a:pt x="16891" y="4496054"/>
                  </a:lnTo>
                  <a:cubicBezTo>
                    <a:pt x="7493" y="4496054"/>
                    <a:pt x="0" y="4488434"/>
                    <a:pt x="0" y="447916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479163"/>
                  </a:lnTo>
                  <a:lnTo>
                    <a:pt x="16891" y="4479163"/>
                  </a:lnTo>
                  <a:lnTo>
                    <a:pt x="16891" y="4462272"/>
                  </a:lnTo>
                  <a:lnTo>
                    <a:pt x="7088251" y="4462272"/>
                  </a:lnTo>
                  <a:lnTo>
                    <a:pt x="7088251" y="4479163"/>
                  </a:lnTo>
                  <a:lnTo>
                    <a:pt x="7071360" y="4479163"/>
                  </a:lnTo>
                  <a:lnTo>
                    <a:pt x="7071360" y="16891"/>
                  </a:lnTo>
                  <a:lnTo>
                    <a:pt x="7088251" y="16891"/>
                  </a:lnTo>
                  <a:lnTo>
                    <a:pt x="70882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E2D45"/>
            </a:solidFill>
          </p:spPr>
        </p:sp>
      </p:grpSp>
      <p:grpSp>
        <p:nvGrpSpPr>
          <p:cNvPr id="92" name="Group 92"/>
          <p:cNvGrpSpPr/>
          <p:nvPr/>
        </p:nvGrpSpPr>
        <p:grpSpPr>
          <a:xfrm rot="0">
            <a:off x="6717287" y="6260087"/>
            <a:ext cx="793499" cy="793499"/>
            <a:chOff x="0" y="0"/>
            <a:chExt cx="1057999" cy="1057999"/>
          </a:xfrm>
        </p:grpSpPr>
        <p:sp>
          <p:nvSpPr>
            <p:cNvPr id="93" name="Freeform 93"/>
            <p:cNvSpPr/>
            <p:nvPr/>
          </p:nvSpPr>
          <p:spPr>
            <a:xfrm>
              <a:off x="16891" y="16891"/>
              <a:ext cx="1024128" cy="1024128"/>
            </a:xfrm>
            <a:custGeom>
              <a:avLst/>
              <a:gdLst/>
              <a:ahLst/>
              <a:cxnLst/>
              <a:rect l="l" t="t" r="r" b="b"/>
              <a:pathLst>
                <a:path w="1024128" h="1024128">
                  <a:moveTo>
                    <a:pt x="0" y="512064"/>
                  </a:moveTo>
                  <a:cubicBezTo>
                    <a:pt x="0" y="229235"/>
                    <a:pt x="229235" y="0"/>
                    <a:pt x="512064" y="0"/>
                  </a:cubicBezTo>
                  <a:cubicBezTo>
                    <a:pt x="794893" y="0"/>
                    <a:pt x="1024128" y="229362"/>
                    <a:pt x="1024128" y="512064"/>
                  </a:cubicBezTo>
                  <a:cubicBezTo>
                    <a:pt x="1024128" y="794766"/>
                    <a:pt x="794893" y="1024128"/>
                    <a:pt x="512064" y="1024128"/>
                  </a:cubicBezTo>
                  <a:cubicBezTo>
                    <a:pt x="229235" y="1024128"/>
                    <a:pt x="0" y="794893"/>
                    <a:pt x="0" y="512064"/>
                  </a:cubicBezTo>
                  <a:close/>
                </a:path>
              </a:pathLst>
            </a:custGeom>
            <a:solidFill>
              <a:srgbClr val="38BDF8"/>
            </a:solidFill>
          </p:spPr>
        </p:sp>
        <p:sp>
          <p:nvSpPr>
            <p:cNvPr id="94" name="Freeform 94"/>
            <p:cNvSpPr/>
            <p:nvPr/>
          </p:nvSpPr>
          <p:spPr>
            <a:xfrm>
              <a:off x="0" y="0"/>
              <a:ext cx="1057910" cy="1057910"/>
            </a:xfrm>
            <a:custGeom>
              <a:avLst/>
              <a:gdLst/>
              <a:ahLst/>
              <a:cxnLst/>
              <a:rect l="l" t="t" r="r" b="b"/>
              <a:pathLst>
                <a:path w="1057910" h="1057910">
                  <a:moveTo>
                    <a:pt x="0" y="528955"/>
                  </a:moveTo>
                  <a:cubicBezTo>
                    <a:pt x="0" y="236855"/>
                    <a:pt x="236855" y="0"/>
                    <a:pt x="528955" y="0"/>
                  </a:cubicBezTo>
                  <a:lnTo>
                    <a:pt x="528955" y="16891"/>
                  </a:lnTo>
                  <a:lnTo>
                    <a:pt x="528955" y="0"/>
                  </a:lnTo>
                  <a:cubicBezTo>
                    <a:pt x="821055" y="0"/>
                    <a:pt x="1057910" y="236855"/>
                    <a:pt x="1057910" y="528955"/>
                  </a:cubicBezTo>
                  <a:lnTo>
                    <a:pt x="1041019" y="528955"/>
                  </a:lnTo>
                  <a:lnTo>
                    <a:pt x="1057910" y="528955"/>
                  </a:lnTo>
                  <a:cubicBezTo>
                    <a:pt x="1057910" y="821055"/>
                    <a:pt x="821055" y="1057910"/>
                    <a:pt x="528955" y="1057910"/>
                  </a:cubicBezTo>
                  <a:lnTo>
                    <a:pt x="528955" y="1041019"/>
                  </a:lnTo>
                  <a:lnTo>
                    <a:pt x="528955" y="1057910"/>
                  </a:lnTo>
                  <a:cubicBezTo>
                    <a:pt x="236855" y="1058037"/>
                    <a:pt x="0" y="821182"/>
                    <a:pt x="0" y="528955"/>
                  </a:cubicBezTo>
                  <a:lnTo>
                    <a:pt x="16891" y="528955"/>
                  </a:lnTo>
                  <a:lnTo>
                    <a:pt x="33909" y="528955"/>
                  </a:lnTo>
                  <a:lnTo>
                    <a:pt x="16891" y="528955"/>
                  </a:lnTo>
                  <a:lnTo>
                    <a:pt x="0" y="528955"/>
                  </a:lnTo>
                  <a:moveTo>
                    <a:pt x="33909" y="528955"/>
                  </a:moveTo>
                  <a:cubicBezTo>
                    <a:pt x="33909" y="538353"/>
                    <a:pt x="26289" y="545846"/>
                    <a:pt x="17018" y="545846"/>
                  </a:cubicBezTo>
                  <a:cubicBezTo>
                    <a:pt x="7747" y="545846"/>
                    <a:pt x="0" y="538353"/>
                    <a:pt x="0" y="528955"/>
                  </a:cubicBezTo>
                  <a:cubicBezTo>
                    <a:pt x="0" y="519557"/>
                    <a:pt x="7620" y="512064"/>
                    <a:pt x="16891" y="512064"/>
                  </a:cubicBezTo>
                  <a:cubicBezTo>
                    <a:pt x="26162" y="512064"/>
                    <a:pt x="33782" y="519684"/>
                    <a:pt x="33782" y="528955"/>
                  </a:cubicBezTo>
                  <a:cubicBezTo>
                    <a:pt x="33782" y="802386"/>
                    <a:pt x="255397" y="1024128"/>
                    <a:pt x="528955" y="1024128"/>
                  </a:cubicBezTo>
                  <a:cubicBezTo>
                    <a:pt x="802386" y="1024128"/>
                    <a:pt x="1024128" y="802513"/>
                    <a:pt x="1024128" y="528955"/>
                  </a:cubicBezTo>
                  <a:cubicBezTo>
                    <a:pt x="1024128" y="255524"/>
                    <a:pt x="802513" y="33782"/>
                    <a:pt x="528955" y="33782"/>
                  </a:cubicBezTo>
                  <a:lnTo>
                    <a:pt x="528955" y="16891"/>
                  </a:lnTo>
                  <a:lnTo>
                    <a:pt x="528955" y="33909"/>
                  </a:lnTo>
                  <a:cubicBezTo>
                    <a:pt x="255524" y="33909"/>
                    <a:pt x="33909" y="255524"/>
                    <a:pt x="33909" y="528955"/>
                  </a:cubicBezTo>
                  <a:close/>
                </a:path>
              </a:pathLst>
            </a:custGeom>
            <a:solidFill>
              <a:srgbClr val="38BDF8"/>
            </a:solidFill>
          </p:spPr>
        </p:sp>
      </p:grpSp>
      <p:grpSp>
        <p:nvGrpSpPr>
          <p:cNvPr id="95" name="Group 95"/>
          <p:cNvGrpSpPr/>
          <p:nvPr/>
        </p:nvGrpSpPr>
        <p:grpSpPr>
          <a:xfrm rot="0">
            <a:off x="6729984" y="6272784"/>
            <a:ext cx="768096" cy="768096"/>
            <a:chOff x="0" y="0"/>
            <a:chExt cx="1024128" cy="1024128"/>
          </a:xfrm>
        </p:grpSpPr>
        <p:sp>
          <p:nvSpPr>
            <p:cNvPr id="96" name="Freeform 96"/>
            <p:cNvSpPr/>
            <p:nvPr/>
          </p:nvSpPr>
          <p:spPr>
            <a:xfrm>
              <a:off x="0" y="0"/>
              <a:ext cx="1024128" cy="1024128"/>
            </a:xfrm>
            <a:custGeom>
              <a:avLst/>
              <a:gdLst/>
              <a:ahLst/>
              <a:cxnLst/>
              <a:rect l="l" t="t" r="r" b="b"/>
              <a:pathLst>
                <a:path w="1024128" h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1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97" name="TextBox 97"/>
            <p:cNvSpPr txBox="1"/>
            <p:nvPr/>
          </p:nvSpPr>
          <p:spPr>
            <a:xfrm>
              <a:off x="0" y="-38100"/>
              <a:ext cx="1024128" cy="106222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400"/>
                </a:lnSpc>
              </a:pPr>
              <a:r>
                <a:rPr lang="en-US" sz="2000" b="1">
                  <a:solidFill>
                    <a:srgbClr val="0B0F1A"/>
                  </a:solidFill>
                  <a:latin typeface="Calibri (MS) Bold" panose="020F0702030404030204"/>
                  <a:ea typeface="Calibri (MS) Bold" panose="020F0702030404030204"/>
                  <a:cs typeface="Calibri (MS) Bold" panose="020F0702030404030204"/>
                  <a:sym typeface="Calibri (MS) Bold" panose="020F0702030404030204"/>
                </a:rPr>
                <a:t>05</a:t>
              </a:r>
              <a:endParaRPr lang="en-US" sz="2000" b="1">
                <a:solidFill>
                  <a:srgbClr val="0B0F1A"/>
                </a:solidFill>
                <a:latin typeface="Calibri (MS) Bold" panose="020F0702030404030204"/>
                <a:ea typeface="Calibri (MS) Bold" panose="020F0702030404030204"/>
                <a:cs typeface="Calibri (MS) Bold" panose="020F0702030404030204"/>
                <a:sym typeface="Calibri (MS) Bold" panose="020F0702030404030204"/>
              </a:endParaRPr>
            </a:p>
          </p:txBody>
        </p:sp>
      </p:grpSp>
      <p:grpSp>
        <p:nvGrpSpPr>
          <p:cNvPr id="98" name="Group 98"/>
          <p:cNvGrpSpPr/>
          <p:nvPr/>
        </p:nvGrpSpPr>
        <p:grpSpPr>
          <a:xfrm rot="0">
            <a:off x="7644384" y="6291072"/>
            <a:ext cx="3840480" cy="658368"/>
            <a:chOff x="0" y="0"/>
            <a:chExt cx="5120640" cy="877824"/>
          </a:xfrm>
        </p:grpSpPr>
        <p:sp>
          <p:nvSpPr>
            <p:cNvPr id="99" name="Freeform 99"/>
            <p:cNvSpPr/>
            <p:nvPr/>
          </p:nvSpPr>
          <p:spPr>
            <a:xfrm>
              <a:off x="0" y="0"/>
              <a:ext cx="5120640" cy="877824"/>
            </a:xfrm>
            <a:custGeom>
              <a:avLst/>
              <a:gdLst/>
              <a:ahLst/>
              <a:cxnLst/>
              <a:rect l="l" t="t" r="r" b="b"/>
              <a:pathLst>
                <a:path w="5120640" h="877824">
                  <a:moveTo>
                    <a:pt x="0" y="0"/>
                  </a:moveTo>
                  <a:lnTo>
                    <a:pt x="5120640" y="0"/>
                  </a:lnTo>
                  <a:lnTo>
                    <a:pt x="512064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1">
                <a:alphaModFix amt="0"/>
              </a:blip>
              <a:stretch>
                <a:fillRect t="-63662" b="-63662"/>
              </a:stretch>
            </a:blipFill>
          </p:spPr>
        </p:sp>
        <p:sp>
          <p:nvSpPr>
            <p:cNvPr id="100" name="TextBox 100"/>
            <p:cNvSpPr txBox="1"/>
            <p:nvPr/>
          </p:nvSpPr>
          <p:spPr>
            <a:xfrm>
              <a:off x="0" y="-38100"/>
              <a:ext cx="5120640" cy="91592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80"/>
                </a:lnSpc>
              </a:pPr>
              <a:r>
                <a:rPr lang="en-US" sz="2400" b="1">
                  <a:solidFill>
                    <a:srgbClr val="E2E8F0"/>
                  </a:solidFill>
                  <a:latin typeface="Calibri (MS) Bold" panose="020F0702030404030204"/>
                  <a:ea typeface="Calibri (MS) Bold" panose="020F0702030404030204"/>
                  <a:cs typeface="Calibri (MS) Bold" panose="020F0702030404030204"/>
                  <a:sym typeface="Calibri (MS) Bold" panose="020F0702030404030204"/>
                </a:rPr>
                <a:t>Testing &amp; Bug Fixing</a:t>
              </a:r>
              <a:endParaRPr lang="en-US" sz="2400" b="1">
                <a:solidFill>
                  <a:srgbClr val="E2E8F0"/>
                </a:solidFill>
                <a:latin typeface="Calibri (MS) Bold" panose="020F0702030404030204"/>
                <a:ea typeface="Calibri (MS) Bold" panose="020F0702030404030204"/>
                <a:cs typeface="Calibri (MS) Bold" panose="020F0702030404030204"/>
                <a:sym typeface="Calibri (MS) Bold" panose="020F0702030404030204"/>
              </a:endParaRPr>
            </a:p>
          </p:txBody>
        </p:sp>
      </p:grpSp>
      <p:grpSp>
        <p:nvGrpSpPr>
          <p:cNvPr id="101" name="Group 101"/>
          <p:cNvGrpSpPr/>
          <p:nvPr/>
        </p:nvGrpSpPr>
        <p:grpSpPr>
          <a:xfrm rot="0">
            <a:off x="6729984" y="7162362"/>
            <a:ext cx="4846320" cy="1243584"/>
            <a:chOff x="0" y="0"/>
            <a:chExt cx="6461760" cy="1658112"/>
          </a:xfrm>
        </p:grpSpPr>
        <p:sp>
          <p:nvSpPr>
            <p:cNvPr id="102" name="Freeform 102"/>
            <p:cNvSpPr/>
            <p:nvPr/>
          </p:nvSpPr>
          <p:spPr>
            <a:xfrm>
              <a:off x="0" y="0"/>
              <a:ext cx="6461760" cy="1658112"/>
            </a:xfrm>
            <a:custGeom>
              <a:avLst/>
              <a:gdLst/>
              <a:ahLst/>
              <a:cxnLst/>
              <a:rect l="l" t="t" r="r" b="b"/>
              <a:pathLst>
                <a:path w="6461760" h="1658112">
                  <a:moveTo>
                    <a:pt x="0" y="0"/>
                  </a:moveTo>
                  <a:lnTo>
                    <a:pt x="6461760" y="0"/>
                  </a:lnTo>
                  <a:lnTo>
                    <a:pt x="6461760" y="1658112"/>
                  </a:lnTo>
                  <a:lnTo>
                    <a:pt x="0" y="1658112"/>
                  </a:lnTo>
                  <a:close/>
                </a:path>
              </a:pathLst>
            </a:custGeom>
            <a:blipFill>
              <a:blip r:embed="rId1">
                <a:alphaModFix amt="0"/>
              </a:blip>
              <a:stretch>
                <a:fillRect t="-25934" b="-25934"/>
              </a:stretch>
            </a:blipFill>
          </p:spPr>
        </p:sp>
        <p:sp>
          <p:nvSpPr>
            <p:cNvPr id="103" name="TextBox 103"/>
            <p:cNvSpPr txBox="1"/>
            <p:nvPr/>
          </p:nvSpPr>
          <p:spPr>
            <a:xfrm>
              <a:off x="0" y="-38100"/>
              <a:ext cx="6461760" cy="169621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94A3B8"/>
                  </a:solidFill>
                  <a:latin typeface="Calibri (MS)" panose="020F0502020204030204"/>
                  <a:ea typeface="Calibri (MS)" panose="020F0502020204030204"/>
                  <a:cs typeface="Calibri (MS)" panose="020F0502020204030204"/>
                  <a:sym typeface="Calibri (MS)" panose="020F0502020204030204"/>
                </a:rPr>
                <a:t>Test the full exercise flow, fix issues, improve UX</a:t>
              </a:r>
              <a:endParaRPr lang="en-US" sz="2000">
                <a:solidFill>
                  <a:srgbClr val="94A3B8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endParaRPr>
            </a:p>
          </p:txBody>
        </p:sp>
      </p:grpSp>
      <p:grpSp>
        <p:nvGrpSpPr>
          <p:cNvPr id="104" name="Group 104"/>
          <p:cNvGrpSpPr/>
          <p:nvPr/>
        </p:nvGrpSpPr>
        <p:grpSpPr>
          <a:xfrm rot="0">
            <a:off x="6717287" y="8509511"/>
            <a:ext cx="2037083" cy="464315"/>
            <a:chOff x="0" y="0"/>
            <a:chExt cx="2716111" cy="619087"/>
          </a:xfrm>
        </p:grpSpPr>
        <p:sp>
          <p:nvSpPr>
            <p:cNvPr id="105" name="Freeform 105"/>
            <p:cNvSpPr/>
            <p:nvPr/>
          </p:nvSpPr>
          <p:spPr>
            <a:xfrm>
              <a:off x="16891" y="16891"/>
              <a:ext cx="2682240" cy="585216"/>
            </a:xfrm>
            <a:custGeom>
              <a:avLst/>
              <a:gdLst/>
              <a:ahLst/>
              <a:cxnLst/>
              <a:rect l="l" t="t" r="r" b="b"/>
              <a:pathLst>
                <a:path w="2682240" h="585216">
                  <a:moveTo>
                    <a:pt x="0" y="0"/>
                  </a:moveTo>
                  <a:lnTo>
                    <a:pt x="2682240" y="0"/>
                  </a:lnTo>
                  <a:lnTo>
                    <a:pt x="2682240" y="585216"/>
                  </a:lnTo>
                  <a:lnTo>
                    <a:pt x="0" y="585216"/>
                  </a:lnTo>
                  <a:close/>
                </a:path>
              </a:pathLst>
            </a:custGeom>
            <a:solidFill>
              <a:srgbClr val="1A2236"/>
            </a:solidFill>
          </p:spPr>
        </p:sp>
        <p:sp>
          <p:nvSpPr>
            <p:cNvPr id="106" name="Freeform 106"/>
            <p:cNvSpPr/>
            <p:nvPr/>
          </p:nvSpPr>
          <p:spPr>
            <a:xfrm>
              <a:off x="0" y="0"/>
              <a:ext cx="2716022" cy="619000"/>
            </a:xfrm>
            <a:custGeom>
              <a:avLst/>
              <a:gdLst/>
              <a:ahLst/>
              <a:cxnLst/>
              <a:rect l="l" t="t" r="r" b="b"/>
              <a:pathLst>
                <a:path w="2716022" h="619000">
                  <a:moveTo>
                    <a:pt x="16891" y="0"/>
                  </a:moveTo>
                  <a:lnTo>
                    <a:pt x="2699131" y="0"/>
                  </a:lnTo>
                  <a:cubicBezTo>
                    <a:pt x="2708529" y="0"/>
                    <a:pt x="2716022" y="7620"/>
                    <a:pt x="2716022" y="16891"/>
                  </a:cubicBezTo>
                  <a:lnTo>
                    <a:pt x="2716022" y="602107"/>
                  </a:lnTo>
                  <a:cubicBezTo>
                    <a:pt x="2716022" y="611505"/>
                    <a:pt x="2708402" y="618998"/>
                    <a:pt x="2699131" y="618998"/>
                  </a:cubicBezTo>
                  <a:lnTo>
                    <a:pt x="16891" y="618998"/>
                  </a:lnTo>
                  <a:cubicBezTo>
                    <a:pt x="7620" y="619125"/>
                    <a:pt x="0" y="611505"/>
                    <a:pt x="0" y="60210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02107"/>
                  </a:lnTo>
                  <a:lnTo>
                    <a:pt x="16891" y="602107"/>
                  </a:lnTo>
                  <a:lnTo>
                    <a:pt x="16891" y="585216"/>
                  </a:lnTo>
                  <a:lnTo>
                    <a:pt x="2699131" y="585216"/>
                  </a:lnTo>
                  <a:lnTo>
                    <a:pt x="2699131" y="602107"/>
                  </a:lnTo>
                  <a:lnTo>
                    <a:pt x="2682240" y="602107"/>
                  </a:lnTo>
                  <a:lnTo>
                    <a:pt x="2682240" y="16891"/>
                  </a:lnTo>
                  <a:lnTo>
                    <a:pt x="2699131" y="16891"/>
                  </a:lnTo>
                  <a:lnTo>
                    <a:pt x="26991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E2D45"/>
            </a:solidFill>
          </p:spPr>
        </p:sp>
      </p:grpSp>
      <p:grpSp>
        <p:nvGrpSpPr>
          <p:cNvPr id="107" name="Group 107"/>
          <p:cNvGrpSpPr/>
          <p:nvPr/>
        </p:nvGrpSpPr>
        <p:grpSpPr>
          <a:xfrm rot="0">
            <a:off x="6729984" y="8522208"/>
            <a:ext cx="2011680" cy="438912"/>
            <a:chOff x="0" y="0"/>
            <a:chExt cx="2682240" cy="585216"/>
          </a:xfrm>
        </p:grpSpPr>
        <p:sp>
          <p:nvSpPr>
            <p:cNvPr id="108" name="Freeform 108"/>
            <p:cNvSpPr/>
            <p:nvPr/>
          </p:nvSpPr>
          <p:spPr>
            <a:xfrm>
              <a:off x="0" y="0"/>
              <a:ext cx="2682240" cy="585216"/>
            </a:xfrm>
            <a:custGeom>
              <a:avLst/>
              <a:gdLst/>
              <a:ahLst/>
              <a:cxnLst/>
              <a:rect l="l" t="t" r="r" b="b"/>
              <a:pathLst>
                <a:path w="2682240" h="585216">
                  <a:moveTo>
                    <a:pt x="0" y="0"/>
                  </a:moveTo>
                  <a:lnTo>
                    <a:pt x="2682240" y="0"/>
                  </a:lnTo>
                  <a:lnTo>
                    <a:pt x="268224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1">
                <a:alphaModFix amt="0"/>
              </a:blip>
              <a:stretch>
                <a:fillRect t="-39306" b="-39306"/>
              </a:stretch>
            </a:blipFill>
          </p:spPr>
        </p:sp>
        <p:sp>
          <p:nvSpPr>
            <p:cNvPr id="109" name="TextBox 109"/>
            <p:cNvSpPr txBox="1"/>
            <p:nvPr/>
          </p:nvSpPr>
          <p:spPr>
            <a:xfrm>
              <a:off x="0" y="-28575"/>
              <a:ext cx="2682240" cy="61379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680"/>
                </a:lnSpc>
              </a:pPr>
              <a:r>
                <a:rPr lang="en-US" sz="1400" b="1">
                  <a:solidFill>
                    <a:srgbClr val="34D399"/>
                  </a:solidFill>
                  <a:latin typeface="Calibri (MS) Bold" panose="020F0702030404030204"/>
                  <a:ea typeface="Calibri (MS) Bold" panose="020F0702030404030204"/>
                  <a:cs typeface="Calibri (MS) Bold" panose="020F0702030404030204"/>
                  <a:sym typeface="Calibri (MS) Bold" panose="020F0702030404030204"/>
                </a:rPr>
                <a:t>👤 Enhe</a:t>
              </a:r>
              <a:endParaRPr lang="en-US" sz="1400" b="1">
                <a:solidFill>
                  <a:srgbClr val="34D399"/>
                </a:solidFill>
                <a:latin typeface="Calibri (MS) Bold" panose="020F0702030404030204"/>
                <a:ea typeface="Calibri (MS) Bold" panose="020F0702030404030204"/>
                <a:cs typeface="Calibri (MS) Bold" panose="020F0702030404030204"/>
                <a:sym typeface="Calibri (MS) Bold" panose="020F0702030404030204"/>
              </a:endParaRPr>
            </a:p>
          </p:txBody>
        </p:sp>
      </p:grpSp>
      <p:grpSp>
        <p:nvGrpSpPr>
          <p:cNvPr id="110" name="Group 110"/>
          <p:cNvGrpSpPr/>
          <p:nvPr/>
        </p:nvGrpSpPr>
        <p:grpSpPr>
          <a:xfrm rot="0">
            <a:off x="12075671" y="5985767"/>
            <a:ext cx="5402075" cy="3372098"/>
            <a:chOff x="0" y="0"/>
            <a:chExt cx="7202767" cy="4496130"/>
          </a:xfrm>
        </p:grpSpPr>
        <p:sp>
          <p:nvSpPr>
            <p:cNvPr id="111" name="Freeform 111"/>
            <p:cNvSpPr/>
            <p:nvPr/>
          </p:nvSpPr>
          <p:spPr>
            <a:xfrm>
              <a:off x="16891" y="16891"/>
              <a:ext cx="7168896" cy="4462272"/>
            </a:xfrm>
            <a:custGeom>
              <a:avLst/>
              <a:gdLst/>
              <a:ahLst/>
              <a:cxnLst/>
              <a:rect l="l" t="t" r="r" b="b"/>
              <a:pathLst>
                <a:path w="7168896" h="4462272">
                  <a:moveTo>
                    <a:pt x="0" y="0"/>
                  </a:moveTo>
                  <a:lnTo>
                    <a:pt x="7168896" y="0"/>
                  </a:lnTo>
                  <a:lnTo>
                    <a:pt x="7168896" y="4462272"/>
                  </a:lnTo>
                  <a:lnTo>
                    <a:pt x="0" y="4462272"/>
                  </a:lnTo>
                  <a:close/>
                </a:path>
              </a:pathLst>
            </a:custGeom>
            <a:solidFill>
              <a:srgbClr val="141C2E"/>
            </a:solidFill>
          </p:spPr>
        </p:sp>
        <p:sp>
          <p:nvSpPr>
            <p:cNvPr id="112" name="Freeform 112"/>
            <p:cNvSpPr/>
            <p:nvPr/>
          </p:nvSpPr>
          <p:spPr>
            <a:xfrm>
              <a:off x="0" y="0"/>
              <a:ext cx="7202678" cy="4496054"/>
            </a:xfrm>
            <a:custGeom>
              <a:avLst/>
              <a:gdLst/>
              <a:ahLst/>
              <a:cxnLst/>
              <a:rect l="l" t="t" r="r" b="b"/>
              <a:pathLst>
                <a:path w="7202678" h="4496054">
                  <a:moveTo>
                    <a:pt x="16891" y="0"/>
                  </a:moveTo>
                  <a:lnTo>
                    <a:pt x="7185787" y="0"/>
                  </a:lnTo>
                  <a:cubicBezTo>
                    <a:pt x="7195185" y="0"/>
                    <a:pt x="7202678" y="7620"/>
                    <a:pt x="7202678" y="16891"/>
                  </a:cubicBezTo>
                  <a:lnTo>
                    <a:pt x="7202678" y="4479163"/>
                  </a:lnTo>
                  <a:cubicBezTo>
                    <a:pt x="7202678" y="4488561"/>
                    <a:pt x="7195058" y="4496054"/>
                    <a:pt x="7185787" y="4496054"/>
                  </a:cubicBezTo>
                  <a:lnTo>
                    <a:pt x="16891" y="4496054"/>
                  </a:lnTo>
                  <a:cubicBezTo>
                    <a:pt x="7493" y="4496054"/>
                    <a:pt x="0" y="4488434"/>
                    <a:pt x="0" y="447916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479163"/>
                  </a:lnTo>
                  <a:lnTo>
                    <a:pt x="16891" y="4479163"/>
                  </a:lnTo>
                  <a:lnTo>
                    <a:pt x="16891" y="4462272"/>
                  </a:lnTo>
                  <a:lnTo>
                    <a:pt x="7185787" y="4462272"/>
                  </a:lnTo>
                  <a:lnTo>
                    <a:pt x="7185787" y="4479163"/>
                  </a:lnTo>
                  <a:lnTo>
                    <a:pt x="7168896" y="4479163"/>
                  </a:lnTo>
                  <a:lnTo>
                    <a:pt x="7168896" y="16891"/>
                  </a:lnTo>
                  <a:lnTo>
                    <a:pt x="7185787" y="16891"/>
                  </a:lnTo>
                  <a:lnTo>
                    <a:pt x="7185787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E2D45"/>
            </a:solidFill>
          </p:spPr>
        </p:sp>
      </p:grpSp>
      <p:grpSp>
        <p:nvGrpSpPr>
          <p:cNvPr id="113" name="Group 113"/>
          <p:cNvGrpSpPr/>
          <p:nvPr/>
        </p:nvGrpSpPr>
        <p:grpSpPr>
          <a:xfrm rot="0">
            <a:off x="12349991" y="6260087"/>
            <a:ext cx="793499" cy="793499"/>
            <a:chOff x="0" y="0"/>
            <a:chExt cx="1057999" cy="1057999"/>
          </a:xfrm>
        </p:grpSpPr>
        <p:sp>
          <p:nvSpPr>
            <p:cNvPr id="114" name="Freeform 114"/>
            <p:cNvSpPr/>
            <p:nvPr/>
          </p:nvSpPr>
          <p:spPr>
            <a:xfrm>
              <a:off x="16891" y="16891"/>
              <a:ext cx="1024128" cy="1024128"/>
            </a:xfrm>
            <a:custGeom>
              <a:avLst/>
              <a:gdLst/>
              <a:ahLst/>
              <a:cxnLst/>
              <a:rect l="l" t="t" r="r" b="b"/>
              <a:pathLst>
                <a:path w="1024128" h="1024128">
                  <a:moveTo>
                    <a:pt x="0" y="512064"/>
                  </a:moveTo>
                  <a:cubicBezTo>
                    <a:pt x="0" y="229235"/>
                    <a:pt x="229235" y="0"/>
                    <a:pt x="512064" y="0"/>
                  </a:cubicBezTo>
                  <a:cubicBezTo>
                    <a:pt x="794893" y="0"/>
                    <a:pt x="1024128" y="229362"/>
                    <a:pt x="1024128" y="512064"/>
                  </a:cubicBezTo>
                  <a:cubicBezTo>
                    <a:pt x="1024128" y="794766"/>
                    <a:pt x="794893" y="1024128"/>
                    <a:pt x="512064" y="1024128"/>
                  </a:cubicBezTo>
                  <a:cubicBezTo>
                    <a:pt x="229235" y="1024128"/>
                    <a:pt x="0" y="794893"/>
                    <a:pt x="0" y="512064"/>
                  </a:cubicBezTo>
                  <a:close/>
                </a:path>
              </a:pathLst>
            </a:custGeom>
            <a:solidFill>
              <a:srgbClr val="38BDF8"/>
            </a:solidFill>
          </p:spPr>
        </p:sp>
        <p:sp>
          <p:nvSpPr>
            <p:cNvPr id="115" name="Freeform 115"/>
            <p:cNvSpPr/>
            <p:nvPr/>
          </p:nvSpPr>
          <p:spPr>
            <a:xfrm>
              <a:off x="0" y="0"/>
              <a:ext cx="1057910" cy="1057910"/>
            </a:xfrm>
            <a:custGeom>
              <a:avLst/>
              <a:gdLst/>
              <a:ahLst/>
              <a:cxnLst/>
              <a:rect l="l" t="t" r="r" b="b"/>
              <a:pathLst>
                <a:path w="1057910" h="1057910">
                  <a:moveTo>
                    <a:pt x="0" y="528955"/>
                  </a:moveTo>
                  <a:cubicBezTo>
                    <a:pt x="0" y="236855"/>
                    <a:pt x="236855" y="0"/>
                    <a:pt x="528955" y="0"/>
                  </a:cubicBezTo>
                  <a:lnTo>
                    <a:pt x="528955" y="16891"/>
                  </a:lnTo>
                  <a:lnTo>
                    <a:pt x="528955" y="0"/>
                  </a:lnTo>
                  <a:cubicBezTo>
                    <a:pt x="821055" y="0"/>
                    <a:pt x="1057910" y="236855"/>
                    <a:pt x="1057910" y="528955"/>
                  </a:cubicBezTo>
                  <a:lnTo>
                    <a:pt x="1041019" y="528955"/>
                  </a:lnTo>
                  <a:lnTo>
                    <a:pt x="1057910" y="528955"/>
                  </a:lnTo>
                  <a:cubicBezTo>
                    <a:pt x="1057910" y="821055"/>
                    <a:pt x="821055" y="1057910"/>
                    <a:pt x="528955" y="1057910"/>
                  </a:cubicBezTo>
                  <a:lnTo>
                    <a:pt x="528955" y="1041019"/>
                  </a:lnTo>
                  <a:lnTo>
                    <a:pt x="528955" y="1057910"/>
                  </a:lnTo>
                  <a:cubicBezTo>
                    <a:pt x="236855" y="1058037"/>
                    <a:pt x="0" y="821182"/>
                    <a:pt x="0" y="528955"/>
                  </a:cubicBezTo>
                  <a:lnTo>
                    <a:pt x="16891" y="528955"/>
                  </a:lnTo>
                  <a:lnTo>
                    <a:pt x="33909" y="528955"/>
                  </a:lnTo>
                  <a:lnTo>
                    <a:pt x="16891" y="528955"/>
                  </a:lnTo>
                  <a:lnTo>
                    <a:pt x="0" y="528955"/>
                  </a:lnTo>
                  <a:moveTo>
                    <a:pt x="33909" y="528955"/>
                  </a:moveTo>
                  <a:cubicBezTo>
                    <a:pt x="33909" y="538353"/>
                    <a:pt x="26289" y="545846"/>
                    <a:pt x="17018" y="545846"/>
                  </a:cubicBezTo>
                  <a:cubicBezTo>
                    <a:pt x="7747" y="545846"/>
                    <a:pt x="0" y="538353"/>
                    <a:pt x="0" y="528955"/>
                  </a:cubicBezTo>
                  <a:cubicBezTo>
                    <a:pt x="0" y="519557"/>
                    <a:pt x="7620" y="512064"/>
                    <a:pt x="16891" y="512064"/>
                  </a:cubicBezTo>
                  <a:cubicBezTo>
                    <a:pt x="26162" y="512064"/>
                    <a:pt x="33782" y="519684"/>
                    <a:pt x="33782" y="528955"/>
                  </a:cubicBezTo>
                  <a:cubicBezTo>
                    <a:pt x="33782" y="802386"/>
                    <a:pt x="255397" y="1024128"/>
                    <a:pt x="528955" y="1024128"/>
                  </a:cubicBezTo>
                  <a:cubicBezTo>
                    <a:pt x="802386" y="1024128"/>
                    <a:pt x="1024128" y="802513"/>
                    <a:pt x="1024128" y="528955"/>
                  </a:cubicBezTo>
                  <a:cubicBezTo>
                    <a:pt x="1024128" y="255524"/>
                    <a:pt x="802513" y="33782"/>
                    <a:pt x="528955" y="33782"/>
                  </a:cubicBezTo>
                  <a:lnTo>
                    <a:pt x="528955" y="16891"/>
                  </a:lnTo>
                  <a:lnTo>
                    <a:pt x="528955" y="33909"/>
                  </a:lnTo>
                  <a:cubicBezTo>
                    <a:pt x="255524" y="33909"/>
                    <a:pt x="33909" y="255524"/>
                    <a:pt x="33909" y="528955"/>
                  </a:cubicBezTo>
                  <a:close/>
                </a:path>
              </a:pathLst>
            </a:custGeom>
            <a:solidFill>
              <a:srgbClr val="38BDF8"/>
            </a:solidFill>
          </p:spPr>
        </p:sp>
      </p:grpSp>
      <p:grpSp>
        <p:nvGrpSpPr>
          <p:cNvPr id="116" name="Group 116"/>
          <p:cNvGrpSpPr/>
          <p:nvPr/>
        </p:nvGrpSpPr>
        <p:grpSpPr>
          <a:xfrm rot="0">
            <a:off x="12362688" y="6272784"/>
            <a:ext cx="768096" cy="768096"/>
            <a:chOff x="0" y="0"/>
            <a:chExt cx="1024128" cy="1024128"/>
          </a:xfrm>
        </p:grpSpPr>
        <p:sp>
          <p:nvSpPr>
            <p:cNvPr id="117" name="Freeform 117"/>
            <p:cNvSpPr/>
            <p:nvPr/>
          </p:nvSpPr>
          <p:spPr>
            <a:xfrm>
              <a:off x="0" y="0"/>
              <a:ext cx="1024128" cy="1024128"/>
            </a:xfrm>
            <a:custGeom>
              <a:avLst/>
              <a:gdLst/>
              <a:ahLst/>
              <a:cxnLst/>
              <a:rect l="l" t="t" r="r" b="b"/>
              <a:pathLst>
                <a:path w="1024128" h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1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118" name="TextBox 118"/>
            <p:cNvSpPr txBox="1"/>
            <p:nvPr/>
          </p:nvSpPr>
          <p:spPr>
            <a:xfrm>
              <a:off x="0" y="-38100"/>
              <a:ext cx="1024128" cy="106222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400"/>
                </a:lnSpc>
              </a:pPr>
              <a:r>
                <a:rPr lang="en-US" sz="2000" b="1">
                  <a:solidFill>
                    <a:srgbClr val="0B0F1A"/>
                  </a:solidFill>
                  <a:latin typeface="Calibri (MS) Bold" panose="020F0702030404030204"/>
                  <a:ea typeface="Calibri (MS) Bold" panose="020F0702030404030204"/>
                  <a:cs typeface="Calibri (MS) Bold" panose="020F0702030404030204"/>
                  <a:sym typeface="Calibri (MS) Bold" panose="020F0702030404030204"/>
                </a:rPr>
                <a:t>06</a:t>
              </a:r>
              <a:endParaRPr lang="en-US" sz="2000" b="1">
                <a:solidFill>
                  <a:srgbClr val="0B0F1A"/>
                </a:solidFill>
                <a:latin typeface="Calibri (MS) Bold" panose="020F0702030404030204"/>
                <a:ea typeface="Calibri (MS) Bold" panose="020F0702030404030204"/>
                <a:cs typeface="Calibri (MS) Bold" panose="020F0702030404030204"/>
                <a:sym typeface="Calibri (MS) Bold" panose="020F0702030404030204"/>
              </a:endParaRPr>
            </a:p>
          </p:txBody>
        </p:sp>
      </p:grpSp>
      <p:grpSp>
        <p:nvGrpSpPr>
          <p:cNvPr id="119" name="Group 119"/>
          <p:cNvGrpSpPr/>
          <p:nvPr/>
        </p:nvGrpSpPr>
        <p:grpSpPr>
          <a:xfrm rot="0">
            <a:off x="13277088" y="6291072"/>
            <a:ext cx="4187952" cy="658368"/>
            <a:chOff x="0" y="0"/>
            <a:chExt cx="5583936" cy="877824"/>
          </a:xfrm>
        </p:grpSpPr>
        <p:sp>
          <p:nvSpPr>
            <p:cNvPr id="120" name="Freeform 120"/>
            <p:cNvSpPr/>
            <p:nvPr/>
          </p:nvSpPr>
          <p:spPr>
            <a:xfrm>
              <a:off x="0" y="0"/>
              <a:ext cx="5583936" cy="877824"/>
            </a:xfrm>
            <a:custGeom>
              <a:avLst/>
              <a:gdLst/>
              <a:ahLst/>
              <a:cxnLst/>
              <a:rect l="l" t="t" r="r" b="b"/>
              <a:pathLst>
                <a:path w="5583936" h="877824">
                  <a:moveTo>
                    <a:pt x="0" y="0"/>
                  </a:moveTo>
                  <a:lnTo>
                    <a:pt x="5583936" y="0"/>
                  </a:lnTo>
                  <a:lnTo>
                    <a:pt x="5583936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1">
                <a:alphaModFix amt="0"/>
              </a:blip>
              <a:stretch>
                <a:fillRect t="-73946" b="-73946"/>
              </a:stretch>
            </a:blipFill>
          </p:spPr>
        </p:sp>
        <p:sp>
          <p:nvSpPr>
            <p:cNvPr id="121" name="TextBox 121"/>
            <p:cNvSpPr txBox="1"/>
            <p:nvPr/>
          </p:nvSpPr>
          <p:spPr>
            <a:xfrm>
              <a:off x="0" y="-38100"/>
              <a:ext cx="5583936" cy="91592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80"/>
                </a:lnSpc>
              </a:pPr>
              <a:r>
                <a:rPr lang="en-US" sz="2400" b="1">
                  <a:solidFill>
                    <a:srgbClr val="E2E8F0"/>
                  </a:solidFill>
                  <a:latin typeface="Calibri (MS) Bold" panose="020F0702030404030204"/>
                  <a:ea typeface="Calibri (MS) Bold" panose="020F0702030404030204"/>
                  <a:cs typeface="Calibri (MS) Bold" panose="020F0702030404030204"/>
                  <a:sym typeface="Calibri (MS) Bold" panose="020F0702030404030204"/>
                </a:rPr>
                <a:t>Final Demo &amp; Documentation</a:t>
              </a:r>
              <a:endParaRPr lang="en-US" sz="2400" b="1">
                <a:solidFill>
                  <a:srgbClr val="E2E8F0"/>
                </a:solidFill>
                <a:latin typeface="Calibri (MS) Bold" panose="020F0702030404030204"/>
                <a:ea typeface="Calibri (MS) Bold" panose="020F0702030404030204"/>
                <a:cs typeface="Calibri (MS) Bold" panose="020F0702030404030204"/>
                <a:sym typeface="Calibri (MS) Bold" panose="020F0702030404030204"/>
              </a:endParaRPr>
            </a:p>
          </p:txBody>
        </p:sp>
      </p:grpSp>
      <p:grpSp>
        <p:nvGrpSpPr>
          <p:cNvPr id="122" name="Group 122"/>
          <p:cNvGrpSpPr/>
          <p:nvPr/>
        </p:nvGrpSpPr>
        <p:grpSpPr>
          <a:xfrm rot="0">
            <a:off x="12362688" y="7164972"/>
            <a:ext cx="4846320" cy="1243584"/>
            <a:chOff x="0" y="0"/>
            <a:chExt cx="6461760" cy="1658112"/>
          </a:xfrm>
        </p:grpSpPr>
        <p:sp>
          <p:nvSpPr>
            <p:cNvPr id="123" name="Freeform 123"/>
            <p:cNvSpPr/>
            <p:nvPr/>
          </p:nvSpPr>
          <p:spPr>
            <a:xfrm>
              <a:off x="0" y="0"/>
              <a:ext cx="6461760" cy="1658112"/>
            </a:xfrm>
            <a:custGeom>
              <a:avLst/>
              <a:gdLst/>
              <a:ahLst/>
              <a:cxnLst/>
              <a:rect l="l" t="t" r="r" b="b"/>
              <a:pathLst>
                <a:path w="6461760" h="1658112">
                  <a:moveTo>
                    <a:pt x="0" y="0"/>
                  </a:moveTo>
                  <a:lnTo>
                    <a:pt x="6461760" y="0"/>
                  </a:lnTo>
                  <a:lnTo>
                    <a:pt x="6461760" y="1658112"/>
                  </a:lnTo>
                  <a:lnTo>
                    <a:pt x="0" y="1658112"/>
                  </a:lnTo>
                  <a:close/>
                </a:path>
              </a:pathLst>
            </a:custGeom>
            <a:blipFill>
              <a:blip r:embed="rId1">
                <a:alphaModFix amt="0"/>
              </a:blip>
              <a:stretch>
                <a:fillRect t="-25934" b="-25934"/>
              </a:stretch>
            </a:blipFill>
          </p:spPr>
        </p:sp>
        <p:sp>
          <p:nvSpPr>
            <p:cNvPr id="124" name="TextBox 124"/>
            <p:cNvSpPr txBox="1"/>
            <p:nvPr/>
          </p:nvSpPr>
          <p:spPr>
            <a:xfrm>
              <a:off x="0" y="-38100"/>
              <a:ext cx="6461760" cy="169621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94A3B8"/>
                  </a:solidFill>
                  <a:latin typeface="Calibri (MS)" panose="020F0502020204030204"/>
                  <a:ea typeface="Calibri (MS)" panose="020F0502020204030204"/>
                  <a:cs typeface="Calibri (MS)" panose="020F0502020204030204"/>
                  <a:sym typeface="Calibri (MS)" panose="020F0502020204030204"/>
                </a:rPr>
                <a:t>Prepare final demo build and complete documentation</a:t>
              </a:r>
              <a:endParaRPr lang="en-US" sz="2000">
                <a:solidFill>
                  <a:srgbClr val="94A3B8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endParaRPr>
            </a:p>
          </p:txBody>
        </p:sp>
      </p:grpSp>
      <p:grpSp>
        <p:nvGrpSpPr>
          <p:cNvPr id="125" name="Group 125"/>
          <p:cNvGrpSpPr/>
          <p:nvPr/>
        </p:nvGrpSpPr>
        <p:grpSpPr>
          <a:xfrm rot="0">
            <a:off x="12349991" y="8509511"/>
            <a:ext cx="2037083" cy="464315"/>
            <a:chOff x="0" y="0"/>
            <a:chExt cx="2716111" cy="619087"/>
          </a:xfrm>
        </p:grpSpPr>
        <p:sp>
          <p:nvSpPr>
            <p:cNvPr id="126" name="Freeform 126"/>
            <p:cNvSpPr/>
            <p:nvPr/>
          </p:nvSpPr>
          <p:spPr>
            <a:xfrm>
              <a:off x="16891" y="16891"/>
              <a:ext cx="2682240" cy="585216"/>
            </a:xfrm>
            <a:custGeom>
              <a:avLst/>
              <a:gdLst/>
              <a:ahLst/>
              <a:cxnLst/>
              <a:rect l="l" t="t" r="r" b="b"/>
              <a:pathLst>
                <a:path w="2682240" h="585216">
                  <a:moveTo>
                    <a:pt x="0" y="0"/>
                  </a:moveTo>
                  <a:lnTo>
                    <a:pt x="2682240" y="0"/>
                  </a:lnTo>
                  <a:lnTo>
                    <a:pt x="2682240" y="585216"/>
                  </a:lnTo>
                  <a:lnTo>
                    <a:pt x="0" y="585216"/>
                  </a:lnTo>
                  <a:close/>
                </a:path>
              </a:pathLst>
            </a:custGeom>
            <a:solidFill>
              <a:srgbClr val="1A2236"/>
            </a:solidFill>
          </p:spPr>
        </p:sp>
        <p:sp>
          <p:nvSpPr>
            <p:cNvPr id="127" name="Freeform 127"/>
            <p:cNvSpPr/>
            <p:nvPr/>
          </p:nvSpPr>
          <p:spPr>
            <a:xfrm>
              <a:off x="0" y="0"/>
              <a:ext cx="2716022" cy="619000"/>
            </a:xfrm>
            <a:custGeom>
              <a:avLst/>
              <a:gdLst/>
              <a:ahLst/>
              <a:cxnLst/>
              <a:rect l="l" t="t" r="r" b="b"/>
              <a:pathLst>
                <a:path w="2716022" h="619000">
                  <a:moveTo>
                    <a:pt x="16891" y="0"/>
                  </a:moveTo>
                  <a:lnTo>
                    <a:pt x="2699131" y="0"/>
                  </a:lnTo>
                  <a:cubicBezTo>
                    <a:pt x="2708529" y="0"/>
                    <a:pt x="2716022" y="7620"/>
                    <a:pt x="2716022" y="16891"/>
                  </a:cubicBezTo>
                  <a:lnTo>
                    <a:pt x="2716022" y="602107"/>
                  </a:lnTo>
                  <a:cubicBezTo>
                    <a:pt x="2716022" y="611505"/>
                    <a:pt x="2708402" y="618998"/>
                    <a:pt x="2699131" y="618998"/>
                  </a:cubicBezTo>
                  <a:lnTo>
                    <a:pt x="16891" y="618998"/>
                  </a:lnTo>
                  <a:cubicBezTo>
                    <a:pt x="7620" y="619125"/>
                    <a:pt x="0" y="611505"/>
                    <a:pt x="0" y="60210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02107"/>
                  </a:lnTo>
                  <a:lnTo>
                    <a:pt x="16891" y="602107"/>
                  </a:lnTo>
                  <a:lnTo>
                    <a:pt x="16891" y="585216"/>
                  </a:lnTo>
                  <a:lnTo>
                    <a:pt x="2699131" y="585216"/>
                  </a:lnTo>
                  <a:lnTo>
                    <a:pt x="2699131" y="602107"/>
                  </a:lnTo>
                  <a:lnTo>
                    <a:pt x="2682240" y="602107"/>
                  </a:lnTo>
                  <a:lnTo>
                    <a:pt x="2682240" y="16891"/>
                  </a:lnTo>
                  <a:lnTo>
                    <a:pt x="2699131" y="16891"/>
                  </a:lnTo>
                  <a:lnTo>
                    <a:pt x="26991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E2D45"/>
            </a:solidFill>
          </p:spPr>
        </p:sp>
      </p:grpSp>
      <p:grpSp>
        <p:nvGrpSpPr>
          <p:cNvPr id="128" name="Group 128"/>
          <p:cNvGrpSpPr/>
          <p:nvPr/>
        </p:nvGrpSpPr>
        <p:grpSpPr>
          <a:xfrm rot="0">
            <a:off x="12362688" y="8522208"/>
            <a:ext cx="2011680" cy="438912"/>
            <a:chOff x="0" y="0"/>
            <a:chExt cx="2682240" cy="585216"/>
          </a:xfrm>
        </p:grpSpPr>
        <p:sp>
          <p:nvSpPr>
            <p:cNvPr id="129" name="Freeform 129"/>
            <p:cNvSpPr/>
            <p:nvPr/>
          </p:nvSpPr>
          <p:spPr>
            <a:xfrm>
              <a:off x="0" y="0"/>
              <a:ext cx="2682240" cy="585216"/>
            </a:xfrm>
            <a:custGeom>
              <a:avLst/>
              <a:gdLst/>
              <a:ahLst/>
              <a:cxnLst/>
              <a:rect l="l" t="t" r="r" b="b"/>
              <a:pathLst>
                <a:path w="2682240" h="585216">
                  <a:moveTo>
                    <a:pt x="0" y="0"/>
                  </a:moveTo>
                  <a:lnTo>
                    <a:pt x="2682240" y="0"/>
                  </a:lnTo>
                  <a:lnTo>
                    <a:pt x="268224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1">
                <a:alphaModFix amt="0"/>
              </a:blip>
              <a:stretch>
                <a:fillRect t="-39306" b="-39306"/>
              </a:stretch>
            </a:blipFill>
          </p:spPr>
        </p:sp>
        <p:sp>
          <p:nvSpPr>
            <p:cNvPr id="130" name="TextBox 130"/>
            <p:cNvSpPr txBox="1"/>
            <p:nvPr/>
          </p:nvSpPr>
          <p:spPr>
            <a:xfrm>
              <a:off x="0" y="-28575"/>
              <a:ext cx="2682240" cy="61379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680"/>
                </a:lnSpc>
              </a:pPr>
              <a:r>
                <a:rPr lang="en-US" sz="1400" b="1">
                  <a:solidFill>
                    <a:srgbClr val="34D399"/>
                  </a:solidFill>
                  <a:latin typeface="Calibri (MS) Bold" panose="020F0702030404030204"/>
                  <a:ea typeface="Calibri (MS) Bold" panose="020F0702030404030204"/>
                  <a:cs typeface="Calibri (MS) Bold" panose="020F0702030404030204"/>
                  <a:sym typeface="Calibri (MS) Bold" panose="020F0702030404030204"/>
                </a:rPr>
                <a:t>👤 All</a:t>
              </a:r>
              <a:endParaRPr lang="en-US" sz="1400" b="1">
                <a:solidFill>
                  <a:srgbClr val="34D399"/>
                </a:solidFill>
                <a:latin typeface="Calibri (MS) Bold" panose="020F0702030404030204"/>
                <a:ea typeface="Calibri (MS) Bold" panose="020F0702030404030204"/>
                <a:cs typeface="Calibri (MS) Bold" panose="020F0702030404030204"/>
                <a:sym typeface="Calibri (MS) Bold" panose="020F0702030404030204"/>
              </a:endParaRPr>
            </a:p>
          </p:txBody>
        </p:sp>
      </p:grpSp>
      <p:grpSp>
        <p:nvGrpSpPr>
          <p:cNvPr id="131" name="Group 131"/>
          <p:cNvGrpSpPr/>
          <p:nvPr/>
        </p:nvGrpSpPr>
        <p:grpSpPr>
          <a:xfrm rot="0">
            <a:off x="13277088" y="2562930"/>
            <a:ext cx="3931920" cy="658368"/>
            <a:chOff x="0" y="0"/>
            <a:chExt cx="5242560" cy="877824"/>
          </a:xfrm>
        </p:grpSpPr>
        <p:sp>
          <p:nvSpPr>
            <p:cNvPr id="132" name="Freeform 132"/>
            <p:cNvSpPr/>
            <p:nvPr/>
          </p:nvSpPr>
          <p:spPr>
            <a:xfrm>
              <a:off x="0" y="0"/>
              <a:ext cx="5242560" cy="877824"/>
            </a:xfrm>
            <a:custGeom>
              <a:avLst/>
              <a:gdLst/>
              <a:ahLst/>
              <a:cxnLst/>
              <a:rect l="l" t="t" r="r" b="b"/>
              <a:pathLst>
                <a:path w="5242560" h="877824">
                  <a:moveTo>
                    <a:pt x="0" y="0"/>
                  </a:moveTo>
                  <a:lnTo>
                    <a:pt x="5242560" y="0"/>
                  </a:lnTo>
                  <a:lnTo>
                    <a:pt x="524256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1">
                <a:alphaModFix amt="0"/>
              </a:blip>
              <a:stretch>
                <a:fillRect t="-66368" b="-66368"/>
              </a:stretch>
            </a:blipFill>
          </p:spPr>
        </p:sp>
        <p:sp>
          <p:nvSpPr>
            <p:cNvPr id="133" name="TextBox 133"/>
            <p:cNvSpPr txBox="1"/>
            <p:nvPr/>
          </p:nvSpPr>
          <p:spPr>
            <a:xfrm>
              <a:off x="0" y="-38100"/>
              <a:ext cx="5242560" cy="91592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80"/>
                </a:lnSpc>
              </a:pPr>
              <a:r>
                <a:rPr lang="en-US" sz="2400">
                  <a:solidFill>
                    <a:srgbClr val="FFFFFF"/>
                  </a:solidFill>
                  <a:latin typeface="Calibri (MS)" panose="020F0502020204030204"/>
                  <a:ea typeface="Calibri (MS)" panose="020F0502020204030204"/>
                  <a:cs typeface="Calibri (MS)" panose="020F0502020204030204"/>
                  <a:sym typeface="Calibri (MS)" panose="020F0502020204030204"/>
                </a:rPr>
                <a:t>Resolve V2 Backend Dependencies</a:t>
              </a:r>
              <a:endParaRPr lang="en-US" sz="2400">
                <a:solidFill>
                  <a:srgbClr val="FFFFFF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endParaRPr>
            </a:p>
          </p:txBody>
        </p:sp>
      </p:grpSp>
      <p:grpSp>
        <p:nvGrpSpPr>
          <p:cNvPr id="134" name="Group 134"/>
          <p:cNvGrpSpPr/>
          <p:nvPr/>
        </p:nvGrpSpPr>
        <p:grpSpPr>
          <a:xfrm rot="0">
            <a:off x="12362688" y="3431610"/>
            <a:ext cx="4846320" cy="1243584"/>
            <a:chOff x="0" y="0"/>
            <a:chExt cx="6461760" cy="1658112"/>
          </a:xfrm>
        </p:grpSpPr>
        <p:sp>
          <p:nvSpPr>
            <p:cNvPr id="135" name="Freeform 135"/>
            <p:cNvSpPr/>
            <p:nvPr/>
          </p:nvSpPr>
          <p:spPr>
            <a:xfrm>
              <a:off x="0" y="0"/>
              <a:ext cx="6461760" cy="1658112"/>
            </a:xfrm>
            <a:custGeom>
              <a:avLst/>
              <a:gdLst/>
              <a:ahLst/>
              <a:cxnLst/>
              <a:rect l="l" t="t" r="r" b="b"/>
              <a:pathLst>
                <a:path w="6461760" h="1658112">
                  <a:moveTo>
                    <a:pt x="0" y="0"/>
                  </a:moveTo>
                  <a:lnTo>
                    <a:pt x="6461760" y="0"/>
                  </a:lnTo>
                  <a:lnTo>
                    <a:pt x="6461760" y="1658112"/>
                  </a:lnTo>
                  <a:lnTo>
                    <a:pt x="0" y="1658112"/>
                  </a:lnTo>
                  <a:close/>
                </a:path>
              </a:pathLst>
            </a:custGeom>
            <a:blipFill>
              <a:blip r:embed="rId1">
                <a:alphaModFix amt="0"/>
              </a:blip>
              <a:stretch>
                <a:fillRect t="-25934" b="-25934"/>
              </a:stretch>
            </a:blipFill>
          </p:spPr>
        </p:sp>
        <p:sp>
          <p:nvSpPr>
            <p:cNvPr id="136" name="TextBox 136"/>
            <p:cNvSpPr txBox="1"/>
            <p:nvPr/>
          </p:nvSpPr>
          <p:spPr>
            <a:xfrm>
              <a:off x="0" y="-38100"/>
              <a:ext cx="6461760" cy="169621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94A3B8"/>
                  </a:solidFill>
                  <a:latin typeface="Calibri (MS)" panose="020F0502020204030204"/>
                  <a:ea typeface="Calibri (MS)" panose="020F0502020204030204"/>
                  <a:cs typeface="Calibri (MS)" panose="020F0502020204030204"/>
                  <a:sym typeface="Calibri (MS)" panose="020F0502020204030204"/>
                </a:rPr>
                <a:t>Identify and align with V2 on missing database parameters, new endpoints and data structures required to support the M1 exercise and patient flows</a:t>
              </a:r>
              <a:endParaRPr lang="en-US" sz="2000">
                <a:solidFill>
                  <a:srgbClr val="94A3B8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endParaRP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822960" y="402336"/>
            <a:ext cx="16642080" cy="402336"/>
            <a:chOff x="0" y="0"/>
            <a:chExt cx="22189440" cy="53644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2189439" cy="536448"/>
            </a:xfrm>
            <a:custGeom>
              <a:avLst/>
              <a:gdLst/>
              <a:ahLst/>
              <a:cxnLst/>
              <a:rect l="l" t="t" r="r" b="b"/>
              <a:pathLst>
                <a:path w="22189439" h="536448">
                  <a:moveTo>
                    <a:pt x="0" y="0"/>
                  </a:moveTo>
                  <a:lnTo>
                    <a:pt x="22189439" y="0"/>
                  </a:lnTo>
                  <a:lnTo>
                    <a:pt x="22189439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1">
                <a:alphaModFix amt="0"/>
              </a:blip>
              <a:stretch>
                <a:fillRect t="-755972" b="-755972"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2189440" cy="57454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800"/>
                </a:lnSpc>
              </a:pPr>
              <a:r>
                <a:rPr lang="en-US" sz="1500" b="1" spc="600">
                  <a:solidFill>
                    <a:srgbClr val="34D399"/>
                  </a:solidFill>
                  <a:latin typeface="Calibri (MS) Bold" panose="020F0702030404030204"/>
                  <a:ea typeface="Calibri (MS) Bold" panose="020F0702030404030204"/>
                  <a:cs typeface="Calibri (MS) Bold" panose="020F0702030404030204"/>
                  <a:sym typeface="Calibri (MS) Bold" panose="020F0702030404030204"/>
                </a:rPr>
                <a:t>DOCUMENTATION &amp; REFERENCES</a:t>
              </a:r>
              <a:endParaRPr lang="en-US" sz="1500" b="1" spc="600">
                <a:solidFill>
                  <a:srgbClr val="34D399"/>
                </a:solidFill>
                <a:latin typeface="Calibri (MS) Bold" panose="020F0702030404030204"/>
                <a:ea typeface="Calibri (MS) Bold" panose="020F0702030404030204"/>
                <a:cs typeface="Calibri (MS) Bold" panose="020F0702030404030204"/>
                <a:sym typeface="Calibri (MS) Bold" panose="020F0702030404030204"/>
              </a:endParaRPr>
            </a:p>
          </p:txBody>
        </p:sp>
      </p:grpSp>
      <p:grpSp>
        <p:nvGrpSpPr>
          <p:cNvPr id="5" name="Group 5"/>
          <p:cNvGrpSpPr/>
          <p:nvPr/>
        </p:nvGrpSpPr>
        <p:grpSpPr>
          <a:xfrm rot="0">
            <a:off x="822960" y="804672"/>
            <a:ext cx="16642080" cy="1005840"/>
            <a:chOff x="0" y="0"/>
            <a:chExt cx="22189440" cy="134112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2189439" cy="1341120"/>
            </a:xfrm>
            <a:custGeom>
              <a:avLst/>
              <a:gdLst/>
              <a:ahLst/>
              <a:cxnLst/>
              <a:rect l="l" t="t" r="r" b="b"/>
              <a:pathLst>
                <a:path w="22189439" h="1341120">
                  <a:moveTo>
                    <a:pt x="0" y="0"/>
                  </a:moveTo>
                  <a:lnTo>
                    <a:pt x="22189439" y="0"/>
                  </a:lnTo>
                  <a:lnTo>
                    <a:pt x="22189439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1">
                <a:alphaModFix amt="0"/>
              </a:blip>
              <a:stretch>
                <a:fillRect t="-272388" b="-272388"/>
              </a:stretch>
            </a:blipFill>
          </p:spPr>
        </p:sp>
        <p:sp>
          <p:nvSpPr>
            <p:cNvPr id="7" name="TextBox 7"/>
            <p:cNvSpPr txBox="1"/>
            <p:nvPr/>
          </p:nvSpPr>
          <p:spPr>
            <a:xfrm>
              <a:off x="0" y="-85725"/>
              <a:ext cx="22189440" cy="14268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760"/>
                </a:lnSpc>
              </a:pPr>
              <a:r>
                <a:rPr lang="en-US" sz="4800" b="1">
                  <a:solidFill>
                    <a:srgbClr val="E2E8F0"/>
                  </a:solidFill>
                  <a:latin typeface="Calibri (MS) Bold" panose="020F0702030404030204"/>
                  <a:ea typeface="Calibri (MS) Bold" panose="020F0702030404030204"/>
                  <a:cs typeface="Calibri (MS) Bold" panose="020F0702030404030204"/>
                  <a:sym typeface="Calibri (MS) Bold" panose="020F0702030404030204"/>
                </a:rPr>
                <a:t>Links &amp; Resources</a:t>
              </a:r>
              <a:endParaRPr lang="en-US" sz="4800" b="1">
                <a:solidFill>
                  <a:srgbClr val="E2E8F0"/>
                </a:solidFill>
                <a:latin typeface="Calibri (MS) Bold" panose="020F0702030404030204"/>
                <a:ea typeface="Calibri (MS) Bold" panose="020F0702030404030204"/>
                <a:cs typeface="Calibri (MS) Bold" panose="020F0702030404030204"/>
                <a:sym typeface="Calibri (MS) Bold" panose="020F0702030404030204"/>
              </a:endParaRPr>
            </a:p>
          </p:txBody>
        </p:sp>
      </p:grpSp>
      <p:grpSp>
        <p:nvGrpSpPr>
          <p:cNvPr id="8" name="Group 8"/>
          <p:cNvGrpSpPr/>
          <p:nvPr/>
        </p:nvGrpSpPr>
        <p:grpSpPr>
          <a:xfrm rot="0">
            <a:off x="810263" y="1834391"/>
            <a:ext cx="16667483" cy="71123"/>
            <a:chOff x="0" y="0"/>
            <a:chExt cx="22223311" cy="94831"/>
          </a:xfrm>
        </p:grpSpPr>
        <p:sp>
          <p:nvSpPr>
            <p:cNvPr id="9" name="Freeform 9"/>
            <p:cNvSpPr/>
            <p:nvPr/>
          </p:nvSpPr>
          <p:spPr>
            <a:xfrm>
              <a:off x="16891" y="16891"/>
              <a:ext cx="22189439" cy="60960"/>
            </a:xfrm>
            <a:custGeom>
              <a:avLst/>
              <a:gdLst/>
              <a:ahLst/>
              <a:cxnLst/>
              <a:rect l="l" t="t" r="r" b="b"/>
              <a:pathLst>
                <a:path w="22189439" h="60960">
                  <a:moveTo>
                    <a:pt x="0" y="0"/>
                  </a:moveTo>
                  <a:lnTo>
                    <a:pt x="22189439" y="0"/>
                  </a:lnTo>
                  <a:lnTo>
                    <a:pt x="22189439" y="60960"/>
                  </a:lnTo>
                  <a:lnTo>
                    <a:pt x="0" y="60960"/>
                  </a:lnTo>
                  <a:close/>
                </a:path>
              </a:pathLst>
            </a:custGeom>
            <a:solidFill>
              <a:srgbClr val="1E2D45"/>
            </a:solidFill>
          </p:spPr>
        </p:sp>
        <p:sp>
          <p:nvSpPr>
            <p:cNvPr id="10" name="Freeform 10"/>
            <p:cNvSpPr/>
            <p:nvPr/>
          </p:nvSpPr>
          <p:spPr>
            <a:xfrm>
              <a:off x="0" y="0"/>
              <a:ext cx="22223222" cy="94744"/>
            </a:xfrm>
            <a:custGeom>
              <a:avLst/>
              <a:gdLst/>
              <a:ahLst/>
              <a:cxnLst/>
              <a:rect l="l" t="t" r="r" b="b"/>
              <a:pathLst>
                <a:path w="22223222" h="94744">
                  <a:moveTo>
                    <a:pt x="16891" y="0"/>
                  </a:moveTo>
                  <a:lnTo>
                    <a:pt x="22206330" y="0"/>
                  </a:lnTo>
                  <a:cubicBezTo>
                    <a:pt x="22215729" y="0"/>
                    <a:pt x="22223222" y="7620"/>
                    <a:pt x="22223222" y="16891"/>
                  </a:cubicBezTo>
                  <a:lnTo>
                    <a:pt x="22223222" y="77851"/>
                  </a:lnTo>
                  <a:cubicBezTo>
                    <a:pt x="22223222" y="87249"/>
                    <a:pt x="22215602" y="94742"/>
                    <a:pt x="22206330" y="94742"/>
                  </a:cubicBezTo>
                  <a:lnTo>
                    <a:pt x="16891" y="94742"/>
                  </a:lnTo>
                  <a:cubicBezTo>
                    <a:pt x="7620" y="94869"/>
                    <a:pt x="0" y="87249"/>
                    <a:pt x="0" y="778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77851"/>
                  </a:lnTo>
                  <a:lnTo>
                    <a:pt x="16891" y="77851"/>
                  </a:lnTo>
                  <a:lnTo>
                    <a:pt x="16891" y="60960"/>
                  </a:lnTo>
                  <a:lnTo>
                    <a:pt x="22206330" y="60960"/>
                  </a:lnTo>
                  <a:lnTo>
                    <a:pt x="22206330" y="77851"/>
                  </a:lnTo>
                  <a:lnTo>
                    <a:pt x="22189439" y="77851"/>
                  </a:lnTo>
                  <a:lnTo>
                    <a:pt x="22189439" y="16891"/>
                  </a:lnTo>
                  <a:lnTo>
                    <a:pt x="22206330" y="16891"/>
                  </a:lnTo>
                  <a:lnTo>
                    <a:pt x="2220633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E2D45"/>
            </a:solidFill>
          </p:spPr>
        </p:sp>
      </p:grpSp>
      <p:grpSp>
        <p:nvGrpSpPr>
          <p:cNvPr id="11" name="Group 11"/>
          <p:cNvGrpSpPr/>
          <p:nvPr/>
        </p:nvGrpSpPr>
        <p:grpSpPr>
          <a:xfrm rot="0">
            <a:off x="810263" y="2218439"/>
            <a:ext cx="5328923" cy="2037083"/>
            <a:chOff x="0" y="0"/>
            <a:chExt cx="7105231" cy="2716111"/>
          </a:xfrm>
        </p:grpSpPr>
        <p:sp>
          <p:nvSpPr>
            <p:cNvPr id="12" name="Freeform 12"/>
            <p:cNvSpPr/>
            <p:nvPr/>
          </p:nvSpPr>
          <p:spPr>
            <a:xfrm>
              <a:off x="16891" y="16891"/>
              <a:ext cx="7071360" cy="2682240"/>
            </a:xfrm>
            <a:custGeom>
              <a:avLst/>
              <a:gdLst/>
              <a:ahLst/>
              <a:cxnLst/>
              <a:rect l="l" t="t" r="r" b="b"/>
              <a:pathLst>
                <a:path w="7071360" h="2682240">
                  <a:moveTo>
                    <a:pt x="0" y="0"/>
                  </a:moveTo>
                  <a:lnTo>
                    <a:pt x="7071360" y="0"/>
                  </a:lnTo>
                  <a:lnTo>
                    <a:pt x="7071360" y="2682240"/>
                  </a:lnTo>
                  <a:lnTo>
                    <a:pt x="0" y="2682240"/>
                  </a:lnTo>
                  <a:close/>
                </a:path>
              </a:pathLst>
            </a:custGeom>
            <a:solidFill>
              <a:srgbClr val="141C2E"/>
            </a:solidFill>
          </p:spPr>
        </p:sp>
        <p:sp>
          <p:nvSpPr>
            <p:cNvPr id="13" name="Freeform 13"/>
            <p:cNvSpPr/>
            <p:nvPr/>
          </p:nvSpPr>
          <p:spPr>
            <a:xfrm>
              <a:off x="0" y="0"/>
              <a:ext cx="7105142" cy="2716022"/>
            </a:xfrm>
            <a:custGeom>
              <a:avLst/>
              <a:gdLst/>
              <a:ahLst/>
              <a:cxnLst/>
              <a:rect l="l" t="t" r="r" b="b"/>
              <a:pathLst>
                <a:path w="7105142" h="2716022">
                  <a:moveTo>
                    <a:pt x="16891" y="0"/>
                  </a:moveTo>
                  <a:lnTo>
                    <a:pt x="7088251" y="0"/>
                  </a:lnTo>
                  <a:cubicBezTo>
                    <a:pt x="7097649" y="0"/>
                    <a:pt x="7105142" y="7620"/>
                    <a:pt x="7105142" y="16891"/>
                  </a:cubicBezTo>
                  <a:lnTo>
                    <a:pt x="7105142" y="2699131"/>
                  </a:lnTo>
                  <a:cubicBezTo>
                    <a:pt x="7105142" y="2708529"/>
                    <a:pt x="7097522" y="2716022"/>
                    <a:pt x="7088251" y="2716022"/>
                  </a:cubicBezTo>
                  <a:lnTo>
                    <a:pt x="16891" y="2716022"/>
                  </a:lnTo>
                  <a:cubicBezTo>
                    <a:pt x="7493" y="2716022"/>
                    <a:pt x="0" y="2708402"/>
                    <a:pt x="0" y="26991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699131"/>
                  </a:lnTo>
                  <a:lnTo>
                    <a:pt x="16891" y="2699131"/>
                  </a:lnTo>
                  <a:lnTo>
                    <a:pt x="16891" y="2682240"/>
                  </a:lnTo>
                  <a:lnTo>
                    <a:pt x="7088251" y="2682240"/>
                  </a:lnTo>
                  <a:lnTo>
                    <a:pt x="7088251" y="2699131"/>
                  </a:lnTo>
                  <a:lnTo>
                    <a:pt x="7071360" y="2699131"/>
                  </a:lnTo>
                  <a:lnTo>
                    <a:pt x="7071360" y="16891"/>
                  </a:lnTo>
                  <a:lnTo>
                    <a:pt x="7088251" y="16891"/>
                  </a:lnTo>
                  <a:lnTo>
                    <a:pt x="70882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E2D45"/>
            </a:solidFill>
          </p:spPr>
        </p:sp>
      </p:grpSp>
      <p:grpSp>
        <p:nvGrpSpPr>
          <p:cNvPr id="14" name="Group 14"/>
          <p:cNvGrpSpPr/>
          <p:nvPr/>
        </p:nvGrpSpPr>
        <p:grpSpPr>
          <a:xfrm rot="0">
            <a:off x="1097280" y="2414016"/>
            <a:ext cx="4754880" cy="512064"/>
            <a:chOff x="0" y="0"/>
            <a:chExt cx="6339840" cy="682752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6339840" cy="682752"/>
            </a:xfrm>
            <a:custGeom>
              <a:avLst/>
              <a:gdLst/>
              <a:ahLst/>
              <a:cxnLst/>
              <a:rect l="l" t="t" r="r" b="b"/>
              <a:pathLst>
                <a:path w="6339840" h="682752">
                  <a:moveTo>
                    <a:pt x="0" y="0"/>
                  </a:moveTo>
                  <a:lnTo>
                    <a:pt x="6339840" y="0"/>
                  </a:lnTo>
                  <a:lnTo>
                    <a:pt x="633984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1">
                <a:alphaModFix amt="0"/>
              </a:blip>
              <a:stretch>
                <a:fillRect t="-130932" b="-130932"/>
              </a:stretch>
            </a:blipFill>
          </p:spPr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6339840" cy="72085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00"/>
                </a:lnSpc>
              </a:pPr>
              <a:r>
                <a:rPr lang="en-US" sz="2000" b="1">
                  <a:solidFill>
                    <a:srgbClr val="34D399"/>
                  </a:solidFill>
                  <a:latin typeface="Calibri (MS) Bold" panose="020F0702030404030204"/>
                  <a:ea typeface="Calibri (MS) Bold" panose="020F0702030404030204"/>
                  <a:cs typeface="Calibri (MS) Bold" panose="020F0702030404030204"/>
                  <a:sym typeface="Calibri (MS) Bold" panose="020F0702030404030204"/>
                </a:rPr>
                <a:t>Project Website</a:t>
              </a:r>
              <a:endParaRPr lang="en-US" sz="2000" b="1">
                <a:solidFill>
                  <a:srgbClr val="34D399"/>
                </a:solidFill>
                <a:latin typeface="Calibri (MS) Bold" panose="020F0702030404030204"/>
                <a:ea typeface="Calibri (MS) Bold" panose="020F0702030404030204"/>
                <a:cs typeface="Calibri (MS) Bold" panose="020F0702030404030204"/>
                <a:sym typeface="Calibri (MS) Bold" panose="020F0702030404030204"/>
              </a:endParaRPr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1188720" y="2933700"/>
            <a:ext cx="4572000" cy="10439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94A3B8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rPr>
              <a:t>🔗 diogopinhel.github.io/DSD2026_TeamM1/</a:t>
            </a:r>
            <a:endParaRPr lang="en-US" sz="1800">
              <a:solidFill>
                <a:srgbClr val="94A3B8"/>
              </a:solidFill>
              <a:latin typeface="Calibri (MS)" panose="020F0502020204030204"/>
              <a:ea typeface="Calibri (MS)" panose="020F0502020204030204"/>
              <a:cs typeface="Calibri (MS)" panose="020F0502020204030204"/>
              <a:sym typeface="Calibri (MS)" panose="020F0502020204030204"/>
            </a:endParaRPr>
          </a:p>
        </p:txBody>
      </p:sp>
      <p:grpSp>
        <p:nvGrpSpPr>
          <p:cNvPr id="18" name="Group 18"/>
          <p:cNvGrpSpPr/>
          <p:nvPr/>
        </p:nvGrpSpPr>
        <p:grpSpPr>
          <a:xfrm rot="0">
            <a:off x="810263" y="4522727"/>
            <a:ext cx="5328923" cy="2037083"/>
            <a:chOff x="0" y="0"/>
            <a:chExt cx="7105231" cy="2716111"/>
          </a:xfrm>
        </p:grpSpPr>
        <p:sp>
          <p:nvSpPr>
            <p:cNvPr id="19" name="Freeform 19"/>
            <p:cNvSpPr/>
            <p:nvPr/>
          </p:nvSpPr>
          <p:spPr>
            <a:xfrm>
              <a:off x="16891" y="16891"/>
              <a:ext cx="7071360" cy="2682240"/>
            </a:xfrm>
            <a:custGeom>
              <a:avLst/>
              <a:gdLst/>
              <a:ahLst/>
              <a:cxnLst/>
              <a:rect l="l" t="t" r="r" b="b"/>
              <a:pathLst>
                <a:path w="7071360" h="2682240">
                  <a:moveTo>
                    <a:pt x="0" y="0"/>
                  </a:moveTo>
                  <a:lnTo>
                    <a:pt x="7071360" y="0"/>
                  </a:lnTo>
                  <a:lnTo>
                    <a:pt x="7071360" y="2682240"/>
                  </a:lnTo>
                  <a:lnTo>
                    <a:pt x="0" y="2682240"/>
                  </a:lnTo>
                  <a:close/>
                </a:path>
              </a:pathLst>
            </a:custGeom>
            <a:solidFill>
              <a:srgbClr val="141C2E"/>
            </a:solidFill>
          </p:spPr>
        </p:sp>
        <p:sp>
          <p:nvSpPr>
            <p:cNvPr id="20" name="Freeform 20"/>
            <p:cNvSpPr/>
            <p:nvPr/>
          </p:nvSpPr>
          <p:spPr>
            <a:xfrm>
              <a:off x="0" y="0"/>
              <a:ext cx="7105142" cy="2716022"/>
            </a:xfrm>
            <a:custGeom>
              <a:avLst/>
              <a:gdLst/>
              <a:ahLst/>
              <a:cxnLst/>
              <a:rect l="l" t="t" r="r" b="b"/>
              <a:pathLst>
                <a:path w="7105142" h="2716022">
                  <a:moveTo>
                    <a:pt x="16891" y="0"/>
                  </a:moveTo>
                  <a:lnTo>
                    <a:pt x="7088251" y="0"/>
                  </a:lnTo>
                  <a:cubicBezTo>
                    <a:pt x="7097649" y="0"/>
                    <a:pt x="7105142" y="7620"/>
                    <a:pt x="7105142" y="16891"/>
                  </a:cubicBezTo>
                  <a:lnTo>
                    <a:pt x="7105142" y="2699131"/>
                  </a:lnTo>
                  <a:cubicBezTo>
                    <a:pt x="7105142" y="2708529"/>
                    <a:pt x="7097522" y="2716022"/>
                    <a:pt x="7088251" y="2716022"/>
                  </a:cubicBezTo>
                  <a:lnTo>
                    <a:pt x="16891" y="2716022"/>
                  </a:lnTo>
                  <a:cubicBezTo>
                    <a:pt x="7493" y="2716022"/>
                    <a:pt x="0" y="2708402"/>
                    <a:pt x="0" y="26991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699131"/>
                  </a:lnTo>
                  <a:lnTo>
                    <a:pt x="16891" y="2699131"/>
                  </a:lnTo>
                  <a:lnTo>
                    <a:pt x="16891" y="2682240"/>
                  </a:lnTo>
                  <a:lnTo>
                    <a:pt x="7088251" y="2682240"/>
                  </a:lnTo>
                  <a:lnTo>
                    <a:pt x="7088251" y="2699131"/>
                  </a:lnTo>
                  <a:lnTo>
                    <a:pt x="7071360" y="2699131"/>
                  </a:lnTo>
                  <a:lnTo>
                    <a:pt x="7071360" y="16891"/>
                  </a:lnTo>
                  <a:lnTo>
                    <a:pt x="7088251" y="16891"/>
                  </a:lnTo>
                  <a:lnTo>
                    <a:pt x="70882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E2D45"/>
            </a:solidFill>
          </p:spPr>
        </p:sp>
      </p:grpSp>
      <p:grpSp>
        <p:nvGrpSpPr>
          <p:cNvPr id="21" name="Group 21"/>
          <p:cNvGrpSpPr/>
          <p:nvPr/>
        </p:nvGrpSpPr>
        <p:grpSpPr>
          <a:xfrm rot="0">
            <a:off x="1097280" y="4718304"/>
            <a:ext cx="4754880" cy="512064"/>
            <a:chOff x="0" y="0"/>
            <a:chExt cx="6339840" cy="682752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6339840" cy="682752"/>
            </a:xfrm>
            <a:custGeom>
              <a:avLst/>
              <a:gdLst/>
              <a:ahLst/>
              <a:cxnLst/>
              <a:rect l="l" t="t" r="r" b="b"/>
              <a:pathLst>
                <a:path w="6339840" h="682752">
                  <a:moveTo>
                    <a:pt x="0" y="0"/>
                  </a:moveTo>
                  <a:lnTo>
                    <a:pt x="6339840" y="0"/>
                  </a:lnTo>
                  <a:lnTo>
                    <a:pt x="633984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1">
                <a:alphaModFix amt="0"/>
              </a:blip>
              <a:stretch>
                <a:fillRect t="-130932" b="-130932"/>
              </a:stretch>
            </a:blipFill>
          </p:spPr>
        </p:sp>
        <p:sp>
          <p:nvSpPr>
            <p:cNvPr id="23" name="TextBox 23"/>
            <p:cNvSpPr txBox="1"/>
            <p:nvPr/>
          </p:nvSpPr>
          <p:spPr>
            <a:xfrm>
              <a:off x="0" y="-38100"/>
              <a:ext cx="6339840" cy="72085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00"/>
                </a:lnSpc>
              </a:pPr>
              <a:r>
                <a:rPr lang="en-US" sz="2000" b="1">
                  <a:solidFill>
                    <a:srgbClr val="34D399"/>
                  </a:solidFill>
                  <a:latin typeface="Calibri (MS) Bold" panose="020F0702030404030204"/>
                  <a:ea typeface="Calibri (MS) Bold" panose="020F0702030404030204"/>
                  <a:cs typeface="Calibri (MS) Bold" panose="020F0702030404030204"/>
                  <a:sym typeface="Calibri (MS) Bold" panose="020F0702030404030204"/>
                </a:rPr>
                <a:t>GitHub Repository</a:t>
              </a:r>
              <a:endParaRPr lang="en-US" sz="2000" b="1">
                <a:solidFill>
                  <a:srgbClr val="34D399"/>
                </a:solidFill>
                <a:latin typeface="Calibri (MS) Bold" panose="020F0702030404030204"/>
                <a:ea typeface="Calibri (MS) Bold" panose="020F0702030404030204"/>
                <a:cs typeface="Calibri (MS) Bold" panose="020F0702030404030204"/>
                <a:sym typeface="Calibri (MS) Bold" panose="020F0702030404030204"/>
              </a:endParaRPr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1188720" y="5237988"/>
            <a:ext cx="4572000" cy="10439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94A3B8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rPr>
              <a:t>🔗github.com/diogopinhel/DSD2026_TeamM1</a:t>
            </a:r>
            <a:endParaRPr lang="en-US" sz="1800">
              <a:solidFill>
                <a:srgbClr val="94A3B8"/>
              </a:solidFill>
              <a:latin typeface="Calibri (MS)" panose="020F0502020204030204"/>
              <a:ea typeface="Calibri (MS)" panose="020F0502020204030204"/>
              <a:cs typeface="Calibri (MS)" panose="020F0502020204030204"/>
              <a:sym typeface="Calibri (MS)" panose="020F0502020204030204"/>
            </a:endParaRPr>
          </a:p>
        </p:txBody>
      </p:sp>
      <p:grpSp>
        <p:nvGrpSpPr>
          <p:cNvPr id="25" name="Group 25"/>
          <p:cNvGrpSpPr/>
          <p:nvPr/>
        </p:nvGrpSpPr>
        <p:grpSpPr>
          <a:xfrm rot="0">
            <a:off x="810263" y="6827015"/>
            <a:ext cx="5328923" cy="2037083"/>
            <a:chOff x="0" y="0"/>
            <a:chExt cx="7105231" cy="2716111"/>
          </a:xfrm>
        </p:grpSpPr>
        <p:sp>
          <p:nvSpPr>
            <p:cNvPr id="26" name="Freeform 26"/>
            <p:cNvSpPr/>
            <p:nvPr/>
          </p:nvSpPr>
          <p:spPr>
            <a:xfrm>
              <a:off x="16891" y="16891"/>
              <a:ext cx="7071360" cy="2682240"/>
            </a:xfrm>
            <a:custGeom>
              <a:avLst/>
              <a:gdLst/>
              <a:ahLst/>
              <a:cxnLst/>
              <a:rect l="l" t="t" r="r" b="b"/>
              <a:pathLst>
                <a:path w="7071360" h="2682240">
                  <a:moveTo>
                    <a:pt x="0" y="0"/>
                  </a:moveTo>
                  <a:lnTo>
                    <a:pt x="7071360" y="0"/>
                  </a:lnTo>
                  <a:lnTo>
                    <a:pt x="7071360" y="2682240"/>
                  </a:lnTo>
                  <a:lnTo>
                    <a:pt x="0" y="2682240"/>
                  </a:lnTo>
                  <a:close/>
                </a:path>
              </a:pathLst>
            </a:custGeom>
            <a:solidFill>
              <a:srgbClr val="141C2E"/>
            </a:solidFill>
          </p:spPr>
        </p:sp>
        <p:sp>
          <p:nvSpPr>
            <p:cNvPr id="27" name="Freeform 27"/>
            <p:cNvSpPr/>
            <p:nvPr/>
          </p:nvSpPr>
          <p:spPr>
            <a:xfrm>
              <a:off x="0" y="0"/>
              <a:ext cx="7105142" cy="2716022"/>
            </a:xfrm>
            <a:custGeom>
              <a:avLst/>
              <a:gdLst/>
              <a:ahLst/>
              <a:cxnLst/>
              <a:rect l="l" t="t" r="r" b="b"/>
              <a:pathLst>
                <a:path w="7105142" h="2716022">
                  <a:moveTo>
                    <a:pt x="16891" y="0"/>
                  </a:moveTo>
                  <a:lnTo>
                    <a:pt x="7088251" y="0"/>
                  </a:lnTo>
                  <a:cubicBezTo>
                    <a:pt x="7097649" y="0"/>
                    <a:pt x="7105142" y="7620"/>
                    <a:pt x="7105142" y="16891"/>
                  </a:cubicBezTo>
                  <a:lnTo>
                    <a:pt x="7105142" y="2699131"/>
                  </a:lnTo>
                  <a:cubicBezTo>
                    <a:pt x="7105142" y="2708529"/>
                    <a:pt x="7097522" y="2716022"/>
                    <a:pt x="7088251" y="2716022"/>
                  </a:cubicBezTo>
                  <a:lnTo>
                    <a:pt x="16891" y="2716022"/>
                  </a:lnTo>
                  <a:cubicBezTo>
                    <a:pt x="7493" y="2716022"/>
                    <a:pt x="0" y="2708402"/>
                    <a:pt x="0" y="26991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699131"/>
                  </a:lnTo>
                  <a:lnTo>
                    <a:pt x="16891" y="2699131"/>
                  </a:lnTo>
                  <a:lnTo>
                    <a:pt x="16891" y="2682240"/>
                  </a:lnTo>
                  <a:lnTo>
                    <a:pt x="7088251" y="2682240"/>
                  </a:lnTo>
                  <a:lnTo>
                    <a:pt x="7088251" y="2699131"/>
                  </a:lnTo>
                  <a:lnTo>
                    <a:pt x="7071360" y="2699131"/>
                  </a:lnTo>
                  <a:lnTo>
                    <a:pt x="7071360" y="16891"/>
                  </a:lnTo>
                  <a:lnTo>
                    <a:pt x="7088251" y="16891"/>
                  </a:lnTo>
                  <a:lnTo>
                    <a:pt x="70882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E2D45"/>
            </a:solidFill>
          </p:spPr>
        </p:sp>
      </p:grpSp>
      <p:grpSp>
        <p:nvGrpSpPr>
          <p:cNvPr id="28" name="Group 28"/>
          <p:cNvGrpSpPr/>
          <p:nvPr/>
        </p:nvGrpSpPr>
        <p:grpSpPr>
          <a:xfrm rot="0">
            <a:off x="1097280" y="7022592"/>
            <a:ext cx="4754880" cy="512064"/>
            <a:chOff x="0" y="0"/>
            <a:chExt cx="6339840" cy="682752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6339840" cy="682752"/>
            </a:xfrm>
            <a:custGeom>
              <a:avLst/>
              <a:gdLst/>
              <a:ahLst/>
              <a:cxnLst/>
              <a:rect l="l" t="t" r="r" b="b"/>
              <a:pathLst>
                <a:path w="6339840" h="682752">
                  <a:moveTo>
                    <a:pt x="0" y="0"/>
                  </a:moveTo>
                  <a:lnTo>
                    <a:pt x="6339840" y="0"/>
                  </a:lnTo>
                  <a:lnTo>
                    <a:pt x="633984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1">
                <a:alphaModFix amt="0"/>
              </a:blip>
              <a:stretch>
                <a:fillRect t="-130932" b="-130932"/>
              </a:stretch>
            </a:blipFill>
          </p:spPr>
        </p:sp>
        <p:sp>
          <p:nvSpPr>
            <p:cNvPr id="30" name="TextBox 30"/>
            <p:cNvSpPr txBox="1"/>
            <p:nvPr/>
          </p:nvSpPr>
          <p:spPr>
            <a:xfrm>
              <a:off x="0" y="-38100"/>
              <a:ext cx="6339840" cy="72085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00"/>
                </a:lnSpc>
              </a:pPr>
              <a:r>
                <a:rPr lang="en-US" sz="2000" b="1">
                  <a:solidFill>
                    <a:srgbClr val="34D399"/>
                  </a:solidFill>
                  <a:latin typeface="Calibri (MS) Bold" panose="020F0702030404030204"/>
                  <a:ea typeface="Calibri (MS) Bold" panose="020F0702030404030204"/>
                  <a:cs typeface="Calibri (MS) Bold" panose="020F0702030404030204"/>
                  <a:sym typeface="Calibri (MS) Bold" panose="020F0702030404030204"/>
                </a:rPr>
                <a:t>Team Members</a:t>
              </a:r>
              <a:endParaRPr lang="en-US" sz="2000" b="1">
                <a:solidFill>
                  <a:srgbClr val="34D399"/>
                </a:solidFill>
                <a:latin typeface="Calibri (MS) Bold" panose="020F0702030404030204"/>
                <a:ea typeface="Calibri (MS) Bold" panose="020F0702030404030204"/>
                <a:cs typeface="Calibri (MS) Bold" panose="020F0702030404030204"/>
                <a:sym typeface="Calibri (MS) Bold" panose="020F0702030404030204"/>
              </a:endParaRPr>
            </a:p>
          </p:txBody>
        </p:sp>
      </p:grpSp>
      <p:sp>
        <p:nvSpPr>
          <p:cNvPr id="31" name="TextBox 31"/>
          <p:cNvSpPr txBox="1"/>
          <p:nvPr/>
        </p:nvSpPr>
        <p:spPr>
          <a:xfrm>
            <a:off x="1188720" y="7542276"/>
            <a:ext cx="4572000" cy="10439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94A3B8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rPr>
              <a:t>🔗diogopinhel.github.io/DSD2026_TeamM1/team.html</a:t>
            </a:r>
            <a:endParaRPr lang="en-US" sz="1800">
              <a:solidFill>
                <a:srgbClr val="94A3B8"/>
              </a:solidFill>
              <a:latin typeface="Calibri (MS)" panose="020F0502020204030204"/>
              <a:ea typeface="Calibri (MS)" panose="020F0502020204030204"/>
              <a:cs typeface="Calibri (MS)" panose="020F0502020204030204"/>
              <a:sym typeface="Calibri (MS)" panose="020F0502020204030204"/>
            </a:endParaRPr>
          </a:p>
        </p:txBody>
      </p:sp>
      <p:grpSp>
        <p:nvGrpSpPr>
          <p:cNvPr id="32" name="Group 32"/>
          <p:cNvGrpSpPr/>
          <p:nvPr/>
        </p:nvGrpSpPr>
        <p:grpSpPr>
          <a:xfrm rot="0">
            <a:off x="6442967" y="2218439"/>
            <a:ext cx="5328923" cy="2037083"/>
            <a:chOff x="0" y="0"/>
            <a:chExt cx="7105231" cy="2716111"/>
          </a:xfrm>
        </p:grpSpPr>
        <p:sp>
          <p:nvSpPr>
            <p:cNvPr id="33" name="Freeform 33"/>
            <p:cNvSpPr/>
            <p:nvPr/>
          </p:nvSpPr>
          <p:spPr>
            <a:xfrm>
              <a:off x="16891" y="16891"/>
              <a:ext cx="7071360" cy="2682240"/>
            </a:xfrm>
            <a:custGeom>
              <a:avLst/>
              <a:gdLst/>
              <a:ahLst/>
              <a:cxnLst/>
              <a:rect l="l" t="t" r="r" b="b"/>
              <a:pathLst>
                <a:path w="7071360" h="2682240">
                  <a:moveTo>
                    <a:pt x="0" y="0"/>
                  </a:moveTo>
                  <a:lnTo>
                    <a:pt x="7071360" y="0"/>
                  </a:lnTo>
                  <a:lnTo>
                    <a:pt x="7071360" y="2682240"/>
                  </a:lnTo>
                  <a:lnTo>
                    <a:pt x="0" y="2682240"/>
                  </a:lnTo>
                  <a:close/>
                </a:path>
              </a:pathLst>
            </a:custGeom>
            <a:solidFill>
              <a:srgbClr val="141C2E"/>
            </a:solidFill>
          </p:spPr>
        </p:sp>
        <p:sp>
          <p:nvSpPr>
            <p:cNvPr id="34" name="Freeform 34"/>
            <p:cNvSpPr/>
            <p:nvPr/>
          </p:nvSpPr>
          <p:spPr>
            <a:xfrm>
              <a:off x="0" y="0"/>
              <a:ext cx="7105142" cy="2716022"/>
            </a:xfrm>
            <a:custGeom>
              <a:avLst/>
              <a:gdLst/>
              <a:ahLst/>
              <a:cxnLst/>
              <a:rect l="l" t="t" r="r" b="b"/>
              <a:pathLst>
                <a:path w="7105142" h="2716022">
                  <a:moveTo>
                    <a:pt x="16891" y="0"/>
                  </a:moveTo>
                  <a:lnTo>
                    <a:pt x="7088251" y="0"/>
                  </a:lnTo>
                  <a:cubicBezTo>
                    <a:pt x="7097649" y="0"/>
                    <a:pt x="7105142" y="7620"/>
                    <a:pt x="7105142" y="16891"/>
                  </a:cubicBezTo>
                  <a:lnTo>
                    <a:pt x="7105142" y="2699131"/>
                  </a:lnTo>
                  <a:cubicBezTo>
                    <a:pt x="7105142" y="2708529"/>
                    <a:pt x="7097522" y="2716022"/>
                    <a:pt x="7088251" y="2716022"/>
                  </a:cubicBezTo>
                  <a:lnTo>
                    <a:pt x="16891" y="2716022"/>
                  </a:lnTo>
                  <a:cubicBezTo>
                    <a:pt x="7493" y="2716022"/>
                    <a:pt x="0" y="2708402"/>
                    <a:pt x="0" y="26991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699131"/>
                  </a:lnTo>
                  <a:lnTo>
                    <a:pt x="16891" y="2699131"/>
                  </a:lnTo>
                  <a:lnTo>
                    <a:pt x="16891" y="2682240"/>
                  </a:lnTo>
                  <a:lnTo>
                    <a:pt x="7088251" y="2682240"/>
                  </a:lnTo>
                  <a:lnTo>
                    <a:pt x="7088251" y="2699131"/>
                  </a:lnTo>
                  <a:lnTo>
                    <a:pt x="7071360" y="2699131"/>
                  </a:lnTo>
                  <a:lnTo>
                    <a:pt x="7071360" y="16891"/>
                  </a:lnTo>
                  <a:lnTo>
                    <a:pt x="7088251" y="16891"/>
                  </a:lnTo>
                  <a:lnTo>
                    <a:pt x="70882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E2D45"/>
            </a:solidFill>
          </p:spPr>
        </p:sp>
      </p:grpSp>
      <p:grpSp>
        <p:nvGrpSpPr>
          <p:cNvPr id="35" name="Group 35"/>
          <p:cNvGrpSpPr/>
          <p:nvPr/>
        </p:nvGrpSpPr>
        <p:grpSpPr>
          <a:xfrm rot="0">
            <a:off x="6729984" y="2414016"/>
            <a:ext cx="4754880" cy="512064"/>
            <a:chOff x="0" y="0"/>
            <a:chExt cx="6339840" cy="682752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6339840" cy="682752"/>
            </a:xfrm>
            <a:custGeom>
              <a:avLst/>
              <a:gdLst/>
              <a:ahLst/>
              <a:cxnLst/>
              <a:rect l="l" t="t" r="r" b="b"/>
              <a:pathLst>
                <a:path w="6339840" h="682752">
                  <a:moveTo>
                    <a:pt x="0" y="0"/>
                  </a:moveTo>
                  <a:lnTo>
                    <a:pt x="6339840" y="0"/>
                  </a:lnTo>
                  <a:lnTo>
                    <a:pt x="633984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1">
                <a:alphaModFix amt="0"/>
              </a:blip>
              <a:stretch>
                <a:fillRect t="-130932" b="-130932"/>
              </a:stretch>
            </a:blipFill>
          </p:spPr>
        </p:sp>
        <p:sp>
          <p:nvSpPr>
            <p:cNvPr id="37" name="TextBox 37"/>
            <p:cNvSpPr txBox="1"/>
            <p:nvPr/>
          </p:nvSpPr>
          <p:spPr>
            <a:xfrm>
              <a:off x="0" y="-38100"/>
              <a:ext cx="6339840" cy="72085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00"/>
                </a:lnSpc>
              </a:pPr>
              <a:r>
                <a:rPr lang="en-US" sz="2000" b="1">
                  <a:solidFill>
                    <a:srgbClr val="34D399"/>
                  </a:solidFill>
                  <a:latin typeface="Calibri (MS) Bold" panose="020F0702030404030204"/>
                  <a:ea typeface="Calibri (MS) Bold" panose="020F0702030404030204"/>
                  <a:cs typeface="Calibri (MS) Bold" panose="020F0702030404030204"/>
                  <a:sym typeface="Calibri (MS) Bold" panose="020F0702030404030204"/>
                </a:rPr>
                <a:t>News &amp; Documents</a:t>
              </a:r>
              <a:endParaRPr lang="en-US" sz="2000" b="1">
                <a:solidFill>
                  <a:srgbClr val="34D399"/>
                </a:solidFill>
                <a:latin typeface="Calibri (MS) Bold" panose="020F0702030404030204"/>
                <a:ea typeface="Calibri (MS) Bold" panose="020F0702030404030204"/>
                <a:cs typeface="Calibri (MS) Bold" panose="020F0702030404030204"/>
                <a:sym typeface="Calibri (MS) Bold" panose="020F0702030404030204"/>
              </a:endParaRPr>
            </a:p>
          </p:txBody>
        </p:sp>
      </p:grpSp>
      <p:sp>
        <p:nvSpPr>
          <p:cNvPr id="38" name="TextBox 38"/>
          <p:cNvSpPr txBox="1"/>
          <p:nvPr/>
        </p:nvSpPr>
        <p:spPr>
          <a:xfrm>
            <a:off x="6821424" y="2933700"/>
            <a:ext cx="4723667" cy="10439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94A3B8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rPr>
              <a:t>🔗diogopinhel.github.io/DSD2026_TeamM1/news.html</a:t>
            </a:r>
            <a:endParaRPr lang="en-US" sz="1800">
              <a:solidFill>
                <a:srgbClr val="94A3B8"/>
              </a:solidFill>
              <a:latin typeface="Calibri (MS)" panose="020F0502020204030204"/>
              <a:ea typeface="Calibri (MS)" panose="020F0502020204030204"/>
              <a:cs typeface="Calibri (MS)" panose="020F0502020204030204"/>
              <a:sym typeface="Calibri (MS)" panose="020F0502020204030204"/>
            </a:endParaRPr>
          </a:p>
        </p:txBody>
      </p:sp>
      <p:grpSp>
        <p:nvGrpSpPr>
          <p:cNvPr id="39" name="Group 39"/>
          <p:cNvGrpSpPr/>
          <p:nvPr/>
        </p:nvGrpSpPr>
        <p:grpSpPr>
          <a:xfrm rot="0">
            <a:off x="6442967" y="4522727"/>
            <a:ext cx="5328923" cy="2037083"/>
            <a:chOff x="0" y="0"/>
            <a:chExt cx="7105231" cy="2716111"/>
          </a:xfrm>
        </p:grpSpPr>
        <p:sp>
          <p:nvSpPr>
            <p:cNvPr id="40" name="Freeform 40"/>
            <p:cNvSpPr/>
            <p:nvPr/>
          </p:nvSpPr>
          <p:spPr>
            <a:xfrm>
              <a:off x="16891" y="16891"/>
              <a:ext cx="7071360" cy="2682240"/>
            </a:xfrm>
            <a:custGeom>
              <a:avLst/>
              <a:gdLst/>
              <a:ahLst/>
              <a:cxnLst/>
              <a:rect l="l" t="t" r="r" b="b"/>
              <a:pathLst>
                <a:path w="7071360" h="2682240">
                  <a:moveTo>
                    <a:pt x="0" y="0"/>
                  </a:moveTo>
                  <a:lnTo>
                    <a:pt x="7071360" y="0"/>
                  </a:lnTo>
                  <a:lnTo>
                    <a:pt x="7071360" y="2682240"/>
                  </a:lnTo>
                  <a:lnTo>
                    <a:pt x="0" y="2682240"/>
                  </a:lnTo>
                  <a:close/>
                </a:path>
              </a:pathLst>
            </a:custGeom>
            <a:solidFill>
              <a:srgbClr val="141C2E"/>
            </a:solidFill>
          </p:spPr>
        </p:sp>
        <p:sp>
          <p:nvSpPr>
            <p:cNvPr id="41" name="Freeform 41"/>
            <p:cNvSpPr/>
            <p:nvPr/>
          </p:nvSpPr>
          <p:spPr>
            <a:xfrm>
              <a:off x="0" y="0"/>
              <a:ext cx="7105142" cy="2716022"/>
            </a:xfrm>
            <a:custGeom>
              <a:avLst/>
              <a:gdLst/>
              <a:ahLst/>
              <a:cxnLst/>
              <a:rect l="l" t="t" r="r" b="b"/>
              <a:pathLst>
                <a:path w="7105142" h="2716022">
                  <a:moveTo>
                    <a:pt x="16891" y="0"/>
                  </a:moveTo>
                  <a:lnTo>
                    <a:pt x="7088251" y="0"/>
                  </a:lnTo>
                  <a:cubicBezTo>
                    <a:pt x="7097649" y="0"/>
                    <a:pt x="7105142" y="7620"/>
                    <a:pt x="7105142" y="16891"/>
                  </a:cubicBezTo>
                  <a:lnTo>
                    <a:pt x="7105142" y="2699131"/>
                  </a:lnTo>
                  <a:cubicBezTo>
                    <a:pt x="7105142" y="2708529"/>
                    <a:pt x="7097522" y="2716022"/>
                    <a:pt x="7088251" y="2716022"/>
                  </a:cubicBezTo>
                  <a:lnTo>
                    <a:pt x="16891" y="2716022"/>
                  </a:lnTo>
                  <a:cubicBezTo>
                    <a:pt x="7493" y="2716022"/>
                    <a:pt x="0" y="2708402"/>
                    <a:pt x="0" y="26991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699131"/>
                  </a:lnTo>
                  <a:lnTo>
                    <a:pt x="16891" y="2699131"/>
                  </a:lnTo>
                  <a:lnTo>
                    <a:pt x="16891" y="2682240"/>
                  </a:lnTo>
                  <a:lnTo>
                    <a:pt x="7088251" y="2682240"/>
                  </a:lnTo>
                  <a:lnTo>
                    <a:pt x="7088251" y="2699131"/>
                  </a:lnTo>
                  <a:lnTo>
                    <a:pt x="7071360" y="2699131"/>
                  </a:lnTo>
                  <a:lnTo>
                    <a:pt x="7071360" y="16891"/>
                  </a:lnTo>
                  <a:lnTo>
                    <a:pt x="7088251" y="16891"/>
                  </a:lnTo>
                  <a:lnTo>
                    <a:pt x="70882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E2D45"/>
            </a:solidFill>
          </p:spPr>
        </p:sp>
      </p:grpSp>
      <p:grpSp>
        <p:nvGrpSpPr>
          <p:cNvPr id="42" name="Group 42"/>
          <p:cNvGrpSpPr/>
          <p:nvPr/>
        </p:nvGrpSpPr>
        <p:grpSpPr>
          <a:xfrm rot="0">
            <a:off x="6729984" y="4718304"/>
            <a:ext cx="4754880" cy="512064"/>
            <a:chOff x="0" y="0"/>
            <a:chExt cx="6339840" cy="682752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6339840" cy="682752"/>
            </a:xfrm>
            <a:custGeom>
              <a:avLst/>
              <a:gdLst/>
              <a:ahLst/>
              <a:cxnLst/>
              <a:rect l="l" t="t" r="r" b="b"/>
              <a:pathLst>
                <a:path w="6339840" h="682752">
                  <a:moveTo>
                    <a:pt x="0" y="0"/>
                  </a:moveTo>
                  <a:lnTo>
                    <a:pt x="6339840" y="0"/>
                  </a:lnTo>
                  <a:lnTo>
                    <a:pt x="633984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1">
                <a:alphaModFix amt="0"/>
              </a:blip>
              <a:stretch>
                <a:fillRect t="-130932" b="-130932"/>
              </a:stretch>
            </a:blipFill>
          </p:spPr>
        </p:sp>
        <p:sp>
          <p:nvSpPr>
            <p:cNvPr id="44" name="TextBox 44"/>
            <p:cNvSpPr txBox="1"/>
            <p:nvPr/>
          </p:nvSpPr>
          <p:spPr>
            <a:xfrm>
              <a:off x="0" y="-38100"/>
              <a:ext cx="6339840" cy="72085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00"/>
                </a:lnSpc>
              </a:pPr>
              <a:r>
                <a:rPr lang="en-US" sz="2000" b="1">
                  <a:solidFill>
                    <a:srgbClr val="34D399"/>
                  </a:solidFill>
                  <a:latin typeface="Calibri (MS) Bold" panose="020F0702030404030204"/>
                  <a:ea typeface="Calibri (MS) Bold" panose="020F0702030404030204"/>
                  <a:cs typeface="Calibri (MS) Bold" panose="020F0702030404030204"/>
                  <a:sym typeface="Calibri (MS) Bold" panose="020F0702030404030204"/>
                </a:rPr>
                <a:t>Week 4 Tasks</a:t>
              </a:r>
              <a:endParaRPr lang="en-US" sz="2000" b="1">
                <a:solidFill>
                  <a:srgbClr val="34D399"/>
                </a:solidFill>
                <a:latin typeface="Calibri (MS) Bold" panose="020F0702030404030204"/>
                <a:ea typeface="Calibri (MS) Bold" panose="020F0702030404030204"/>
                <a:cs typeface="Calibri (MS) Bold" panose="020F0702030404030204"/>
                <a:sym typeface="Calibri (MS) Bold" panose="020F0702030404030204"/>
              </a:endParaRPr>
            </a:p>
          </p:txBody>
        </p:sp>
      </p:grpSp>
      <p:sp>
        <p:nvSpPr>
          <p:cNvPr id="45" name="TextBox 45"/>
          <p:cNvSpPr txBox="1"/>
          <p:nvPr/>
        </p:nvSpPr>
        <p:spPr>
          <a:xfrm>
            <a:off x="6821424" y="5237988"/>
            <a:ext cx="4572000" cy="10439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94A3B8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rPr>
              <a:t>🔗diogopinhel.github.io/DSD2026_TeamM1/2026/04/29/M1_Weekly_Report_W1.html</a:t>
            </a:r>
            <a:endParaRPr lang="en-US" sz="1800">
              <a:solidFill>
                <a:srgbClr val="94A3B8"/>
              </a:solidFill>
              <a:latin typeface="Calibri (MS)" panose="020F0502020204030204"/>
              <a:ea typeface="Calibri (MS)" panose="020F0502020204030204"/>
              <a:cs typeface="Calibri (MS)" panose="020F0502020204030204"/>
              <a:sym typeface="Calibri (MS)" panose="020F0502020204030204"/>
            </a:endParaRPr>
          </a:p>
        </p:txBody>
      </p:sp>
      <p:grpSp>
        <p:nvGrpSpPr>
          <p:cNvPr id="46" name="Group 46"/>
          <p:cNvGrpSpPr/>
          <p:nvPr/>
        </p:nvGrpSpPr>
        <p:grpSpPr>
          <a:xfrm rot="0">
            <a:off x="6442967" y="6827015"/>
            <a:ext cx="5328923" cy="2037083"/>
            <a:chOff x="0" y="0"/>
            <a:chExt cx="7105231" cy="2716111"/>
          </a:xfrm>
        </p:grpSpPr>
        <p:sp>
          <p:nvSpPr>
            <p:cNvPr id="47" name="Freeform 47"/>
            <p:cNvSpPr/>
            <p:nvPr/>
          </p:nvSpPr>
          <p:spPr>
            <a:xfrm>
              <a:off x="16891" y="16891"/>
              <a:ext cx="7071360" cy="2682240"/>
            </a:xfrm>
            <a:custGeom>
              <a:avLst/>
              <a:gdLst/>
              <a:ahLst/>
              <a:cxnLst/>
              <a:rect l="l" t="t" r="r" b="b"/>
              <a:pathLst>
                <a:path w="7071360" h="2682240">
                  <a:moveTo>
                    <a:pt x="0" y="0"/>
                  </a:moveTo>
                  <a:lnTo>
                    <a:pt x="7071360" y="0"/>
                  </a:lnTo>
                  <a:lnTo>
                    <a:pt x="7071360" y="2682240"/>
                  </a:lnTo>
                  <a:lnTo>
                    <a:pt x="0" y="2682240"/>
                  </a:lnTo>
                  <a:close/>
                </a:path>
              </a:pathLst>
            </a:custGeom>
            <a:solidFill>
              <a:srgbClr val="141C2E"/>
            </a:solidFill>
          </p:spPr>
        </p:sp>
        <p:sp>
          <p:nvSpPr>
            <p:cNvPr id="48" name="Freeform 48"/>
            <p:cNvSpPr/>
            <p:nvPr/>
          </p:nvSpPr>
          <p:spPr>
            <a:xfrm>
              <a:off x="0" y="0"/>
              <a:ext cx="7105142" cy="2716022"/>
            </a:xfrm>
            <a:custGeom>
              <a:avLst/>
              <a:gdLst/>
              <a:ahLst/>
              <a:cxnLst/>
              <a:rect l="l" t="t" r="r" b="b"/>
              <a:pathLst>
                <a:path w="7105142" h="2716022">
                  <a:moveTo>
                    <a:pt x="16891" y="0"/>
                  </a:moveTo>
                  <a:lnTo>
                    <a:pt x="7088251" y="0"/>
                  </a:lnTo>
                  <a:cubicBezTo>
                    <a:pt x="7097649" y="0"/>
                    <a:pt x="7105142" y="7620"/>
                    <a:pt x="7105142" y="16891"/>
                  </a:cubicBezTo>
                  <a:lnTo>
                    <a:pt x="7105142" y="2699131"/>
                  </a:lnTo>
                  <a:cubicBezTo>
                    <a:pt x="7105142" y="2708529"/>
                    <a:pt x="7097522" y="2716022"/>
                    <a:pt x="7088251" y="2716022"/>
                  </a:cubicBezTo>
                  <a:lnTo>
                    <a:pt x="16891" y="2716022"/>
                  </a:lnTo>
                  <a:cubicBezTo>
                    <a:pt x="7493" y="2716022"/>
                    <a:pt x="0" y="2708402"/>
                    <a:pt x="0" y="26991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699131"/>
                  </a:lnTo>
                  <a:lnTo>
                    <a:pt x="16891" y="2699131"/>
                  </a:lnTo>
                  <a:lnTo>
                    <a:pt x="16891" y="2682240"/>
                  </a:lnTo>
                  <a:lnTo>
                    <a:pt x="7088251" y="2682240"/>
                  </a:lnTo>
                  <a:lnTo>
                    <a:pt x="7088251" y="2699131"/>
                  </a:lnTo>
                  <a:lnTo>
                    <a:pt x="7071360" y="2699131"/>
                  </a:lnTo>
                  <a:lnTo>
                    <a:pt x="7071360" y="16891"/>
                  </a:lnTo>
                  <a:lnTo>
                    <a:pt x="7088251" y="16891"/>
                  </a:lnTo>
                  <a:lnTo>
                    <a:pt x="70882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E2D45"/>
            </a:solidFill>
          </p:spPr>
        </p:sp>
      </p:grpSp>
      <p:grpSp>
        <p:nvGrpSpPr>
          <p:cNvPr id="49" name="Group 49"/>
          <p:cNvGrpSpPr/>
          <p:nvPr/>
        </p:nvGrpSpPr>
        <p:grpSpPr>
          <a:xfrm rot="0">
            <a:off x="6729984" y="7022592"/>
            <a:ext cx="4754880" cy="512064"/>
            <a:chOff x="0" y="0"/>
            <a:chExt cx="6339840" cy="682752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6339840" cy="682752"/>
            </a:xfrm>
            <a:custGeom>
              <a:avLst/>
              <a:gdLst/>
              <a:ahLst/>
              <a:cxnLst/>
              <a:rect l="l" t="t" r="r" b="b"/>
              <a:pathLst>
                <a:path w="6339840" h="682752">
                  <a:moveTo>
                    <a:pt x="0" y="0"/>
                  </a:moveTo>
                  <a:lnTo>
                    <a:pt x="6339840" y="0"/>
                  </a:lnTo>
                  <a:lnTo>
                    <a:pt x="633984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1">
                <a:alphaModFix amt="0"/>
              </a:blip>
              <a:stretch>
                <a:fillRect t="-130932" b="-130932"/>
              </a:stretch>
            </a:blipFill>
          </p:spPr>
        </p:sp>
        <p:sp>
          <p:nvSpPr>
            <p:cNvPr id="51" name="TextBox 51"/>
            <p:cNvSpPr txBox="1"/>
            <p:nvPr/>
          </p:nvSpPr>
          <p:spPr>
            <a:xfrm>
              <a:off x="0" y="-38100"/>
              <a:ext cx="6339840" cy="72085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00"/>
                </a:lnSpc>
              </a:pPr>
              <a:r>
                <a:rPr lang="en-US" sz="2000" b="1">
                  <a:solidFill>
                    <a:srgbClr val="34D399"/>
                  </a:solidFill>
                  <a:latin typeface="Calibri (MS) Bold" panose="020F0702030404030204"/>
                  <a:ea typeface="Calibri (MS) Bold" panose="020F0702030404030204"/>
                  <a:cs typeface="Calibri (MS) Bold" panose="020F0702030404030204"/>
                  <a:sym typeface="Calibri (MS) Bold" panose="020F0702030404030204"/>
                </a:rPr>
                <a:t>All SRS Integration</a:t>
              </a:r>
              <a:endParaRPr lang="en-US" sz="2000" b="1">
                <a:solidFill>
                  <a:srgbClr val="34D399"/>
                </a:solidFill>
                <a:latin typeface="Calibri (MS) Bold" panose="020F0702030404030204"/>
                <a:ea typeface="Calibri (MS) Bold" panose="020F0702030404030204"/>
                <a:cs typeface="Calibri (MS) Bold" panose="020F0702030404030204"/>
                <a:sym typeface="Calibri (MS) Bold" panose="020F0702030404030204"/>
              </a:endParaRPr>
            </a:p>
          </p:txBody>
        </p:sp>
      </p:grpSp>
      <p:sp>
        <p:nvSpPr>
          <p:cNvPr id="52" name="TextBox 52"/>
          <p:cNvSpPr txBox="1"/>
          <p:nvPr/>
        </p:nvSpPr>
        <p:spPr>
          <a:xfrm>
            <a:off x="6821424" y="7542276"/>
            <a:ext cx="4572000" cy="10439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94A3B8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rPr>
              <a:t>🔗diogopinhel.github.io/DSD2026_TeamM1/2026/05/06/ALL_SRS_v0.2.html</a:t>
            </a:r>
            <a:endParaRPr lang="en-US" sz="1800">
              <a:solidFill>
                <a:srgbClr val="94A3B8"/>
              </a:solidFill>
              <a:latin typeface="Calibri (MS)" panose="020F0502020204030204"/>
              <a:ea typeface="Calibri (MS)" panose="020F0502020204030204"/>
              <a:cs typeface="Calibri (MS)" panose="020F0502020204030204"/>
              <a:sym typeface="Calibri (MS)" panose="020F0502020204030204"/>
            </a:endParaRPr>
          </a:p>
        </p:txBody>
      </p:sp>
      <p:grpSp>
        <p:nvGrpSpPr>
          <p:cNvPr id="53" name="Group 53"/>
          <p:cNvGrpSpPr/>
          <p:nvPr/>
        </p:nvGrpSpPr>
        <p:grpSpPr>
          <a:xfrm rot="0">
            <a:off x="12075671" y="2218439"/>
            <a:ext cx="5328923" cy="2037083"/>
            <a:chOff x="0" y="0"/>
            <a:chExt cx="7105231" cy="2716111"/>
          </a:xfrm>
        </p:grpSpPr>
        <p:sp>
          <p:nvSpPr>
            <p:cNvPr id="54" name="Freeform 54"/>
            <p:cNvSpPr/>
            <p:nvPr/>
          </p:nvSpPr>
          <p:spPr>
            <a:xfrm>
              <a:off x="16891" y="16891"/>
              <a:ext cx="7071360" cy="2682240"/>
            </a:xfrm>
            <a:custGeom>
              <a:avLst/>
              <a:gdLst/>
              <a:ahLst/>
              <a:cxnLst/>
              <a:rect l="l" t="t" r="r" b="b"/>
              <a:pathLst>
                <a:path w="7071360" h="2682240">
                  <a:moveTo>
                    <a:pt x="0" y="0"/>
                  </a:moveTo>
                  <a:lnTo>
                    <a:pt x="7071360" y="0"/>
                  </a:lnTo>
                  <a:lnTo>
                    <a:pt x="7071360" y="2682240"/>
                  </a:lnTo>
                  <a:lnTo>
                    <a:pt x="0" y="2682240"/>
                  </a:lnTo>
                  <a:close/>
                </a:path>
              </a:pathLst>
            </a:custGeom>
            <a:solidFill>
              <a:srgbClr val="141C2E"/>
            </a:solidFill>
          </p:spPr>
        </p:sp>
        <p:sp>
          <p:nvSpPr>
            <p:cNvPr id="55" name="Freeform 55"/>
            <p:cNvSpPr/>
            <p:nvPr/>
          </p:nvSpPr>
          <p:spPr>
            <a:xfrm>
              <a:off x="0" y="0"/>
              <a:ext cx="7105142" cy="2716022"/>
            </a:xfrm>
            <a:custGeom>
              <a:avLst/>
              <a:gdLst/>
              <a:ahLst/>
              <a:cxnLst/>
              <a:rect l="l" t="t" r="r" b="b"/>
              <a:pathLst>
                <a:path w="7105142" h="2716022">
                  <a:moveTo>
                    <a:pt x="16891" y="0"/>
                  </a:moveTo>
                  <a:lnTo>
                    <a:pt x="7088251" y="0"/>
                  </a:lnTo>
                  <a:cubicBezTo>
                    <a:pt x="7097649" y="0"/>
                    <a:pt x="7105142" y="7620"/>
                    <a:pt x="7105142" y="16891"/>
                  </a:cubicBezTo>
                  <a:lnTo>
                    <a:pt x="7105142" y="2699131"/>
                  </a:lnTo>
                  <a:cubicBezTo>
                    <a:pt x="7105142" y="2708529"/>
                    <a:pt x="7097522" y="2716022"/>
                    <a:pt x="7088251" y="2716022"/>
                  </a:cubicBezTo>
                  <a:lnTo>
                    <a:pt x="16891" y="2716022"/>
                  </a:lnTo>
                  <a:cubicBezTo>
                    <a:pt x="7493" y="2716022"/>
                    <a:pt x="0" y="2708402"/>
                    <a:pt x="0" y="26991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699131"/>
                  </a:lnTo>
                  <a:lnTo>
                    <a:pt x="16891" y="2699131"/>
                  </a:lnTo>
                  <a:lnTo>
                    <a:pt x="16891" y="2682240"/>
                  </a:lnTo>
                  <a:lnTo>
                    <a:pt x="7088251" y="2682240"/>
                  </a:lnTo>
                  <a:lnTo>
                    <a:pt x="7088251" y="2699131"/>
                  </a:lnTo>
                  <a:lnTo>
                    <a:pt x="7071360" y="2699131"/>
                  </a:lnTo>
                  <a:lnTo>
                    <a:pt x="7071360" y="16891"/>
                  </a:lnTo>
                  <a:lnTo>
                    <a:pt x="7088251" y="16891"/>
                  </a:lnTo>
                  <a:lnTo>
                    <a:pt x="70882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E2D45"/>
            </a:solidFill>
          </p:spPr>
        </p:sp>
      </p:grpSp>
      <p:grpSp>
        <p:nvGrpSpPr>
          <p:cNvPr id="56" name="Group 56"/>
          <p:cNvGrpSpPr/>
          <p:nvPr/>
        </p:nvGrpSpPr>
        <p:grpSpPr>
          <a:xfrm rot="0">
            <a:off x="12362688" y="2414016"/>
            <a:ext cx="4754880" cy="512064"/>
            <a:chOff x="0" y="0"/>
            <a:chExt cx="6339840" cy="682752"/>
          </a:xfrm>
        </p:grpSpPr>
        <p:sp>
          <p:nvSpPr>
            <p:cNvPr id="57" name="Freeform 57"/>
            <p:cNvSpPr/>
            <p:nvPr/>
          </p:nvSpPr>
          <p:spPr>
            <a:xfrm>
              <a:off x="0" y="0"/>
              <a:ext cx="6339840" cy="682752"/>
            </a:xfrm>
            <a:custGeom>
              <a:avLst/>
              <a:gdLst/>
              <a:ahLst/>
              <a:cxnLst/>
              <a:rect l="l" t="t" r="r" b="b"/>
              <a:pathLst>
                <a:path w="6339840" h="682752">
                  <a:moveTo>
                    <a:pt x="0" y="0"/>
                  </a:moveTo>
                  <a:lnTo>
                    <a:pt x="6339840" y="0"/>
                  </a:lnTo>
                  <a:lnTo>
                    <a:pt x="633984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1">
                <a:alphaModFix amt="0"/>
              </a:blip>
              <a:stretch>
                <a:fillRect t="-130932" b="-130932"/>
              </a:stretch>
            </a:blipFill>
          </p:spPr>
        </p:sp>
        <p:sp>
          <p:nvSpPr>
            <p:cNvPr id="58" name="TextBox 58"/>
            <p:cNvSpPr txBox="1"/>
            <p:nvPr/>
          </p:nvSpPr>
          <p:spPr>
            <a:xfrm>
              <a:off x="0" y="-38100"/>
              <a:ext cx="6339840" cy="72085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00"/>
                </a:lnSpc>
              </a:pPr>
              <a:r>
                <a:rPr lang="en-US" sz="2000" b="1">
                  <a:solidFill>
                    <a:srgbClr val="34D399"/>
                  </a:solidFill>
                  <a:latin typeface="Calibri (MS) Bold" panose="020F0702030404030204"/>
                  <a:ea typeface="Calibri (MS) Bold" panose="020F0702030404030204"/>
                  <a:cs typeface="Calibri (MS) Bold" panose="020F0702030404030204"/>
                  <a:sym typeface="Calibri (MS) Bold" panose="020F0702030404030204"/>
                </a:rPr>
                <a:t>High-Level Design</a:t>
              </a:r>
              <a:endParaRPr lang="en-US" sz="2000" b="1">
                <a:solidFill>
                  <a:srgbClr val="34D399"/>
                </a:solidFill>
                <a:latin typeface="Calibri (MS) Bold" panose="020F0702030404030204"/>
                <a:ea typeface="Calibri (MS) Bold" panose="020F0702030404030204"/>
                <a:cs typeface="Calibri (MS) Bold" panose="020F0702030404030204"/>
                <a:sym typeface="Calibri (MS) Bold" panose="020F0702030404030204"/>
              </a:endParaRPr>
            </a:p>
          </p:txBody>
        </p:sp>
      </p:grpSp>
      <p:sp>
        <p:nvSpPr>
          <p:cNvPr id="59" name="TextBox 59"/>
          <p:cNvSpPr txBox="1"/>
          <p:nvPr/>
        </p:nvSpPr>
        <p:spPr>
          <a:xfrm>
            <a:off x="12454128" y="2933700"/>
            <a:ext cx="4572000" cy="10439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94A3B8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rPr>
              <a:t>🔗diogopinhel.github.io/DSD2026_TeamM1/2026/05/05/M1-High-Level-Design-V1.2.html</a:t>
            </a:r>
            <a:endParaRPr lang="en-US" sz="1800">
              <a:solidFill>
                <a:srgbClr val="94A3B8"/>
              </a:solidFill>
              <a:latin typeface="Calibri (MS)" panose="020F0502020204030204"/>
              <a:ea typeface="Calibri (MS)" panose="020F0502020204030204"/>
              <a:cs typeface="Calibri (MS)" panose="020F0502020204030204"/>
              <a:sym typeface="Calibri (MS)" panose="020F0502020204030204"/>
            </a:endParaRPr>
          </a:p>
        </p:txBody>
      </p:sp>
      <p:grpSp>
        <p:nvGrpSpPr>
          <p:cNvPr id="60" name="Group 60"/>
          <p:cNvGrpSpPr/>
          <p:nvPr/>
        </p:nvGrpSpPr>
        <p:grpSpPr>
          <a:xfrm rot="0">
            <a:off x="12075671" y="4522727"/>
            <a:ext cx="5328923" cy="2037083"/>
            <a:chOff x="0" y="0"/>
            <a:chExt cx="7105231" cy="2716111"/>
          </a:xfrm>
        </p:grpSpPr>
        <p:sp>
          <p:nvSpPr>
            <p:cNvPr id="61" name="Freeform 61"/>
            <p:cNvSpPr/>
            <p:nvPr/>
          </p:nvSpPr>
          <p:spPr>
            <a:xfrm>
              <a:off x="16891" y="16891"/>
              <a:ext cx="7071360" cy="2682240"/>
            </a:xfrm>
            <a:custGeom>
              <a:avLst/>
              <a:gdLst/>
              <a:ahLst/>
              <a:cxnLst/>
              <a:rect l="l" t="t" r="r" b="b"/>
              <a:pathLst>
                <a:path w="7071360" h="2682240">
                  <a:moveTo>
                    <a:pt x="0" y="0"/>
                  </a:moveTo>
                  <a:lnTo>
                    <a:pt x="7071360" y="0"/>
                  </a:lnTo>
                  <a:lnTo>
                    <a:pt x="7071360" y="2682240"/>
                  </a:lnTo>
                  <a:lnTo>
                    <a:pt x="0" y="2682240"/>
                  </a:lnTo>
                  <a:close/>
                </a:path>
              </a:pathLst>
            </a:custGeom>
            <a:solidFill>
              <a:srgbClr val="141C2E"/>
            </a:solidFill>
          </p:spPr>
        </p:sp>
        <p:sp>
          <p:nvSpPr>
            <p:cNvPr id="62" name="Freeform 62"/>
            <p:cNvSpPr/>
            <p:nvPr/>
          </p:nvSpPr>
          <p:spPr>
            <a:xfrm>
              <a:off x="0" y="0"/>
              <a:ext cx="7105142" cy="2716022"/>
            </a:xfrm>
            <a:custGeom>
              <a:avLst/>
              <a:gdLst/>
              <a:ahLst/>
              <a:cxnLst/>
              <a:rect l="l" t="t" r="r" b="b"/>
              <a:pathLst>
                <a:path w="7105142" h="2716022">
                  <a:moveTo>
                    <a:pt x="16891" y="0"/>
                  </a:moveTo>
                  <a:lnTo>
                    <a:pt x="7088251" y="0"/>
                  </a:lnTo>
                  <a:cubicBezTo>
                    <a:pt x="7097649" y="0"/>
                    <a:pt x="7105142" y="7620"/>
                    <a:pt x="7105142" y="16891"/>
                  </a:cubicBezTo>
                  <a:lnTo>
                    <a:pt x="7105142" y="2699131"/>
                  </a:lnTo>
                  <a:cubicBezTo>
                    <a:pt x="7105142" y="2708529"/>
                    <a:pt x="7097522" y="2716022"/>
                    <a:pt x="7088251" y="2716022"/>
                  </a:cubicBezTo>
                  <a:lnTo>
                    <a:pt x="16891" y="2716022"/>
                  </a:lnTo>
                  <a:cubicBezTo>
                    <a:pt x="7493" y="2716022"/>
                    <a:pt x="0" y="2708402"/>
                    <a:pt x="0" y="26991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699131"/>
                  </a:lnTo>
                  <a:lnTo>
                    <a:pt x="16891" y="2699131"/>
                  </a:lnTo>
                  <a:lnTo>
                    <a:pt x="16891" y="2682240"/>
                  </a:lnTo>
                  <a:lnTo>
                    <a:pt x="7088251" y="2682240"/>
                  </a:lnTo>
                  <a:lnTo>
                    <a:pt x="7088251" y="2699131"/>
                  </a:lnTo>
                  <a:lnTo>
                    <a:pt x="7071360" y="2699131"/>
                  </a:lnTo>
                  <a:lnTo>
                    <a:pt x="7071360" y="16891"/>
                  </a:lnTo>
                  <a:lnTo>
                    <a:pt x="7088251" y="16891"/>
                  </a:lnTo>
                  <a:lnTo>
                    <a:pt x="70882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E2D45"/>
            </a:solidFill>
          </p:spPr>
        </p:sp>
      </p:grpSp>
      <p:grpSp>
        <p:nvGrpSpPr>
          <p:cNvPr id="63" name="Group 63"/>
          <p:cNvGrpSpPr/>
          <p:nvPr/>
        </p:nvGrpSpPr>
        <p:grpSpPr>
          <a:xfrm rot="0">
            <a:off x="12362688" y="4718304"/>
            <a:ext cx="4754880" cy="512064"/>
            <a:chOff x="0" y="0"/>
            <a:chExt cx="6339840" cy="682752"/>
          </a:xfrm>
        </p:grpSpPr>
        <p:sp>
          <p:nvSpPr>
            <p:cNvPr id="64" name="Freeform 64"/>
            <p:cNvSpPr/>
            <p:nvPr/>
          </p:nvSpPr>
          <p:spPr>
            <a:xfrm>
              <a:off x="0" y="0"/>
              <a:ext cx="6339840" cy="682752"/>
            </a:xfrm>
            <a:custGeom>
              <a:avLst/>
              <a:gdLst/>
              <a:ahLst/>
              <a:cxnLst/>
              <a:rect l="l" t="t" r="r" b="b"/>
              <a:pathLst>
                <a:path w="6339840" h="682752">
                  <a:moveTo>
                    <a:pt x="0" y="0"/>
                  </a:moveTo>
                  <a:lnTo>
                    <a:pt x="6339840" y="0"/>
                  </a:lnTo>
                  <a:lnTo>
                    <a:pt x="633984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1">
                <a:alphaModFix amt="0"/>
              </a:blip>
              <a:stretch>
                <a:fillRect t="-130932" b="-130932"/>
              </a:stretch>
            </a:blipFill>
          </p:spPr>
        </p:sp>
        <p:sp>
          <p:nvSpPr>
            <p:cNvPr id="65" name="TextBox 65"/>
            <p:cNvSpPr txBox="1"/>
            <p:nvPr/>
          </p:nvSpPr>
          <p:spPr>
            <a:xfrm>
              <a:off x="0" y="-38100"/>
              <a:ext cx="6339840" cy="72085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00"/>
                </a:lnSpc>
              </a:pPr>
              <a:r>
                <a:rPr lang="en-US" sz="2000" b="1">
                  <a:solidFill>
                    <a:srgbClr val="34D399"/>
                  </a:solidFill>
                  <a:latin typeface="Calibri (MS) Bold" panose="020F0702030404030204"/>
                  <a:ea typeface="Calibri (MS) Bold" panose="020F0702030404030204"/>
                  <a:cs typeface="Calibri (MS) Bold" panose="020F0702030404030204"/>
                  <a:sym typeface="Calibri (MS) Bold" panose="020F0702030404030204"/>
                </a:rPr>
                <a:t>Interface Specification</a:t>
              </a:r>
              <a:endParaRPr lang="en-US" sz="2000" b="1">
                <a:solidFill>
                  <a:srgbClr val="34D399"/>
                </a:solidFill>
                <a:latin typeface="Calibri (MS) Bold" panose="020F0702030404030204"/>
                <a:ea typeface="Calibri (MS) Bold" panose="020F0702030404030204"/>
                <a:cs typeface="Calibri (MS) Bold" panose="020F0702030404030204"/>
                <a:sym typeface="Calibri (MS) Bold" panose="020F0702030404030204"/>
              </a:endParaRPr>
            </a:p>
          </p:txBody>
        </p:sp>
      </p:grpSp>
      <p:sp>
        <p:nvSpPr>
          <p:cNvPr id="66" name="TextBox 66"/>
          <p:cNvSpPr txBox="1"/>
          <p:nvPr/>
        </p:nvSpPr>
        <p:spPr>
          <a:xfrm>
            <a:off x="12454128" y="5237988"/>
            <a:ext cx="4572000" cy="10439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94A3B8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rPr>
              <a:t>🔗diogopinhel.github.io/DSD2026_TeamM1/2026/05/05/M1_Interface_Specification.html</a:t>
            </a:r>
            <a:endParaRPr lang="en-US" sz="1800">
              <a:solidFill>
                <a:srgbClr val="94A3B8"/>
              </a:solidFill>
              <a:latin typeface="Calibri (MS)" panose="020F0502020204030204"/>
              <a:ea typeface="Calibri (MS)" panose="020F0502020204030204"/>
              <a:cs typeface="Calibri (MS)" panose="020F0502020204030204"/>
              <a:sym typeface="Calibri (MS)" panose="020F0502020204030204"/>
            </a:endParaRPr>
          </a:p>
        </p:txBody>
      </p:sp>
      <p:grpSp>
        <p:nvGrpSpPr>
          <p:cNvPr id="67" name="Group 67"/>
          <p:cNvGrpSpPr/>
          <p:nvPr/>
        </p:nvGrpSpPr>
        <p:grpSpPr>
          <a:xfrm rot="0">
            <a:off x="12075671" y="6827015"/>
            <a:ext cx="5328923" cy="2037083"/>
            <a:chOff x="0" y="0"/>
            <a:chExt cx="7105231" cy="2716111"/>
          </a:xfrm>
        </p:grpSpPr>
        <p:sp>
          <p:nvSpPr>
            <p:cNvPr id="68" name="Freeform 68"/>
            <p:cNvSpPr/>
            <p:nvPr/>
          </p:nvSpPr>
          <p:spPr>
            <a:xfrm>
              <a:off x="16891" y="16891"/>
              <a:ext cx="7071360" cy="2682240"/>
            </a:xfrm>
            <a:custGeom>
              <a:avLst/>
              <a:gdLst/>
              <a:ahLst/>
              <a:cxnLst/>
              <a:rect l="l" t="t" r="r" b="b"/>
              <a:pathLst>
                <a:path w="7071360" h="2682240">
                  <a:moveTo>
                    <a:pt x="0" y="0"/>
                  </a:moveTo>
                  <a:lnTo>
                    <a:pt x="7071360" y="0"/>
                  </a:lnTo>
                  <a:lnTo>
                    <a:pt x="7071360" y="2682240"/>
                  </a:lnTo>
                  <a:lnTo>
                    <a:pt x="0" y="2682240"/>
                  </a:lnTo>
                  <a:close/>
                </a:path>
              </a:pathLst>
            </a:custGeom>
            <a:solidFill>
              <a:srgbClr val="141C2E"/>
            </a:solidFill>
          </p:spPr>
        </p:sp>
        <p:sp>
          <p:nvSpPr>
            <p:cNvPr id="69" name="Freeform 69"/>
            <p:cNvSpPr/>
            <p:nvPr/>
          </p:nvSpPr>
          <p:spPr>
            <a:xfrm>
              <a:off x="0" y="0"/>
              <a:ext cx="7105142" cy="2716022"/>
            </a:xfrm>
            <a:custGeom>
              <a:avLst/>
              <a:gdLst/>
              <a:ahLst/>
              <a:cxnLst/>
              <a:rect l="l" t="t" r="r" b="b"/>
              <a:pathLst>
                <a:path w="7105142" h="2716022">
                  <a:moveTo>
                    <a:pt x="16891" y="0"/>
                  </a:moveTo>
                  <a:lnTo>
                    <a:pt x="7088251" y="0"/>
                  </a:lnTo>
                  <a:cubicBezTo>
                    <a:pt x="7097649" y="0"/>
                    <a:pt x="7105142" y="7620"/>
                    <a:pt x="7105142" y="16891"/>
                  </a:cubicBezTo>
                  <a:lnTo>
                    <a:pt x="7105142" y="2699131"/>
                  </a:lnTo>
                  <a:cubicBezTo>
                    <a:pt x="7105142" y="2708529"/>
                    <a:pt x="7097522" y="2716022"/>
                    <a:pt x="7088251" y="2716022"/>
                  </a:cubicBezTo>
                  <a:lnTo>
                    <a:pt x="16891" y="2716022"/>
                  </a:lnTo>
                  <a:cubicBezTo>
                    <a:pt x="7493" y="2716022"/>
                    <a:pt x="0" y="2708402"/>
                    <a:pt x="0" y="26991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699131"/>
                  </a:lnTo>
                  <a:lnTo>
                    <a:pt x="16891" y="2699131"/>
                  </a:lnTo>
                  <a:lnTo>
                    <a:pt x="16891" y="2682240"/>
                  </a:lnTo>
                  <a:lnTo>
                    <a:pt x="7088251" y="2682240"/>
                  </a:lnTo>
                  <a:lnTo>
                    <a:pt x="7088251" y="2699131"/>
                  </a:lnTo>
                  <a:lnTo>
                    <a:pt x="7071360" y="2699131"/>
                  </a:lnTo>
                  <a:lnTo>
                    <a:pt x="7071360" y="16891"/>
                  </a:lnTo>
                  <a:lnTo>
                    <a:pt x="7088251" y="16891"/>
                  </a:lnTo>
                  <a:lnTo>
                    <a:pt x="70882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E2D45"/>
            </a:solidFill>
          </p:spPr>
        </p:sp>
      </p:grpSp>
      <p:grpSp>
        <p:nvGrpSpPr>
          <p:cNvPr id="70" name="Group 70"/>
          <p:cNvGrpSpPr/>
          <p:nvPr/>
        </p:nvGrpSpPr>
        <p:grpSpPr>
          <a:xfrm rot="0">
            <a:off x="12362688" y="7022592"/>
            <a:ext cx="4754880" cy="512064"/>
            <a:chOff x="0" y="0"/>
            <a:chExt cx="6339840" cy="682752"/>
          </a:xfrm>
        </p:grpSpPr>
        <p:sp>
          <p:nvSpPr>
            <p:cNvPr id="71" name="Freeform 71"/>
            <p:cNvSpPr/>
            <p:nvPr/>
          </p:nvSpPr>
          <p:spPr>
            <a:xfrm>
              <a:off x="0" y="0"/>
              <a:ext cx="6339840" cy="682752"/>
            </a:xfrm>
            <a:custGeom>
              <a:avLst/>
              <a:gdLst/>
              <a:ahLst/>
              <a:cxnLst/>
              <a:rect l="l" t="t" r="r" b="b"/>
              <a:pathLst>
                <a:path w="6339840" h="682752">
                  <a:moveTo>
                    <a:pt x="0" y="0"/>
                  </a:moveTo>
                  <a:lnTo>
                    <a:pt x="6339840" y="0"/>
                  </a:lnTo>
                  <a:lnTo>
                    <a:pt x="633984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1">
                <a:alphaModFix amt="0"/>
              </a:blip>
              <a:stretch>
                <a:fillRect t="-130932" b="-130932"/>
              </a:stretch>
            </a:blipFill>
          </p:spPr>
        </p:sp>
        <p:sp>
          <p:nvSpPr>
            <p:cNvPr id="72" name="TextBox 72"/>
            <p:cNvSpPr txBox="1"/>
            <p:nvPr/>
          </p:nvSpPr>
          <p:spPr>
            <a:xfrm>
              <a:off x="0" y="-38100"/>
              <a:ext cx="6339840" cy="72085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00"/>
                </a:lnSpc>
              </a:pPr>
              <a:r>
                <a:rPr lang="en-US" sz="2000" b="1">
                  <a:solidFill>
                    <a:srgbClr val="34D399"/>
                  </a:solidFill>
                  <a:latin typeface="Calibri (MS) Bold" panose="020F0702030404030204"/>
                  <a:ea typeface="Calibri (MS) Bold" panose="020F0702030404030204"/>
                  <a:cs typeface="Calibri (MS) Bold" panose="020F0702030404030204"/>
                  <a:sym typeface="Calibri (MS) Bold" panose="020F0702030404030204"/>
                </a:rPr>
                <a:t>App Prototype</a:t>
              </a:r>
              <a:endParaRPr lang="en-US" sz="2000" b="1">
                <a:solidFill>
                  <a:srgbClr val="34D399"/>
                </a:solidFill>
                <a:latin typeface="Calibri (MS) Bold" panose="020F0702030404030204"/>
                <a:ea typeface="Calibri (MS) Bold" panose="020F0702030404030204"/>
                <a:cs typeface="Calibri (MS) Bold" panose="020F0702030404030204"/>
                <a:sym typeface="Calibri (MS) Bold" panose="020F0702030404030204"/>
              </a:endParaRPr>
            </a:p>
          </p:txBody>
        </p:sp>
      </p:grpSp>
      <p:sp>
        <p:nvSpPr>
          <p:cNvPr id="73" name="TextBox 73"/>
          <p:cNvSpPr txBox="1"/>
          <p:nvPr/>
        </p:nvSpPr>
        <p:spPr>
          <a:xfrm>
            <a:off x="12454128" y="7542276"/>
            <a:ext cx="4572000" cy="10439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94A3B8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rPr>
              <a:t>🔗diogopinhel.github.io/DSD2026_TeamM1/2026/04/29/M1_APP_Prototype_Introduction.html</a:t>
            </a:r>
            <a:endParaRPr lang="en-US" sz="1800">
              <a:solidFill>
                <a:srgbClr val="94A3B8"/>
              </a:solidFill>
              <a:latin typeface="Calibri (MS)" panose="020F0502020204030204"/>
              <a:ea typeface="Calibri (MS)" panose="020F0502020204030204"/>
              <a:cs typeface="Calibri (MS)" panose="020F0502020204030204"/>
              <a:sym typeface="Calibri (MS)" panose="020F050202020403020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5664</Words>
  <Application>WPS 演示</Application>
  <PresentationFormat>On-screen Show (4:3)</PresentationFormat>
  <Paragraphs>384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1" baseType="lpstr">
      <vt:lpstr>Arial</vt:lpstr>
      <vt:lpstr>宋体</vt:lpstr>
      <vt:lpstr>Wingdings</vt:lpstr>
      <vt:lpstr>Calibri (MS) Bold</vt:lpstr>
      <vt:lpstr>Calibri (MS)</vt:lpstr>
      <vt:lpstr>Arial</vt:lpstr>
      <vt:lpstr>微软雅黑</vt:lpstr>
      <vt:lpstr>Arial Unicode MS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M1_MidTerm_Presentation.pptx</dc:title>
  <dc:creator/>
  <cp:lastModifiedBy>WPS_1695869304</cp:lastModifiedBy>
  <cp:revision>3</cp:revision>
  <dcterms:created xsi:type="dcterms:W3CDTF">2006-08-16T00:00:00Z</dcterms:created>
  <dcterms:modified xsi:type="dcterms:W3CDTF">2026-05-07T07:36:17Z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B025A1BE23FF4627B4935D812D4EA435_12</vt:lpwstr>
  </property>
  <property fmtid="{D5CDD505-2E9C-101B-9397-08002B2CF9AE}" pid="3" name="KSOProductBuildVer">
    <vt:lpwstr>2052-12.1.0.22529</vt:lpwstr>
  </property>
</Properties>
</file>